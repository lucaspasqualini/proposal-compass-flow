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4"/>
  </p:notesMasterIdLst>
  <p:handoutMasterIdLst>
    <p:handoutMasterId r:id="rId25"/>
  </p:handoutMasterIdLst>
  <p:sldIdLst>
    <p:sldId id="256" r:id="rId2"/>
    <p:sldId id="257" r:id="rId3"/>
    <p:sldId id="258" r:id="rId4"/>
    <p:sldId id="259" r:id="rId5"/>
    <p:sldId id="260" r:id="rId6"/>
    <p:sldId id="261" r:id="rId7"/>
    <p:sldId id="262" r:id="rId8"/>
    <p:sldId id="263" r:id="rId9"/>
    <p:sldId id="265" r:id="rId10"/>
    <p:sldId id="266" r:id="rId11"/>
    <p:sldId id="267" r:id="rId12"/>
    <p:sldId id="278" r:id="rId13"/>
    <p:sldId id="268" r:id="rId14"/>
    <p:sldId id="269" r:id="rId15"/>
    <p:sldId id="270" r:id="rId16"/>
    <p:sldId id="271" r:id="rId17"/>
    <p:sldId id="272" r:id="rId18"/>
    <p:sldId id="273" r:id="rId19"/>
    <p:sldId id="274" r:id="rId20"/>
    <p:sldId id="275" r:id="rId21"/>
    <p:sldId id="276" r:id="rId22"/>
    <p:sldId id="277" r:id="rId23"/>
  </p:sldIdLst>
  <p:sldSz cx="20104100" cy="11309350"/>
  <p:notesSz cx="20104100" cy="113093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85EB458-47DC-BB39-2CD7-CDA255FA218E}" name="Victor Souza" initials="VS" userId="7d5ca273107310f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36C68"/>
    <a:srgbClr val="D9D9D9"/>
    <a:srgbClr val="292323"/>
    <a:srgbClr val="28282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2941" autoAdjust="0"/>
    <p:restoredTop sz="93969" autoAdjust="0"/>
  </p:normalViewPr>
  <p:slideViewPr>
    <p:cSldViewPr>
      <p:cViewPr varScale="1">
        <p:scale>
          <a:sx n="59" d="100"/>
          <a:sy n="59" d="100"/>
        </p:scale>
        <p:origin x="684" y="282"/>
      </p:cViewPr>
      <p:guideLst>
        <p:guide orient="horz" pos="2880"/>
        <p:guide pos="2160"/>
      </p:guideLst>
    </p:cSldViewPr>
  </p:slideViewPr>
  <p:outlineViewPr>
    <p:cViewPr>
      <p:scale>
        <a:sx n="33" d="100"/>
        <a:sy n="33" d="100"/>
      </p:scale>
      <p:origin x="0" y="0"/>
    </p:cViewPr>
  </p:outlineViewPr>
  <p:notesTextViewPr>
    <p:cViewPr>
      <p:scale>
        <a:sx n="100" d="100"/>
        <a:sy n="100" d="100"/>
      </p:scale>
      <p:origin x="0" y="0"/>
    </p:cViewPr>
  </p:notesTextViewPr>
  <p:notesViewPr>
    <p:cSldViewPr>
      <p:cViewPr varScale="1">
        <p:scale>
          <a:sx n="42" d="100"/>
          <a:sy n="42" d="100"/>
        </p:scale>
        <p:origin x="1410" y="7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handoutMaster" Target="handoutMasters/handout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8/10/relationships/authors" Target="author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ço Reservado para Número de Slide 4">
            <a:extLst>
              <a:ext uri="{FF2B5EF4-FFF2-40B4-BE49-F238E27FC236}">
                <a16:creationId xmlns:a16="http://schemas.microsoft.com/office/drawing/2014/main" id="{61AE20CE-3E6F-22CC-BF44-BB5DC0F108DB}"/>
              </a:ext>
            </a:extLst>
          </p:cNvPr>
          <p:cNvSpPr>
            <a:spLocks noGrp="1"/>
          </p:cNvSpPr>
          <p:nvPr>
            <p:ph type="sldNum" sz="quarter" idx="3"/>
          </p:nvPr>
        </p:nvSpPr>
        <p:spPr>
          <a:xfrm>
            <a:off x="11387138" y="10742613"/>
            <a:ext cx="8712200" cy="566737"/>
          </a:xfrm>
          <a:prstGeom prst="rect">
            <a:avLst/>
          </a:prstGeom>
        </p:spPr>
        <p:txBody>
          <a:bodyPr vert="horz" lIns="91440" tIns="45720" rIns="91440" bIns="45720" rtlCol="0" anchor="b"/>
          <a:lstStyle>
            <a:lvl1pPr algn="r">
              <a:defRPr sz="1200"/>
            </a:lvl1pPr>
          </a:lstStyle>
          <a:p>
            <a:fld id="{46E26550-EC5A-48A3-8956-38023D73CAA0}" type="slidenum">
              <a:rPr lang="en-US" smtClean="0">
                <a:solidFill>
                  <a:schemeClr val="bg1"/>
                </a:solidFill>
              </a:rPr>
              <a:t>‹nº›</a:t>
            </a:fld>
            <a:endParaRPr lang="en-US" dirty="0">
              <a:solidFill>
                <a:schemeClr val="bg1"/>
              </a:solidFill>
            </a:endParaRPr>
          </a:p>
        </p:txBody>
      </p:sp>
    </p:spTree>
    <p:extLst>
      <p:ext uri="{BB962C8B-B14F-4D97-AF65-F5344CB8AC3E}">
        <p14:creationId xmlns:p14="http://schemas.microsoft.com/office/powerpoint/2010/main" val="59257019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0" y="0"/>
            <a:ext cx="8712200" cy="566738"/>
          </a:xfrm>
          <a:prstGeom prst="rect">
            <a:avLst/>
          </a:prstGeom>
        </p:spPr>
        <p:txBody>
          <a:bodyPr vert="horz" lIns="91440" tIns="45720" rIns="91440" bIns="45720" rtlCol="0"/>
          <a:lstStyle>
            <a:lvl1pPr algn="l">
              <a:defRPr sz="1200"/>
            </a:lvl1pPr>
          </a:lstStyle>
          <a:p>
            <a:endParaRPr lang="en-US"/>
          </a:p>
        </p:txBody>
      </p:sp>
      <p:sp>
        <p:nvSpPr>
          <p:cNvPr id="3" name="Espaço Reservado para Data 2"/>
          <p:cNvSpPr>
            <a:spLocks noGrp="1"/>
          </p:cNvSpPr>
          <p:nvPr>
            <p:ph type="dt" idx="1"/>
          </p:nvPr>
        </p:nvSpPr>
        <p:spPr>
          <a:xfrm>
            <a:off x="11387138" y="0"/>
            <a:ext cx="8712200" cy="566738"/>
          </a:xfrm>
          <a:prstGeom prst="rect">
            <a:avLst/>
          </a:prstGeom>
        </p:spPr>
        <p:txBody>
          <a:bodyPr vert="horz" lIns="91440" tIns="45720" rIns="91440" bIns="45720" rtlCol="0"/>
          <a:lstStyle>
            <a:lvl1pPr algn="r">
              <a:defRPr sz="1200"/>
            </a:lvl1pPr>
          </a:lstStyle>
          <a:p>
            <a:fld id="{84ECA2C1-621C-494E-B857-5488FF2C591A}" type="datetimeFigureOut">
              <a:rPr lang="en-US" smtClean="0"/>
              <a:t>4/28/2026</a:t>
            </a:fld>
            <a:endParaRPr lang="en-US"/>
          </a:p>
        </p:txBody>
      </p:sp>
      <p:sp>
        <p:nvSpPr>
          <p:cNvPr id="4" name="Espaço Reservado para Imagem de Slide 3"/>
          <p:cNvSpPr>
            <a:spLocks noGrp="1" noRot="1" noChangeAspect="1"/>
          </p:cNvSpPr>
          <p:nvPr>
            <p:ph type="sldImg" idx="2"/>
          </p:nvPr>
        </p:nvSpPr>
        <p:spPr>
          <a:xfrm>
            <a:off x="6659563" y="1414463"/>
            <a:ext cx="6784975" cy="3816350"/>
          </a:xfrm>
          <a:prstGeom prst="rect">
            <a:avLst/>
          </a:prstGeom>
          <a:noFill/>
          <a:ln w="12700">
            <a:solidFill>
              <a:prstClr val="black"/>
            </a:solidFill>
          </a:ln>
        </p:spPr>
        <p:txBody>
          <a:bodyPr vert="horz" lIns="91440" tIns="45720" rIns="91440" bIns="45720" rtlCol="0" anchor="ctr"/>
          <a:lstStyle/>
          <a:p>
            <a:endParaRPr lang="en-US"/>
          </a:p>
        </p:txBody>
      </p:sp>
      <p:sp>
        <p:nvSpPr>
          <p:cNvPr id="5" name="Espaço Reservado para Anotações 4"/>
          <p:cNvSpPr>
            <a:spLocks noGrp="1"/>
          </p:cNvSpPr>
          <p:nvPr>
            <p:ph type="body" sz="quarter" idx="3"/>
          </p:nvPr>
        </p:nvSpPr>
        <p:spPr>
          <a:xfrm>
            <a:off x="2009775" y="5441950"/>
            <a:ext cx="16084550" cy="4454525"/>
          </a:xfrm>
          <a:prstGeom prst="rect">
            <a:avLst/>
          </a:prstGeom>
        </p:spPr>
        <p:txBody>
          <a:bodyPr vert="horz" lIns="91440" tIns="45720" rIns="91440" bIns="45720" rtlCol="0"/>
          <a:lstStyle/>
          <a:p>
            <a:pPr lvl="0"/>
            <a:r>
              <a:rPr lang="pt-BR"/>
              <a:t>Clique para editar os estilos de texto Mestres</a:t>
            </a:r>
          </a:p>
          <a:p>
            <a:pPr lvl="1"/>
            <a:r>
              <a:rPr lang="pt-BR"/>
              <a:t>Segundo nível</a:t>
            </a:r>
          </a:p>
          <a:p>
            <a:pPr lvl="2"/>
            <a:r>
              <a:rPr lang="pt-BR"/>
              <a:t>Terceiro nível</a:t>
            </a:r>
          </a:p>
          <a:p>
            <a:pPr lvl="3"/>
            <a:r>
              <a:rPr lang="pt-BR"/>
              <a:t>Quarto nível</a:t>
            </a:r>
          </a:p>
          <a:p>
            <a:pPr lvl="4"/>
            <a:r>
              <a:rPr lang="pt-BR"/>
              <a:t>Quinto nível</a:t>
            </a:r>
            <a:endParaRPr lang="en-US"/>
          </a:p>
        </p:txBody>
      </p:sp>
      <p:sp>
        <p:nvSpPr>
          <p:cNvPr id="6" name="Espaço Reservado para Rodapé 5"/>
          <p:cNvSpPr>
            <a:spLocks noGrp="1"/>
          </p:cNvSpPr>
          <p:nvPr>
            <p:ph type="ftr" sz="quarter" idx="4"/>
          </p:nvPr>
        </p:nvSpPr>
        <p:spPr>
          <a:xfrm>
            <a:off x="0" y="10742613"/>
            <a:ext cx="8712200" cy="566737"/>
          </a:xfrm>
          <a:prstGeom prst="rect">
            <a:avLst/>
          </a:prstGeom>
        </p:spPr>
        <p:txBody>
          <a:bodyPr vert="horz" lIns="91440" tIns="45720" rIns="91440" bIns="45720" rtlCol="0" anchor="b"/>
          <a:lstStyle>
            <a:lvl1pPr algn="l">
              <a:defRPr sz="1200"/>
            </a:lvl1pPr>
          </a:lstStyle>
          <a:p>
            <a:endParaRPr lang="en-US"/>
          </a:p>
        </p:txBody>
      </p:sp>
      <p:sp>
        <p:nvSpPr>
          <p:cNvPr id="7" name="Espaço Reservado para Número de Slide 6"/>
          <p:cNvSpPr>
            <a:spLocks noGrp="1"/>
          </p:cNvSpPr>
          <p:nvPr>
            <p:ph type="sldNum" sz="quarter" idx="5"/>
          </p:nvPr>
        </p:nvSpPr>
        <p:spPr>
          <a:xfrm>
            <a:off x="11387138" y="10742613"/>
            <a:ext cx="8712200" cy="566737"/>
          </a:xfrm>
          <a:prstGeom prst="rect">
            <a:avLst/>
          </a:prstGeom>
        </p:spPr>
        <p:txBody>
          <a:bodyPr vert="horz" lIns="91440" tIns="45720" rIns="91440" bIns="45720" rtlCol="0" anchor="b"/>
          <a:lstStyle>
            <a:lvl1pPr algn="r">
              <a:defRPr sz="1200"/>
            </a:lvl1pPr>
          </a:lstStyle>
          <a:p>
            <a:fld id="{F2074775-49DB-4A73-8D2D-DDEA0D2F803B}" type="slidenum">
              <a:rPr lang="en-US" smtClean="0"/>
              <a:t>‹nº›</a:t>
            </a:fld>
            <a:endParaRPr lang="en-US"/>
          </a:p>
        </p:txBody>
      </p:sp>
    </p:spTree>
    <p:extLst>
      <p:ext uri="{BB962C8B-B14F-4D97-AF65-F5344CB8AC3E}">
        <p14:creationId xmlns:p14="http://schemas.microsoft.com/office/powerpoint/2010/main" val="2631211612"/>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20104099" cy="11308556"/>
          </a:xfrm>
          <a:prstGeom prst="rect">
            <a:avLst/>
          </a:prstGeom>
        </p:spPr>
      </p:pic>
      <p:sp>
        <p:nvSpPr>
          <p:cNvPr id="17" name="bg object 17"/>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020202">
              <a:alpha val="69999"/>
            </a:srgbClr>
          </a:solidFill>
        </p:spPr>
        <p:txBody>
          <a:bodyPr wrap="square" lIns="0" tIns="0" rIns="0" bIns="0" rtlCol="0"/>
          <a:lstStyle/>
          <a:p>
            <a:endParaRPr/>
          </a:p>
        </p:txBody>
      </p:sp>
      <p:sp>
        <p:nvSpPr>
          <p:cNvPr id="18" name="bg object 18"/>
          <p:cNvSpPr/>
          <p:nvPr/>
        </p:nvSpPr>
        <p:spPr>
          <a:xfrm>
            <a:off x="9737923" y="5005083"/>
            <a:ext cx="10366375" cy="2471420"/>
          </a:xfrm>
          <a:custGeom>
            <a:avLst/>
            <a:gdLst/>
            <a:ahLst/>
            <a:cxnLst/>
            <a:rect l="l" t="t" r="r" b="b"/>
            <a:pathLst>
              <a:path w="10366375" h="2471420">
                <a:moveTo>
                  <a:pt x="0" y="2471128"/>
                </a:moveTo>
                <a:lnTo>
                  <a:pt x="10366176" y="2471128"/>
                </a:lnTo>
                <a:lnTo>
                  <a:pt x="10366176" y="0"/>
                </a:lnTo>
                <a:lnTo>
                  <a:pt x="0" y="0"/>
                </a:lnTo>
                <a:lnTo>
                  <a:pt x="0" y="2471128"/>
                </a:lnTo>
                <a:close/>
              </a:path>
            </a:pathLst>
          </a:custGeom>
          <a:solidFill>
            <a:srgbClr val="090706">
              <a:alpha val="64999"/>
            </a:srgbClr>
          </a:solidFill>
        </p:spPr>
        <p:txBody>
          <a:bodyPr wrap="square" lIns="0" tIns="0" rIns="0" bIns="0" rtlCol="0"/>
          <a:lstStyle/>
          <a:p>
            <a:endParaRPr/>
          </a:p>
        </p:txBody>
      </p:sp>
      <p:sp>
        <p:nvSpPr>
          <p:cNvPr id="19" name="bg object 19"/>
          <p:cNvSpPr/>
          <p:nvPr/>
        </p:nvSpPr>
        <p:spPr>
          <a:xfrm>
            <a:off x="10334763" y="5580981"/>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2" name="Holder 2"/>
          <p:cNvSpPr>
            <a:spLocks noGrp="1"/>
          </p:cNvSpPr>
          <p:nvPr>
            <p:ph type="ctrTitle"/>
          </p:nvPr>
        </p:nvSpPr>
        <p:spPr>
          <a:xfrm>
            <a:off x="10447714" y="5244593"/>
            <a:ext cx="9426575" cy="1485265"/>
          </a:xfrm>
          <a:prstGeom prst="rect">
            <a:avLst/>
          </a:prstGeom>
        </p:spPr>
        <p:txBody>
          <a:bodyPr wrap="square" lIns="0" tIns="0" rIns="0" bIns="0">
            <a:spAutoFit/>
          </a:bodyPr>
          <a:lstStyle>
            <a:lvl1pPr>
              <a:defRPr sz="4950" b="0" i="0">
                <a:solidFill>
                  <a:srgbClr val="006969"/>
                </a:solidFill>
                <a:latin typeface="Futura PT Book"/>
                <a:cs typeface="Futura PT Book"/>
              </a:defRPr>
            </a:lvl1pPr>
          </a:lstStyle>
          <a:p>
            <a:endParaRPr/>
          </a:p>
        </p:txBody>
      </p:sp>
      <p:sp>
        <p:nvSpPr>
          <p:cNvPr id="3" name="Holder 3"/>
          <p:cNvSpPr>
            <a:spLocks noGrp="1"/>
          </p:cNvSpPr>
          <p:nvPr>
            <p:ph type="subTitle" idx="4"/>
          </p:nvPr>
        </p:nvSpPr>
        <p:spPr>
          <a:xfrm>
            <a:off x="3015615" y="6333236"/>
            <a:ext cx="14072870" cy="2827337"/>
          </a:xfrm>
          <a:prstGeom prst="rect">
            <a:avLst/>
          </a:prstGeom>
        </p:spPr>
        <p:txBody>
          <a:bodyPr wrap="square" lIns="0" tIns="0" rIns="0" bIns="0">
            <a:spAutoFit/>
          </a:bodyPr>
          <a:lstStyle>
            <a:lvl1pPr>
              <a:defRPr sz="2450" b="0" i="0">
                <a:solidFill>
                  <a:schemeClr val="tx1"/>
                </a:solidFill>
                <a:latin typeface="Futura PT Book"/>
                <a:cs typeface="Futura PT Book"/>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3C7DFDA3-4388-4038-AA2F-244EBFE20E4D}" type="datetime1">
              <a:rPr lang="en-US" smtClean="0"/>
              <a:t>4/28/2026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950" b="0" i="0">
                <a:solidFill>
                  <a:srgbClr val="006969"/>
                </a:solidFill>
                <a:latin typeface="Futura PT Book"/>
                <a:cs typeface="Futura PT Book"/>
              </a:defRPr>
            </a:lvl1pPr>
          </a:lstStyle>
          <a:p>
            <a:endParaRPr/>
          </a:p>
        </p:txBody>
      </p:sp>
      <p:sp>
        <p:nvSpPr>
          <p:cNvPr id="3" name="Holder 3"/>
          <p:cNvSpPr>
            <a:spLocks noGrp="1"/>
          </p:cNvSpPr>
          <p:nvPr>
            <p:ph type="body" idx="1"/>
          </p:nvPr>
        </p:nvSpPr>
        <p:spPr/>
        <p:txBody>
          <a:bodyPr lIns="0" tIns="0" rIns="0" bIns="0"/>
          <a:lstStyle>
            <a:lvl1pPr>
              <a:defRPr sz="2450" b="0" i="0">
                <a:solidFill>
                  <a:schemeClr val="tx1"/>
                </a:solidFill>
                <a:latin typeface="Futura PT Book"/>
                <a:cs typeface="Futura PT Book"/>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684AB122-88AE-4FEC-A912-E2A4173C5280}" type="datetime1">
              <a:rPr lang="en-US" smtClean="0"/>
              <a:t>4/28/2026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Two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0" y="0"/>
            <a:ext cx="11319510" cy="11308715"/>
          </a:xfrm>
          <a:custGeom>
            <a:avLst/>
            <a:gdLst/>
            <a:ahLst/>
            <a:cxnLst/>
            <a:rect l="l" t="t" r="r" b="b"/>
            <a:pathLst>
              <a:path w="11319510" h="11308715">
                <a:moveTo>
                  <a:pt x="11319027" y="0"/>
                </a:moveTo>
                <a:lnTo>
                  <a:pt x="0" y="0"/>
                </a:lnTo>
                <a:lnTo>
                  <a:pt x="0" y="11308556"/>
                </a:lnTo>
                <a:lnTo>
                  <a:pt x="11319027" y="11308556"/>
                </a:lnTo>
                <a:lnTo>
                  <a:pt x="11319027" y="0"/>
                </a:lnTo>
                <a:close/>
              </a:path>
            </a:pathLst>
          </a:custGeom>
          <a:solidFill>
            <a:srgbClr val="EAEAE8"/>
          </a:solidFill>
        </p:spPr>
        <p:txBody>
          <a:bodyPr wrap="square" lIns="0" tIns="0" rIns="0" bIns="0" rtlCol="0"/>
          <a:lstStyle/>
          <a:p>
            <a:endParaRPr/>
          </a:p>
        </p:txBody>
      </p:sp>
      <p:sp>
        <p:nvSpPr>
          <p:cNvPr id="17" name="bg object 17"/>
          <p:cNvSpPr/>
          <p:nvPr/>
        </p:nvSpPr>
        <p:spPr>
          <a:xfrm>
            <a:off x="380729" y="9992570"/>
            <a:ext cx="2312035" cy="471805"/>
          </a:xfrm>
          <a:custGeom>
            <a:avLst/>
            <a:gdLst/>
            <a:ahLst/>
            <a:cxnLst/>
            <a:rect l="l" t="t" r="r" b="b"/>
            <a:pathLst>
              <a:path w="2312035" h="471804">
                <a:moveTo>
                  <a:pt x="2229051"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2229051" y="471190"/>
                </a:lnTo>
                <a:lnTo>
                  <a:pt x="2256587" y="437686"/>
                </a:lnTo>
                <a:lnTo>
                  <a:pt x="2278615" y="398584"/>
                </a:lnTo>
                <a:lnTo>
                  <a:pt x="2295137" y="355126"/>
                </a:lnTo>
                <a:lnTo>
                  <a:pt x="2306151" y="308558"/>
                </a:lnTo>
                <a:lnTo>
                  <a:pt x="2311658" y="260123"/>
                </a:lnTo>
                <a:lnTo>
                  <a:pt x="2311658" y="211066"/>
                </a:lnTo>
                <a:lnTo>
                  <a:pt x="2306151" y="162632"/>
                </a:lnTo>
                <a:lnTo>
                  <a:pt x="2295137" y="116063"/>
                </a:lnTo>
                <a:lnTo>
                  <a:pt x="2278615" y="72606"/>
                </a:lnTo>
                <a:lnTo>
                  <a:pt x="2256587" y="33503"/>
                </a:lnTo>
                <a:lnTo>
                  <a:pt x="2229051" y="0"/>
                </a:lnTo>
                <a:close/>
              </a:path>
            </a:pathLst>
          </a:custGeom>
          <a:solidFill>
            <a:srgbClr val="FBF485">
              <a:alpha val="39999"/>
            </a:srgbClr>
          </a:solidFill>
        </p:spPr>
        <p:txBody>
          <a:bodyPr wrap="square" lIns="0" tIns="0" rIns="0" bIns="0" rtlCol="0"/>
          <a:lstStyle/>
          <a:p>
            <a:endParaRPr/>
          </a:p>
        </p:txBody>
      </p:sp>
      <p:sp>
        <p:nvSpPr>
          <p:cNvPr id="18" name="bg object 18"/>
          <p:cNvSpPr/>
          <p:nvPr/>
        </p:nvSpPr>
        <p:spPr>
          <a:xfrm>
            <a:off x="380729" y="9238666"/>
            <a:ext cx="2376170" cy="471805"/>
          </a:xfrm>
          <a:custGeom>
            <a:avLst/>
            <a:gdLst/>
            <a:ahLst/>
            <a:cxnLst/>
            <a:rect l="l" t="t" r="r" b="b"/>
            <a:pathLst>
              <a:path w="2376170" h="471804">
                <a:moveTo>
                  <a:pt x="2293126"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2293126" y="471190"/>
                </a:lnTo>
                <a:lnTo>
                  <a:pt x="2320661" y="437686"/>
                </a:lnTo>
                <a:lnTo>
                  <a:pt x="2342690" y="398584"/>
                </a:lnTo>
                <a:lnTo>
                  <a:pt x="2359211" y="355126"/>
                </a:lnTo>
                <a:lnTo>
                  <a:pt x="2370226" y="308558"/>
                </a:lnTo>
                <a:lnTo>
                  <a:pt x="2375733" y="260123"/>
                </a:lnTo>
                <a:lnTo>
                  <a:pt x="2375733" y="211066"/>
                </a:lnTo>
                <a:lnTo>
                  <a:pt x="2370226" y="162632"/>
                </a:lnTo>
                <a:lnTo>
                  <a:pt x="2359211" y="116063"/>
                </a:lnTo>
                <a:lnTo>
                  <a:pt x="2342690" y="72606"/>
                </a:lnTo>
                <a:lnTo>
                  <a:pt x="2320661" y="33503"/>
                </a:lnTo>
                <a:lnTo>
                  <a:pt x="2293126" y="0"/>
                </a:lnTo>
                <a:close/>
              </a:path>
            </a:pathLst>
          </a:custGeom>
          <a:solidFill>
            <a:srgbClr val="FBF485">
              <a:alpha val="39999"/>
            </a:srgbClr>
          </a:solidFill>
        </p:spPr>
        <p:txBody>
          <a:bodyPr wrap="square" lIns="0" tIns="0" rIns="0" bIns="0" rtlCol="0"/>
          <a:lstStyle/>
          <a:p>
            <a:endParaRPr/>
          </a:p>
        </p:txBody>
      </p:sp>
      <p:sp>
        <p:nvSpPr>
          <p:cNvPr id="19" name="bg object 19"/>
          <p:cNvSpPr/>
          <p:nvPr/>
        </p:nvSpPr>
        <p:spPr>
          <a:xfrm>
            <a:off x="380729" y="8484761"/>
            <a:ext cx="2406650" cy="471805"/>
          </a:xfrm>
          <a:custGeom>
            <a:avLst/>
            <a:gdLst/>
            <a:ahLst/>
            <a:cxnLst/>
            <a:rect l="l" t="t" r="r" b="b"/>
            <a:pathLst>
              <a:path w="2406650" h="471804">
                <a:moveTo>
                  <a:pt x="2323913"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2323913" y="471190"/>
                </a:lnTo>
                <a:lnTo>
                  <a:pt x="2351449" y="437686"/>
                </a:lnTo>
                <a:lnTo>
                  <a:pt x="2373478" y="398584"/>
                </a:lnTo>
                <a:lnTo>
                  <a:pt x="2389999" y="355126"/>
                </a:lnTo>
                <a:lnTo>
                  <a:pt x="2401013" y="308558"/>
                </a:lnTo>
                <a:lnTo>
                  <a:pt x="2406520" y="260123"/>
                </a:lnTo>
                <a:lnTo>
                  <a:pt x="2406520" y="211066"/>
                </a:lnTo>
                <a:lnTo>
                  <a:pt x="2401013" y="162632"/>
                </a:lnTo>
                <a:lnTo>
                  <a:pt x="2389999" y="116063"/>
                </a:lnTo>
                <a:lnTo>
                  <a:pt x="2373478" y="72606"/>
                </a:lnTo>
                <a:lnTo>
                  <a:pt x="2351449" y="33503"/>
                </a:lnTo>
                <a:lnTo>
                  <a:pt x="2323913" y="0"/>
                </a:lnTo>
                <a:close/>
              </a:path>
            </a:pathLst>
          </a:custGeom>
          <a:solidFill>
            <a:srgbClr val="FBF485">
              <a:alpha val="39999"/>
            </a:srgbClr>
          </a:solidFill>
        </p:spPr>
        <p:txBody>
          <a:bodyPr wrap="square" lIns="0" tIns="0" rIns="0" bIns="0" rtlCol="0"/>
          <a:lstStyle/>
          <a:p>
            <a:endParaRPr/>
          </a:p>
        </p:txBody>
      </p:sp>
      <p:sp>
        <p:nvSpPr>
          <p:cNvPr id="20" name="bg object 20"/>
          <p:cNvSpPr/>
          <p:nvPr/>
        </p:nvSpPr>
        <p:spPr>
          <a:xfrm>
            <a:off x="380729" y="7730856"/>
            <a:ext cx="3037205" cy="471805"/>
          </a:xfrm>
          <a:custGeom>
            <a:avLst/>
            <a:gdLst/>
            <a:ahLst/>
            <a:cxnLst/>
            <a:rect l="l" t="t" r="r" b="b"/>
            <a:pathLst>
              <a:path w="3037204" h="471804">
                <a:moveTo>
                  <a:pt x="2954372"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2954372" y="471190"/>
                </a:lnTo>
                <a:lnTo>
                  <a:pt x="2981908" y="437686"/>
                </a:lnTo>
                <a:lnTo>
                  <a:pt x="3003937" y="398584"/>
                </a:lnTo>
                <a:lnTo>
                  <a:pt x="3020458" y="355126"/>
                </a:lnTo>
                <a:lnTo>
                  <a:pt x="3031472" y="308558"/>
                </a:lnTo>
                <a:lnTo>
                  <a:pt x="3036979" y="260123"/>
                </a:lnTo>
                <a:lnTo>
                  <a:pt x="3036979" y="211066"/>
                </a:lnTo>
                <a:lnTo>
                  <a:pt x="3031472" y="162632"/>
                </a:lnTo>
                <a:lnTo>
                  <a:pt x="3020458" y="116063"/>
                </a:lnTo>
                <a:lnTo>
                  <a:pt x="3003937" y="72606"/>
                </a:lnTo>
                <a:lnTo>
                  <a:pt x="2981908" y="33503"/>
                </a:lnTo>
                <a:lnTo>
                  <a:pt x="2954372" y="0"/>
                </a:lnTo>
                <a:close/>
              </a:path>
            </a:pathLst>
          </a:custGeom>
          <a:solidFill>
            <a:srgbClr val="FBF485">
              <a:alpha val="39999"/>
            </a:srgbClr>
          </a:solidFill>
        </p:spPr>
        <p:txBody>
          <a:bodyPr wrap="square" lIns="0" tIns="0" rIns="0" bIns="0" rtlCol="0"/>
          <a:lstStyle/>
          <a:p>
            <a:endParaRPr/>
          </a:p>
        </p:txBody>
      </p:sp>
      <p:sp>
        <p:nvSpPr>
          <p:cNvPr id="21" name="bg object 21"/>
          <p:cNvSpPr/>
          <p:nvPr/>
        </p:nvSpPr>
        <p:spPr>
          <a:xfrm>
            <a:off x="380729" y="6976952"/>
            <a:ext cx="2602865" cy="471805"/>
          </a:xfrm>
          <a:custGeom>
            <a:avLst/>
            <a:gdLst/>
            <a:ahLst/>
            <a:cxnLst/>
            <a:rect l="l" t="t" r="r" b="b"/>
            <a:pathLst>
              <a:path w="2602865" h="471804">
                <a:moveTo>
                  <a:pt x="2519931"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2519931" y="471190"/>
                </a:lnTo>
                <a:lnTo>
                  <a:pt x="2547467" y="437686"/>
                </a:lnTo>
                <a:lnTo>
                  <a:pt x="2569495" y="398584"/>
                </a:lnTo>
                <a:lnTo>
                  <a:pt x="2586017" y="355126"/>
                </a:lnTo>
                <a:lnTo>
                  <a:pt x="2597031" y="308558"/>
                </a:lnTo>
                <a:lnTo>
                  <a:pt x="2602538" y="260123"/>
                </a:lnTo>
                <a:lnTo>
                  <a:pt x="2602538" y="211066"/>
                </a:lnTo>
                <a:lnTo>
                  <a:pt x="2597031" y="162632"/>
                </a:lnTo>
                <a:lnTo>
                  <a:pt x="2586017" y="116063"/>
                </a:lnTo>
                <a:lnTo>
                  <a:pt x="2569495" y="72606"/>
                </a:lnTo>
                <a:lnTo>
                  <a:pt x="2547467" y="33503"/>
                </a:lnTo>
                <a:lnTo>
                  <a:pt x="2519931" y="0"/>
                </a:lnTo>
                <a:close/>
              </a:path>
            </a:pathLst>
          </a:custGeom>
          <a:solidFill>
            <a:srgbClr val="FBF485">
              <a:alpha val="39999"/>
            </a:srgbClr>
          </a:solidFill>
        </p:spPr>
        <p:txBody>
          <a:bodyPr wrap="square" lIns="0" tIns="0" rIns="0" bIns="0" rtlCol="0"/>
          <a:lstStyle/>
          <a:p>
            <a:endParaRPr/>
          </a:p>
        </p:txBody>
      </p:sp>
      <p:sp>
        <p:nvSpPr>
          <p:cNvPr id="22" name="bg object 22"/>
          <p:cNvSpPr/>
          <p:nvPr/>
        </p:nvSpPr>
        <p:spPr>
          <a:xfrm>
            <a:off x="380729" y="6223048"/>
            <a:ext cx="2700655" cy="471805"/>
          </a:xfrm>
          <a:custGeom>
            <a:avLst/>
            <a:gdLst/>
            <a:ahLst/>
            <a:cxnLst/>
            <a:rect l="l" t="t" r="r" b="b"/>
            <a:pathLst>
              <a:path w="2700655" h="471804">
                <a:moveTo>
                  <a:pt x="2617940"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2617940" y="471190"/>
                </a:lnTo>
                <a:lnTo>
                  <a:pt x="2645475" y="437686"/>
                </a:lnTo>
                <a:lnTo>
                  <a:pt x="2667504" y="398584"/>
                </a:lnTo>
                <a:lnTo>
                  <a:pt x="2684025" y="355126"/>
                </a:lnTo>
                <a:lnTo>
                  <a:pt x="2695040" y="308558"/>
                </a:lnTo>
                <a:lnTo>
                  <a:pt x="2700547" y="260123"/>
                </a:lnTo>
                <a:lnTo>
                  <a:pt x="2700547" y="211066"/>
                </a:lnTo>
                <a:lnTo>
                  <a:pt x="2695040" y="162632"/>
                </a:lnTo>
                <a:lnTo>
                  <a:pt x="2684025" y="116063"/>
                </a:lnTo>
                <a:lnTo>
                  <a:pt x="2667504" y="72606"/>
                </a:lnTo>
                <a:lnTo>
                  <a:pt x="2645475" y="33503"/>
                </a:lnTo>
                <a:lnTo>
                  <a:pt x="2617940" y="0"/>
                </a:lnTo>
                <a:close/>
              </a:path>
            </a:pathLst>
          </a:custGeom>
          <a:solidFill>
            <a:srgbClr val="FBF485">
              <a:alpha val="39999"/>
            </a:srgbClr>
          </a:solidFill>
        </p:spPr>
        <p:txBody>
          <a:bodyPr wrap="square" lIns="0" tIns="0" rIns="0" bIns="0" rtlCol="0"/>
          <a:lstStyle/>
          <a:p>
            <a:endParaRPr/>
          </a:p>
        </p:txBody>
      </p:sp>
      <p:sp>
        <p:nvSpPr>
          <p:cNvPr id="23" name="bg object 23"/>
          <p:cNvSpPr/>
          <p:nvPr/>
        </p:nvSpPr>
        <p:spPr>
          <a:xfrm>
            <a:off x="380729" y="5469143"/>
            <a:ext cx="3752850" cy="471805"/>
          </a:xfrm>
          <a:custGeom>
            <a:avLst/>
            <a:gdLst/>
            <a:ahLst/>
            <a:cxnLst/>
            <a:rect l="l" t="t" r="r" b="b"/>
            <a:pathLst>
              <a:path w="3752850" h="471804">
                <a:moveTo>
                  <a:pt x="3669643"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3669643" y="471190"/>
                </a:lnTo>
                <a:lnTo>
                  <a:pt x="3697179" y="437686"/>
                </a:lnTo>
                <a:lnTo>
                  <a:pt x="3719208" y="398584"/>
                </a:lnTo>
                <a:lnTo>
                  <a:pt x="3735729" y="355126"/>
                </a:lnTo>
                <a:lnTo>
                  <a:pt x="3746744" y="308558"/>
                </a:lnTo>
                <a:lnTo>
                  <a:pt x="3752251" y="260123"/>
                </a:lnTo>
                <a:lnTo>
                  <a:pt x="3752251" y="211066"/>
                </a:lnTo>
                <a:lnTo>
                  <a:pt x="3746744" y="162632"/>
                </a:lnTo>
                <a:lnTo>
                  <a:pt x="3735729" y="116063"/>
                </a:lnTo>
                <a:lnTo>
                  <a:pt x="3719208" y="72606"/>
                </a:lnTo>
                <a:lnTo>
                  <a:pt x="3697179" y="33503"/>
                </a:lnTo>
                <a:lnTo>
                  <a:pt x="3669643" y="0"/>
                </a:lnTo>
                <a:close/>
              </a:path>
            </a:pathLst>
          </a:custGeom>
          <a:solidFill>
            <a:srgbClr val="FBF485">
              <a:alpha val="39999"/>
            </a:srgbClr>
          </a:solidFill>
        </p:spPr>
        <p:txBody>
          <a:bodyPr wrap="square" lIns="0" tIns="0" rIns="0" bIns="0" rtlCol="0"/>
          <a:lstStyle/>
          <a:p>
            <a:endParaRPr/>
          </a:p>
        </p:txBody>
      </p:sp>
      <p:sp>
        <p:nvSpPr>
          <p:cNvPr id="24" name="bg object 24"/>
          <p:cNvSpPr/>
          <p:nvPr/>
        </p:nvSpPr>
        <p:spPr>
          <a:xfrm>
            <a:off x="380729" y="4715239"/>
            <a:ext cx="2858135" cy="471805"/>
          </a:xfrm>
          <a:custGeom>
            <a:avLst/>
            <a:gdLst/>
            <a:ahLst/>
            <a:cxnLst/>
            <a:rect l="l" t="t" r="r" b="b"/>
            <a:pathLst>
              <a:path w="2858135" h="471804">
                <a:moveTo>
                  <a:pt x="2774999"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2774999" y="471190"/>
                </a:lnTo>
                <a:lnTo>
                  <a:pt x="2802535" y="437686"/>
                </a:lnTo>
                <a:lnTo>
                  <a:pt x="2824563" y="398584"/>
                </a:lnTo>
                <a:lnTo>
                  <a:pt x="2841085" y="355126"/>
                </a:lnTo>
                <a:lnTo>
                  <a:pt x="2852099" y="308558"/>
                </a:lnTo>
                <a:lnTo>
                  <a:pt x="2857606" y="260123"/>
                </a:lnTo>
                <a:lnTo>
                  <a:pt x="2857606" y="211066"/>
                </a:lnTo>
                <a:lnTo>
                  <a:pt x="2852099" y="162632"/>
                </a:lnTo>
                <a:lnTo>
                  <a:pt x="2841085" y="116063"/>
                </a:lnTo>
                <a:lnTo>
                  <a:pt x="2824563" y="72606"/>
                </a:lnTo>
                <a:lnTo>
                  <a:pt x="2802535" y="33503"/>
                </a:lnTo>
                <a:lnTo>
                  <a:pt x="2774999" y="0"/>
                </a:lnTo>
                <a:close/>
              </a:path>
            </a:pathLst>
          </a:custGeom>
          <a:solidFill>
            <a:srgbClr val="FBF485">
              <a:alpha val="39999"/>
            </a:srgbClr>
          </a:solidFill>
        </p:spPr>
        <p:txBody>
          <a:bodyPr wrap="square" lIns="0" tIns="0" rIns="0" bIns="0" rtlCol="0"/>
          <a:lstStyle/>
          <a:p>
            <a:endParaRPr/>
          </a:p>
        </p:txBody>
      </p:sp>
      <p:sp>
        <p:nvSpPr>
          <p:cNvPr id="25" name="bg object 25"/>
          <p:cNvSpPr/>
          <p:nvPr/>
        </p:nvSpPr>
        <p:spPr>
          <a:xfrm>
            <a:off x="383556" y="3647521"/>
            <a:ext cx="9589135" cy="471805"/>
          </a:xfrm>
          <a:custGeom>
            <a:avLst/>
            <a:gdLst/>
            <a:ahLst/>
            <a:cxnLst/>
            <a:rect l="l" t="t" r="r" b="b"/>
            <a:pathLst>
              <a:path w="9589135" h="471804">
                <a:moveTo>
                  <a:pt x="9506486"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9506486" y="471190"/>
                </a:lnTo>
                <a:lnTo>
                  <a:pt x="9534022" y="437686"/>
                </a:lnTo>
                <a:lnTo>
                  <a:pt x="9556050" y="398584"/>
                </a:lnTo>
                <a:lnTo>
                  <a:pt x="9572572" y="355126"/>
                </a:lnTo>
                <a:lnTo>
                  <a:pt x="9583586" y="308558"/>
                </a:lnTo>
                <a:lnTo>
                  <a:pt x="9589093" y="260123"/>
                </a:lnTo>
                <a:lnTo>
                  <a:pt x="9589093" y="211066"/>
                </a:lnTo>
                <a:lnTo>
                  <a:pt x="9583586" y="162632"/>
                </a:lnTo>
                <a:lnTo>
                  <a:pt x="9572572" y="116063"/>
                </a:lnTo>
                <a:lnTo>
                  <a:pt x="9556050" y="72606"/>
                </a:lnTo>
                <a:lnTo>
                  <a:pt x="9534022" y="33503"/>
                </a:lnTo>
                <a:lnTo>
                  <a:pt x="9506486" y="0"/>
                </a:lnTo>
                <a:close/>
              </a:path>
            </a:pathLst>
          </a:custGeom>
          <a:solidFill>
            <a:srgbClr val="FBF485">
              <a:alpha val="39999"/>
            </a:srgbClr>
          </a:solidFill>
        </p:spPr>
        <p:txBody>
          <a:bodyPr wrap="square" lIns="0" tIns="0" rIns="0" bIns="0" rtlCol="0"/>
          <a:lstStyle/>
          <a:p>
            <a:endParaRPr/>
          </a:p>
        </p:txBody>
      </p:sp>
      <p:sp>
        <p:nvSpPr>
          <p:cNvPr id="26" name="bg object 26"/>
          <p:cNvSpPr/>
          <p:nvPr/>
        </p:nvSpPr>
        <p:spPr>
          <a:xfrm>
            <a:off x="383556" y="2893617"/>
            <a:ext cx="6588759" cy="471805"/>
          </a:xfrm>
          <a:custGeom>
            <a:avLst/>
            <a:gdLst/>
            <a:ahLst/>
            <a:cxnLst/>
            <a:rect l="l" t="t" r="r" b="b"/>
            <a:pathLst>
              <a:path w="6588759" h="471804">
                <a:moveTo>
                  <a:pt x="6505905"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6505905" y="471190"/>
                </a:lnTo>
                <a:lnTo>
                  <a:pt x="6533441" y="437686"/>
                </a:lnTo>
                <a:lnTo>
                  <a:pt x="6555470" y="398584"/>
                </a:lnTo>
                <a:lnTo>
                  <a:pt x="6571991" y="355126"/>
                </a:lnTo>
                <a:lnTo>
                  <a:pt x="6583005" y="308558"/>
                </a:lnTo>
                <a:lnTo>
                  <a:pt x="6588512" y="260123"/>
                </a:lnTo>
                <a:lnTo>
                  <a:pt x="6588512" y="211066"/>
                </a:lnTo>
                <a:lnTo>
                  <a:pt x="6583005" y="162632"/>
                </a:lnTo>
                <a:lnTo>
                  <a:pt x="6571991" y="116063"/>
                </a:lnTo>
                <a:lnTo>
                  <a:pt x="6555470" y="72606"/>
                </a:lnTo>
                <a:lnTo>
                  <a:pt x="6533441" y="33503"/>
                </a:lnTo>
                <a:lnTo>
                  <a:pt x="6505905" y="0"/>
                </a:lnTo>
                <a:close/>
              </a:path>
            </a:pathLst>
          </a:custGeom>
          <a:solidFill>
            <a:srgbClr val="FBF485">
              <a:alpha val="39999"/>
            </a:srgbClr>
          </a:solidFill>
        </p:spPr>
        <p:txBody>
          <a:bodyPr wrap="square" lIns="0" tIns="0" rIns="0" bIns="0" rtlCol="0"/>
          <a:lstStyle/>
          <a:p>
            <a:endParaRPr/>
          </a:p>
        </p:txBody>
      </p:sp>
      <p:sp>
        <p:nvSpPr>
          <p:cNvPr id="27" name="bg object 27"/>
          <p:cNvSpPr/>
          <p:nvPr/>
        </p:nvSpPr>
        <p:spPr>
          <a:xfrm>
            <a:off x="383556" y="2139712"/>
            <a:ext cx="10506075" cy="471805"/>
          </a:xfrm>
          <a:custGeom>
            <a:avLst/>
            <a:gdLst/>
            <a:ahLst/>
            <a:cxnLst/>
            <a:rect l="l" t="t" r="r" b="b"/>
            <a:pathLst>
              <a:path w="10506075" h="471805">
                <a:moveTo>
                  <a:pt x="10423426" y="0"/>
                </a:moveTo>
                <a:lnTo>
                  <a:pt x="82607" y="0"/>
                </a:lnTo>
                <a:lnTo>
                  <a:pt x="55071" y="33503"/>
                </a:lnTo>
                <a:lnTo>
                  <a:pt x="33042" y="72606"/>
                </a:lnTo>
                <a:lnTo>
                  <a:pt x="16521" y="116063"/>
                </a:lnTo>
                <a:lnTo>
                  <a:pt x="5507" y="162632"/>
                </a:lnTo>
                <a:lnTo>
                  <a:pt x="0" y="211066"/>
                </a:lnTo>
                <a:lnTo>
                  <a:pt x="0" y="260123"/>
                </a:lnTo>
                <a:lnTo>
                  <a:pt x="5507" y="308558"/>
                </a:lnTo>
                <a:lnTo>
                  <a:pt x="16521" y="355126"/>
                </a:lnTo>
                <a:lnTo>
                  <a:pt x="33042" y="398584"/>
                </a:lnTo>
                <a:lnTo>
                  <a:pt x="55071" y="437686"/>
                </a:lnTo>
                <a:lnTo>
                  <a:pt x="82607" y="471190"/>
                </a:lnTo>
                <a:lnTo>
                  <a:pt x="10423426" y="471190"/>
                </a:lnTo>
                <a:lnTo>
                  <a:pt x="10450962" y="437686"/>
                </a:lnTo>
                <a:lnTo>
                  <a:pt x="10472990" y="398584"/>
                </a:lnTo>
                <a:lnTo>
                  <a:pt x="10489512" y="355126"/>
                </a:lnTo>
                <a:lnTo>
                  <a:pt x="10500526" y="308558"/>
                </a:lnTo>
                <a:lnTo>
                  <a:pt x="10506033" y="260123"/>
                </a:lnTo>
                <a:lnTo>
                  <a:pt x="10506033" y="211066"/>
                </a:lnTo>
                <a:lnTo>
                  <a:pt x="10500526" y="162632"/>
                </a:lnTo>
                <a:lnTo>
                  <a:pt x="10489512" y="116063"/>
                </a:lnTo>
                <a:lnTo>
                  <a:pt x="10472990" y="72606"/>
                </a:lnTo>
                <a:lnTo>
                  <a:pt x="10450962" y="33503"/>
                </a:lnTo>
                <a:lnTo>
                  <a:pt x="10423426" y="0"/>
                </a:lnTo>
                <a:close/>
              </a:path>
            </a:pathLst>
          </a:custGeom>
          <a:solidFill>
            <a:srgbClr val="FBF485">
              <a:alpha val="39999"/>
            </a:srgbClr>
          </a:solidFill>
        </p:spPr>
        <p:txBody>
          <a:bodyPr wrap="square" lIns="0" tIns="0" rIns="0" bIns="0" rtlCol="0"/>
          <a:lstStyle/>
          <a:p>
            <a:endParaRPr/>
          </a:p>
        </p:txBody>
      </p:sp>
      <p:sp>
        <p:nvSpPr>
          <p:cNvPr id="28" name="bg object 28"/>
          <p:cNvSpPr/>
          <p:nvPr/>
        </p:nvSpPr>
        <p:spPr>
          <a:xfrm>
            <a:off x="662497" y="647753"/>
            <a:ext cx="5518150" cy="942975"/>
          </a:xfrm>
          <a:custGeom>
            <a:avLst/>
            <a:gdLst/>
            <a:ahLst/>
            <a:cxnLst/>
            <a:rect l="l" t="t" r="r" b="b"/>
            <a:pathLst>
              <a:path w="5518150" h="942975">
                <a:moveTo>
                  <a:pt x="5351545" y="0"/>
                </a:moveTo>
                <a:lnTo>
                  <a:pt x="166590" y="0"/>
                </a:lnTo>
                <a:lnTo>
                  <a:pt x="137678" y="31947"/>
                </a:lnTo>
                <a:lnTo>
                  <a:pt x="111519" y="67004"/>
                </a:lnTo>
                <a:lnTo>
                  <a:pt x="88114" y="104862"/>
                </a:lnTo>
                <a:lnTo>
                  <a:pt x="67462" y="145207"/>
                </a:lnTo>
                <a:lnTo>
                  <a:pt x="49564" y="187730"/>
                </a:lnTo>
                <a:lnTo>
                  <a:pt x="34419" y="232120"/>
                </a:lnTo>
                <a:lnTo>
                  <a:pt x="22028" y="278064"/>
                </a:lnTo>
                <a:lnTo>
                  <a:pt x="12391" y="325253"/>
                </a:lnTo>
                <a:lnTo>
                  <a:pt x="5507" y="373375"/>
                </a:lnTo>
                <a:lnTo>
                  <a:pt x="1376" y="422119"/>
                </a:lnTo>
                <a:lnTo>
                  <a:pt x="0" y="471175"/>
                </a:lnTo>
                <a:lnTo>
                  <a:pt x="1376" y="520230"/>
                </a:lnTo>
                <a:lnTo>
                  <a:pt x="5507" y="568974"/>
                </a:lnTo>
                <a:lnTo>
                  <a:pt x="12391" y="617096"/>
                </a:lnTo>
                <a:lnTo>
                  <a:pt x="22028" y="664285"/>
                </a:lnTo>
                <a:lnTo>
                  <a:pt x="34419" y="710229"/>
                </a:lnTo>
                <a:lnTo>
                  <a:pt x="49564" y="754619"/>
                </a:lnTo>
                <a:lnTo>
                  <a:pt x="67462" y="797142"/>
                </a:lnTo>
                <a:lnTo>
                  <a:pt x="88114" y="837487"/>
                </a:lnTo>
                <a:lnTo>
                  <a:pt x="111519" y="875345"/>
                </a:lnTo>
                <a:lnTo>
                  <a:pt x="137678" y="910402"/>
                </a:lnTo>
                <a:lnTo>
                  <a:pt x="166590" y="942350"/>
                </a:lnTo>
                <a:lnTo>
                  <a:pt x="5351545" y="942350"/>
                </a:lnTo>
                <a:lnTo>
                  <a:pt x="5380457" y="910402"/>
                </a:lnTo>
                <a:lnTo>
                  <a:pt x="5406616" y="875345"/>
                </a:lnTo>
                <a:lnTo>
                  <a:pt x="5430021" y="837487"/>
                </a:lnTo>
                <a:lnTo>
                  <a:pt x="5450673" y="797142"/>
                </a:lnTo>
                <a:lnTo>
                  <a:pt x="5468571" y="754619"/>
                </a:lnTo>
                <a:lnTo>
                  <a:pt x="5483716" y="710229"/>
                </a:lnTo>
                <a:lnTo>
                  <a:pt x="5496107" y="664285"/>
                </a:lnTo>
                <a:lnTo>
                  <a:pt x="5505745" y="617096"/>
                </a:lnTo>
                <a:lnTo>
                  <a:pt x="5512628" y="568974"/>
                </a:lnTo>
                <a:lnTo>
                  <a:pt x="5516759" y="520230"/>
                </a:lnTo>
                <a:lnTo>
                  <a:pt x="5518136" y="471175"/>
                </a:lnTo>
                <a:lnTo>
                  <a:pt x="5516759" y="422119"/>
                </a:lnTo>
                <a:lnTo>
                  <a:pt x="5512628" y="373375"/>
                </a:lnTo>
                <a:lnTo>
                  <a:pt x="5505745" y="325253"/>
                </a:lnTo>
                <a:lnTo>
                  <a:pt x="5496107" y="278064"/>
                </a:lnTo>
                <a:lnTo>
                  <a:pt x="5483716" y="232120"/>
                </a:lnTo>
                <a:lnTo>
                  <a:pt x="5468571" y="187730"/>
                </a:lnTo>
                <a:lnTo>
                  <a:pt x="5450673" y="145207"/>
                </a:lnTo>
                <a:lnTo>
                  <a:pt x="5430021" y="104862"/>
                </a:lnTo>
                <a:lnTo>
                  <a:pt x="5406616" y="67004"/>
                </a:lnTo>
                <a:lnTo>
                  <a:pt x="5380457" y="31947"/>
                </a:lnTo>
                <a:lnTo>
                  <a:pt x="5351545" y="0"/>
                </a:lnTo>
                <a:close/>
              </a:path>
            </a:pathLst>
          </a:custGeom>
          <a:solidFill>
            <a:srgbClr val="FBF485">
              <a:alpha val="39999"/>
            </a:srgbClr>
          </a:solidFill>
        </p:spPr>
        <p:txBody>
          <a:bodyPr wrap="square" lIns="0" tIns="0" rIns="0" bIns="0" rtlCol="0"/>
          <a:lstStyle/>
          <a:p>
            <a:endParaRPr/>
          </a:p>
        </p:txBody>
      </p:sp>
      <p:sp>
        <p:nvSpPr>
          <p:cNvPr id="29" name="bg object 29"/>
          <p:cNvSpPr/>
          <p:nvPr/>
        </p:nvSpPr>
        <p:spPr>
          <a:xfrm>
            <a:off x="11466779" y="7435146"/>
            <a:ext cx="5181600" cy="471805"/>
          </a:xfrm>
          <a:custGeom>
            <a:avLst/>
            <a:gdLst/>
            <a:ahLst/>
            <a:cxnLst/>
            <a:rect l="l" t="t" r="r" b="b"/>
            <a:pathLst>
              <a:path w="5181600" h="471804">
                <a:moveTo>
                  <a:pt x="5098569"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5098569" y="471189"/>
                </a:lnTo>
                <a:lnTo>
                  <a:pt x="5126105" y="437685"/>
                </a:lnTo>
                <a:lnTo>
                  <a:pt x="5148133" y="398582"/>
                </a:lnTo>
                <a:lnTo>
                  <a:pt x="5164655" y="355125"/>
                </a:lnTo>
                <a:lnTo>
                  <a:pt x="5175669" y="308557"/>
                </a:lnTo>
                <a:lnTo>
                  <a:pt x="5181176" y="260122"/>
                </a:lnTo>
                <a:lnTo>
                  <a:pt x="5181176" y="211066"/>
                </a:lnTo>
                <a:lnTo>
                  <a:pt x="5175669" y="162631"/>
                </a:lnTo>
                <a:lnTo>
                  <a:pt x="5164655" y="116063"/>
                </a:lnTo>
                <a:lnTo>
                  <a:pt x="5148133" y="72606"/>
                </a:lnTo>
                <a:lnTo>
                  <a:pt x="5126105" y="33503"/>
                </a:lnTo>
                <a:lnTo>
                  <a:pt x="5098569" y="0"/>
                </a:lnTo>
                <a:close/>
              </a:path>
            </a:pathLst>
          </a:custGeom>
          <a:solidFill>
            <a:srgbClr val="FBF485">
              <a:alpha val="39999"/>
            </a:srgbClr>
          </a:solidFill>
        </p:spPr>
        <p:txBody>
          <a:bodyPr wrap="square" lIns="0" tIns="0" rIns="0" bIns="0" rtlCol="0"/>
          <a:lstStyle/>
          <a:p>
            <a:endParaRPr/>
          </a:p>
        </p:txBody>
      </p:sp>
      <p:sp>
        <p:nvSpPr>
          <p:cNvPr id="30" name="bg object 30"/>
          <p:cNvSpPr/>
          <p:nvPr/>
        </p:nvSpPr>
        <p:spPr>
          <a:xfrm>
            <a:off x="11466779" y="6681244"/>
            <a:ext cx="8186420" cy="471805"/>
          </a:xfrm>
          <a:custGeom>
            <a:avLst/>
            <a:gdLst/>
            <a:ahLst/>
            <a:cxnLst/>
            <a:rect l="l" t="t" r="r" b="b"/>
            <a:pathLst>
              <a:path w="8186419" h="471804">
                <a:moveTo>
                  <a:pt x="8103491"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8103491" y="471189"/>
                </a:lnTo>
                <a:lnTo>
                  <a:pt x="8131026" y="437685"/>
                </a:lnTo>
                <a:lnTo>
                  <a:pt x="8153055" y="398582"/>
                </a:lnTo>
                <a:lnTo>
                  <a:pt x="8169576" y="355125"/>
                </a:lnTo>
                <a:lnTo>
                  <a:pt x="8180590" y="308557"/>
                </a:lnTo>
                <a:lnTo>
                  <a:pt x="8186097" y="260122"/>
                </a:lnTo>
                <a:lnTo>
                  <a:pt x="8186097" y="211066"/>
                </a:lnTo>
                <a:lnTo>
                  <a:pt x="8180590" y="162631"/>
                </a:lnTo>
                <a:lnTo>
                  <a:pt x="8169576" y="116063"/>
                </a:lnTo>
                <a:lnTo>
                  <a:pt x="8153055" y="72606"/>
                </a:lnTo>
                <a:lnTo>
                  <a:pt x="8131026" y="33503"/>
                </a:lnTo>
                <a:lnTo>
                  <a:pt x="8103491" y="0"/>
                </a:lnTo>
                <a:close/>
              </a:path>
            </a:pathLst>
          </a:custGeom>
          <a:solidFill>
            <a:srgbClr val="FBF485">
              <a:alpha val="39999"/>
            </a:srgbClr>
          </a:solidFill>
        </p:spPr>
        <p:txBody>
          <a:bodyPr wrap="square" lIns="0" tIns="0" rIns="0" bIns="0" rtlCol="0"/>
          <a:lstStyle/>
          <a:p>
            <a:endParaRPr/>
          </a:p>
        </p:txBody>
      </p:sp>
      <p:sp>
        <p:nvSpPr>
          <p:cNvPr id="31" name="bg object 31"/>
          <p:cNvSpPr/>
          <p:nvPr/>
        </p:nvSpPr>
        <p:spPr>
          <a:xfrm>
            <a:off x="11466779" y="5927342"/>
            <a:ext cx="8187055" cy="471805"/>
          </a:xfrm>
          <a:custGeom>
            <a:avLst/>
            <a:gdLst/>
            <a:ahLst/>
            <a:cxnLst/>
            <a:rect l="l" t="t" r="r" b="b"/>
            <a:pathLst>
              <a:path w="8187055" h="471804">
                <a:moveTo>
                  <a:pt x="8104121"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8104121" y="471189"/>
                </a:lnTo>
                <a:lnTo>
                  <a:pt x="8131657" y="437685"/>
                </a:lnTo>
                <a:lnTo>
                  <a:pt x="8153685" y="398582"/>
                </a:lnTo>
                <a:lnTo>
                  <a:pt x="8170206" y="355125"/>
                </a:lnTo>
                <a:lnTo>
                  <a:pt x="8181221" y="308557"/>
                </a:lnTo>
                <a:lnTo>
                  <a:pt x="8186728" y="260122"/>
                </a:lnTo>
                <a:lnTo>
                  <a:pt x="8186728" y="211066"/>
                </a:lnTo>
                <a:lnTo>
                  <a:pt x="8181221" y="162631"/>
                </a:lnTo>
                <a:lnTo>
                  <a:pt x="8170206" y="116063"/>
                </a:lnTo>
                <a:lnTo>
                  <a:pt x="8153685" y="72606"/>
                </a:lnTo>
                <a:lnTo>
                  <a:pt x="8131657" y="33503"/>
                </a:lnTo>
                <a:lnTo>
                  <a:pt x="8104121" y="0"/>
                </a:lnTo>
                <a:close/>
              </a:path>
            </a:pathLst>
          </a:custGeom>
          <a:solidFill>
            <a:srgbClr val="FBF485">
              <a:alpha val="39999"/>
            </a:srgbClr>
          </a:solidFill>
        </p:spPr>
        <p:txBody>
          <a:bodyPr wrap="square" lIns="0" tIns="0" rIns="0" bIns="0" rtlCol="0"/>
          <a:lstStyle/>
          <a:p>
            <a:endParaRPr/>
          </a:p>
        </p:txBody>
      </p:sp>
      <p:sp>
        <p:nvSpPr>
          <p:cNvPr id="32" name="bg object 32"/>
          <p:cNvSpPr/>
          <p:nvPr/>
        </p:nvSpPr>
        <p:spPr>
          <a:xfrm>
            <a:off x="11466779" y="5173440"/>
            <a:ext cx="8187055" cy="471805"/>
          </a:xfrm>
          <a:custGeom>
            <a:avLst/>
            <a:gdLst/>
            <a:ahLst/>
            <a:cxnLst/>
            <a:rect l="l" t="t" r="r" b="b"/>
            <a:pathLst>
              <a:path w="8187055" h="471804">
                <a:moveTo>
                  <a:pt x="8104293"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8104293" y="471189"/>
                </a:lnTo>
                <a:lnTo>
                  <a:pt x="8131828" y="437685"/>
                </a:lnTo>
                <a:lnTo>
                  <a:pt x="8153857" y="398582"/>
                </a:lnTo>
                <a:lnTo>
                  <a:pt x="8170378" y="355125"/>
                </a:lnTo>
                <a:lnTo>
                  <a:pt x="8181392" y="308557"/>
                </a:lnTo>
                <a:lnTo>
                  <a:pt x="8186900" y="260122"/>
                </a:lnTo>
                <a:lnTo>
                  <a:pt x="8186900" y="211066"/>
                </a:lnTo>
                <a:lnTo>
                  <a:pt x="8181392" y="162631"/>
                </a:lnTo>
                <a:lnTo>
                  <a:pt x="8170378" y="116063"/>
                </a:lnTo>
                <a:lnTo>
                  <a:pt x="8153857" y="72606"/>
                </a:lnTo>
                <a:lnTo>
                  <a:pt x="8131828" y="33503"/>
                </a:lnTo>
                <a:lnTo>
                  <a:pt x="8104293" y="0"/>
                </a:lnTo>
                <a:close/>
              </a:path>
            </a:pathLst>
          </a:custGeom>
          <a:solidFill>
            <a:srgbClr val="FBF485">
              <a:alpha val="39999"/>
            </a:srgbClr>
          </a:solidFill>
        </p:spPr>
        <p:txBody>
          <a:bodyPr wrap="square" lIns="0" tIns="0" rIns="0" bIns="0" rtlCol="0"/>
          <a:lstStyle/>
          <a:p>
            <a:endParaRPr/>
          </a:p>
        </p:txBody>
      </p:sp>
      <p:sp>
        <p:nvSpPr>
          <p:cNvPr id="33" name="bg object 33"/>
          <p:cNvSpPr/>
          <p:nvPr/>
        </p:nvSpPr>
        <p:spPr>
          <a:xfrm>
            <a:off x="11466779" y="4419537"/>
            <a:ext cx="2717800" cy="471805"/>
          </a:xfrm>
          <a:custGeom>
            <a:avLst/>
            <a:gdLst/>
            <a:ahLst/>
            <a:cxnLst/>
            <a:rect l="l" t="t" r="r" b="b"/>
            <a:pathLst>
              <a:path w="2717800" h="471804">
                <a:moveTo>
                  <a:pt x="2635199"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2635199" y="471189"/>
                </a:lnTo>
                <a:lnTo>
                  <a:pt x="2662734" y="437685"/>
                </a:lnTo>
                <a:lnTo>
                  <a:pt x="2684763" y="398582"/>
                </a:lnTo>
                <a:lnTo>
                  <a:pt x="2701284" y="355125"/>
                </a:lnTo>
                <a:lnTo>
                  <a:pt x="2712298" y="308557"/>
                </a:lnTo>
                <a:lnTo>
                  <a:pt x="2717805" y="260122"/>
                </a:lnTo>
                <a:lnTo>
                  <a:pt x="2717805" y="211066"/>
                </a:lnTo>
                <a:lnTo>
                  <a:pt x="2712298" y="162631"/>
                </a:lnTo>
                <a:lnTo>
                  <a:pt x="2701284" y="116063"/>
                </a:lnTo>
                <a:lnTo>
                  <a:pt x="2684763" y="72606"/>
                </a:lnTo>
                <a:lnTo>
                  <a:pt x="2662734" y="33503"/>
                </a:lnTo>
                <a:lnTo>
                  <a:pt x="2635199" y="0"/>
                </a:lnTo>
                <a:close/>
              </a:path>
            </a:pathLst>
          </a:custGeom>
          <a:solidFill>
            <a:srgbClr val="FBF485">
              <a:alpha val="39999"/>
            </a:srgbClr>
          </a:solidFill>
        </p:spPr>
        <p:txBody>
          <a:bodyPr wrap="square" lIns="0" tIns="0" rIns="0" bIns="0" rtlCol="0"/>
          <a:lstStyle/>
          <a:p>
            <a:endParaRPr/>
          </a:p>
        </p:txBody>
      </p:sp>
      <p:sp>
        <p:nvSpPr>
          <p:cNvPr id="34" name="bg object 34"/>
          <p:cNvSpPr/>
          <p:nvPr/>
        </p:nvSpPr>
        <p:spPr>
          <a:xfrm>
            <a:off x="11466779" y="3665635"/>
            <a:ext cx="8187055" cy="471805"/>
          </a:xfrm>
          <a:custGeom>
            <a:avLst/>
            <a:gdLst/>
            <a:ahLst/>
            <a:cxnLst/>
            <a:rect l="l" t="t" r="r" b="b"/>
            <a:pathLst>
              <a:path w="8187055" h="471804">
                <a:moveTo>
                  <a:pt x="8103970"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8103970" y="471189"/>
                </a:lnTo>
                <a:lnTo>
                  <a:pt x="8131506" y="437685"/>
                </a:lnTo>
                <a:lnTo>
                  <a:pt x="8153534" y="398582"/>
                </a:lnTo>
                <a:lnTo>
                  <a:pt x="8170056" y="355125"/>
                </a:lnTo>
                <a:lnTo>
                  <a:pt x="8181070" y="308557"/>
                </a:lnTo>
                <a:lnTo>
                  <a:pt x="8186577" y="260122"/>
                </a:lnTo>
                <a:lnTo>
                  <a:pt x="8186577" y="211066"/>
                </a:lnTo>
                <a:lnTo>
                  <a:pt x="8181070" y="162631"/>
                </a:lnTo>
                <a:lnTo>
                  <a:pt x="8170056" y="116063"/>
                </a:lnTo>
                <a:lnTo>
                  <a:pt x="8153534" y="72606"/>
                </a:lnTo>
                <a:lnTo>
                  <a:pt x="8131506" y="33503"/>
                </a:lnTo>
                <a:lnTo>
                  <a:pt x="8103970" y="0"/>
                </a:lnTo>
                <a:close/>
              </a:path>
            </a:pathLst>
          </a:custGeom>
          <a:solidFill>
            <a:srgbClr val="FBF485">
              <a:alpha val="39999"/>
            </a:srgbClr>
          </a:solidFill>
        </p:spPr>
        <p:txBody>
          <a:bodyPr wrap="square" lIns="0" tIns="0" rIns="0" bIns="0" rtlCol="0"/>
          <a:lstStyle/>
          <a:p>
            <a:endParaRPr/>
          </a:p>
        </p:txBody>
      </p:sp>
      <p:sp>
        <p:nvSpPr>
          <p:cNvPr id="35" name="bg object 35"/>
          <p:cNvSpPr/>
          <p:nvPr/>
        </p:nvSpPr>
        <p:spPr>
          <a:xfrm>
            <a:off x="11466779" y="2911732"/>
            <a:ext cx="8186420" cy="471805"/>
          </a:xfrm>
          <a:custGeom>
            <a:avLst/>
            <a:gdLst/>
            <a:ahLst/>
            <a:cxnLst/>
            <a:rect l="l" t="t" r="r" b="b"/>
            <a:pathLst>
              <a:path w="8186419" h="471804">
                <a:moveTo>
                  <a:pt x="8103644"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8103644" y="471189"/>
                </a:lnTo>
                <a:lnTo>
                  <a:pt x="8131179" y="437685"/>
                </a:lnTo>
                <a:lnTo>
                  <a:pt x="8153208" y="398582"/>
                </a:lnTo>
                <a:lnTo>
                  <a:pt x="8169729" y="355125"/>
                </a:lnTo>
                <a:lnTo>
                  <a:pt x="8180743" y="308557"/>
                </a:lnTo>
                <a:lnTo>
                  <a:pt x="8186250" y="260122"/>
                </a:lnTo>
                <a:lnTo>
                  <a:pt x="8186250" y="211066"/>
                </a:lnTo>
                <a:lnTo>
                  <a:pt x="8180743" y="162631"/>
                </a:lnTo>
                <a:lnTo>
                  <a:pt x="8169729" y="116063"/>
                </a:lnTo>
                <a:lnTo>
                  <a:pt x="8153208" y="72606"/>
                </a:lnTo>
                <a:lnTo>
                  <a:pt x="8131179" y="33503"/>
                </a:lnTo>
                <a:lnTo>
                  <a:pt x="8103644" y="0"/>
                </a:lnTo>
                <a:close/>
              </a:path>
            </a:pathLst>
          </a:custGeom>
          <a:solidFill>
            <a:srgbClr val="FBF485">
              <a:alpha val="39999"/>
            </a:srgbClr>
          </a:solidFill>
        </p:spPr>
        <p:txBody>
          <a:bodyPr wrap="square" lIns="0" tIns="0" rIns="0" bIns="0" rtlCol="0"/>
          <a:lstStyle/>
          <a:p>
            <a:endParaRPr/>
          </a:p>
        </p:txBody>
      </p:sp>
      <p:sp>
        <p:nvSpPr>
          <p:cNvPr id="36" name="bg object 36"/>
          <p:cNvSpPr/>
          <p:nvPr/>
        </p:nvSpPr>
        <p:spPr>
          <a:xfrm>
            <a:off x="11600282" y="2157830"/>
            <a:ext cx="8052434" cy="471805"/>
          </a:xfrm>
          <a:custGeom>
            <a:avLst/>
            <a:gdLst/>
            <a:ahLst/>
            <a:cxnLst/>
            <a:rect l="l" t="t" r="r" b="b"/>
            <a:pathLst>
              <a:path w="8052434" h="471805">
                <a:moveTo>
                  <a:pt x="7969332" y="0"/>
                </a:moveTo>
                <a:lnTo>
                  <a:pt x="82606" y="0"/>
                </a:lnTo>
                <a:lnTo>
                  <a:pt x="55071" y="33503"/>
                </a:lnTo>
                <a:lnTo>
                  <a:pt x="33042" y="72606"/>
                </a:lnTo>
                <a:lnTo>
                  <a:pt x="16521" y="116063"/>
                </a:lnTo>
                <a:lnTo>
                  <a:pt x="5507" y="162631"/>
                </a:lnTo>
                <a:lnTo>
                  <a:pt x="0" y="211066"/>
                </a:lnTo>
                <a:lnTo>
                  <a:pt x="0" y="260122"/>
                </a:lnTo>
                <a:lnTo>
                  <a:pt x="5507" y="308557"/>
                </a:lnTo>
                <a:lnTo>
                  <a:pt x="16521" y="355125"/>
                </a:lnTo>
                <a:lnTo>
                  <a:pt x="33042" y="398582"/>
                </a:lnTo>
                <a:lnTo>
                  <a:pt x="55071" y="437685"/>
                </a:lnTo>
                <a:lnTo>
                  <a:pt x="82606" y="471189"/>
                </a:lnTo>
                <a:lnTo>
                  <a:pt x="7969332" y="471189"/>
                </a:lnTo>
                <a:lnTo>
                  <a:pt x="7996868" y="437685"/>
                </a:lnTo>
                <a:lnTo>
                  <a:pt x="8018896" y="398582"/>
                </a:lnTo>
                <a:lnTo>
                  <a:pt x="8035418" y="355125"/>
                </a:lnTo>
                <a:lnTo>
                  <a:pt x="8046432" y="308557"/>
                </a:lnTo>
                <a:lnTo>
                  <a:pt x="8051939" y="260122"/>
                </a:lnTo>
                <a:lnTo>
                  <a:pt x="8051939" y="211066"/>
                </a:lnTo>
                <a:lnTo>
                  <a:pt x="8046432" y="162631"/>
                </a:lnTo>
                <a:lnTo>
                  <a:pt x="8035418" y="116063"/>
                </a:lnTo>
                <a:lnTo>
                  <a:pt x="8018896" y="72606"/>
                </a:lnTo>
                <a:lnTo>
                  <a:pt x="7996868" y="33503"/>
                </a:lnTo>
                <a:lnTo>
                  <a:pt x="7969332" y="0"/>
                </a:lnTo>
                <a:close/>
              </a:path>
            </a:pathLst>
          </a:custGeom>
          <a:solidFill>
            <a:srgbClr val="FBF485">
              <a:alpha val="39999"/>
            </a:srgbClr>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4950" b="0" i="0">
                <a:solidFill>
                  <a:srgbClr val="006969"/>
                </a:solidFill>
                <a:latin typeface="Futura PT Book"/>
                <a:cs typeface="Futura PT Book"/>
              </a:defRPr>
            </a:lvl1pPr>
          </a:lstStyle>
          <a:p>
            <a:endParaRPr/>
          </a:p>
        </p:txBody>
      </p:sp>
      <p:sp>
        <p:nvSpPr>
          <p:cNvPr id="3" name="Holder 3"/>
          <p:cNvSpPr>
            <a:spLocks noGrp="1"/>
          </p:cNvSpPr>
          <p:nvPr>
            <p:ph sz="half" idx="2"/>
          </p:nvPr>
        </p:nvSpPr>
        <p:spPr>
          <a:xfrm>
            <a:off x="1005205" y="2601150"/>
            <a:ext cx="8745284" cy="7464171"/>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11536686" y="2145120"/>
            <a:ext cx="8047355" cy="5680075"/>
          </a:xfrm>
          <a:prstGeom prst="rect">
            <a:avLst/>
          </a:prstGeom>
        </p:spPr>
        <p:txBody>
          <a:bodyPr wrap="square" lIns="0" tIns="0" rIns="0" bIns="0">
            <a:spAutoFit/>
          </a:bodyPr>
          <a:lstStyle>
            <a:lvl1pPr>
              <a:defRPr sz="2450" b="0" i="0">
                <a:solidFill>
                  <a:schemeClr val="tx1"/>
                </a:solidFill>
                <a:latin typeface="Futura PT Book"/>
                <a:cs typeface="Futura PT Book"/>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994EB4AB-1829-47B8-90F5-EEA403C3F884}" type="datetime1">
              <a:rPr lang="en-US" smtClean="0"/>
              <a:t>4/28/2026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0" y="0"/>
            <a:ext cx="20104099" cy="11308556"/>
          </a:xfrm>
          <a:prstGeom prst="rect">
            <a:avLst/>
          </a:prstGeom>
        </p:spPr>
      </p:pic>
      <p:sp>
        <p:nvSpPr>
          <p:cNvPr id="2" name="Holder 2"/>
          <p:cNvSpPr>
            <a:spLocks noGrp="1"/>
          </p:cNvSpPr>
          <p:nvPr>
            <p:ph type="title"/>
          </p:nvPr>
        </p:nvSpPr>
        <p:spPr/>
        <p:txBody>
          <a:bodyPr lIns="0" tIns="0" rIns="0" bIns="0"/>
          <a:lstStyle>
            <a:lvl1pPr>
              <a:defRPr sz="4950" b="0" i="0">
                <a:solidFill>
                  <a:srgbClr val="006969"/>
                </a:solidFill>
                <a:latin typeface="Futura PT Book"/>
                <a:cs typeface="Futura PT Book"/>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E4191CDE-1ACC-4163-BF28-7501AC56C01E}" type="datetime1">
              <a:rPr lang="en-US" smtClean="0"/>
              <a:t>4/28/2026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582D863C-4E39-468F-B2DF-5BE5EE367C79}" type="datetime1">
              <a:rPr lang="en-US" smtClean="0"/>
              <a:t>4/28/2026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670003" y="635022"/>
            <a:ext cx="10242550" cy="806069"/>
          </a:xfrm>
          <a:prstGeom prst="rect">
            <a:avLst/>
          </a:prstGeom>
        </p:spPr>
        <p:txBody>
          <a:bodyPr wrap="square" lIns="0" tIns="0" rIns="0" bIns="0">
            <a:spAutoFit/>
          </a:bodyPr>
          <a:lstStyle>
            <a:lvl1pPr>
              <a:defRPr sz="4950" b="0" i="0">
                <a:solidFill>
                  <a:srgbClr val="006969"/>
                </a:solidFill>
                <a:latin typeface="Futura PT Book"/>
                <a:cs typeface="Futura PT Book"/>
              </a:defRPr>
            </a:lvl1pPr>
          </a:lstStyle>
          <a:p>
            <a:endParaRPr/>
          </a:p>
        </p:txBody>
      </p:sp>
      <p:sp>
        <p:nvSpPr>
          <p:cNvPr id="3" name="Holder 3"/>
          <p:cNvSpPr>
            <a:spLocks noGrp="1"/>
          </p:cNvSpPr>
          <p:nvPr>
            <p:ph type="body" idx="1"/>
          </p:nvPr>
        </p:nvSpPr>
        <p:spPr>
          <a:xfrm>
            <a:off x="502725" y="2125098"/>
            <a:ext cx="15055215" cy="2538729"/>
          </a:xfrm>
          <a:prstGeom prst="rect">
            <a:avLst/>
          </a:prstGeom>
        </p:spPr>
        <p:txBody>
          <a:bodyPr wrap="square" lIns="0" tIns="0" rIns="0" bIns="0">
            <a:spAutoFit/>
          </a:bodyPr>
          <a:lstStyle>
            <a:lvl1pPr>
              <a:defRPr sz="2450" b="0" i="0">
                <a:solidFill>
                  <a:schemeClr val="tx1"/>
                </a:solidFill>
                <a:latin typeface="Futura PT Book"/>
                <a:cs typeface="Futura PT Book"/>
              </a:defRPr>
            </a:lvl1pPr>
          </a:lstStyle>
          <a:p>
            <a:endParaRPr/>
          </a:p>
        </p:txBody>
      </p:sp>
      <p:sp>
        <p:nvSpPr>
          <p:cNvPr id="4" name="Holder 4"/>
          <p:cNvSpPr>
            <a:spLocks noGrp="1"/>
          </p:cNvSpPr>
          <p:nvPr>
            <p:ph type="ftr" sz="quarter" idx="5"/>
          </p:nvPr>
        </p:nvSpPr>
        <p:spPr>
          <a:xfrm>
            <a:off x="6835394" y="10517696"/>
            <a:ext cx="6433312" cy="565467"/>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1005205" y="10517696"/>
            <a:ext cx="4623943" cy="565467"/>
          </a:xfrm>
          <a:prstGeom prst="rect">
            <a:avLst/>
          </a:prstGeom>
        </p:spPr>
        <p:txBody>
          <a:bodyPr wrap="square" lIns="0" tIns="0" rIns="0" bIns="0">
            <a:spAutoFit/>
          </a:bodyPr>
          <a:lstStyle>
            <a:lvl1pPr algn="l">
              <a:defRPr>
                <a:solidFill>
                  <a:schemeClr val="tx1">
                    <a:tint val="75000"/>
                  </a:schemeClr>
                </a:solidFill>
              </a:defRPr>
            </a:lvl1pPr>
          </a:lstStyle>
          <a:p>
            <a:fld id="{CC19EB55-CF1E-425A-B433-6D085A3D4FFE}" type="datetime1">
              <a:rPr lang="en-US" smtClean="0"/>
              <a:t>4/28/2026</a:t>
            </a:fld>
            <a:endParaRPr lang="en-US"/>
          </a:p>
        </p:txBody>
      </p:sp>
      <p:sp>
        <p:nvSpPr>
          <p:cNvPr id="6" name="Holder 6"/>
          <p:cNvSpPr>
            <a:spLocks noGrp="1"/>
          </p:cNvSpPr>
          <p:nvPr>
            <p:ph type="sldNum" sz="quarter" idx="7"/>
          </p:nvPr>
        </p:nvSpPr>
        <p:spPr>
          <a:xfrm>
            <a:off x="14474953" y="10517696"/>
            <a:ext cx="4623943" cy="565467"/>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ft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4.png"/><Relationship Id="rId13" Type="http://schemas.openxmlformats.org/officeDocument/2006/relationships/image" Target="../media/image19.png"/><Relationship Id="rId18" Type="http://schemas.openxmlformats.org/officeDocument/2006/relationships/image" Target="../media/image24.png"/><Relationship Id="rId3" Type="http://schemas.openxmlformats.org/officeDocument/2006/relationships/image" Target="../media/image9.png"/><Relationship Id="rId21" Type="http://schemas.openxmlformats.org/officeDocument/2006/relationships/image" Target="../media/image27.jpeg"/><Relationship Id="rId7" Type="http://schemas.openxmlformats.org/officeDocument/2006/relationships/image" Target="../media/image13.png"/><Relationship Id="rId12" Type="http://schemas.openxmlformats.org/officeDocument/2006/relationships/image" Target="../media/image18.png"/><Relationship Id="rId17" Type="http://schemas.openxmlformats.org/officeDocument/2006/relationships/image" Target="../media/image23.png"/><Relationship Id="rId2" Type="http://schemas.openxmlformats.org/officeDocument/2006/relationships/image" Target="../media/image8.png"/><Relationship Id="rId16" Type="http://schemas.openxmlformats.org/officeDocument/2006/relationships/image" Target="../media/image22.png"/><Relationship Id="rId20" Type="http://schemas.openxmlformats.org/officeDocument/2006/relationships/image" Target="../media/image26.png"/><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image" Target="../media/image17.png"/><Relationship Id="rId5" Type="http://schemas.openxmlformats.org/officeDocument/2006/relationships/image" Target="../media/image11.png"/><Relationship Id="rId15" Type="http://schemas.openxmlformats.org/officeDocument/2006/relationships/image" Target="../media/image21.png"/><Relationship Id="rId10" Type="http://schemas.openxmlformats.org/officeDocument/2006/relationships/image" Target="../media/image16.png"/><Relationship Id="rId19" Type="http://schemas.openxmlformats.org/officeDocument/2006/relationships/image" Target="../media/image25.png"/><Relationship Id="rId4" Type="http://schemas.openxmlformats.org/officeDocument/2006/relationships/image" Target="../media/image10.png"/><Relationship Id="rId9" Type="http://schemas.openxmlformats.org/officeDocument/2006/relationships/image" Target="../media/image15.png"/><Relationship Id="rId14"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6" name="Imagem 25">
            <a:extLst>
              <a:ext uri="{FF2B5EF4-FFF2-40B4-BE49-F238E27FC236}">
                <a16:creationId xmlns:a16="http://schemas.microsoft.com/office/drawing/2014/main" id="{6E3267F5-5B2B-4A6D-1A57-80B37F348FB5}"/>
              </a:ext>
            </a:extLst>
          </p:cNvPr>
          <p:cNvPicPr>
            <a:picLocks noChangeAspect="1"/>
          </p:cNvPicPr>
          <p:nvPr/>
        </p:nvPicPr>
        <p:blipFill>
          <a:blip r:embed="rId2"/>
          <a:stretch>
            <a:fillRect/>
          </a:stretch>
        </p:blipFill>
        <p:spPr>
          <a:xfrm>
            <a:off x="0" y="-10398"/>
            <a:ext cx="20085649" cy="11319748"/>
          </a:xfrm>
          <a:prstGeom prst="rect">
            <a:avLst/>
          </a:prstGeom>
        </p:spPr>
      </p:pic>
      <p:grpSp>
        <p:nvGrpSpPr>
          <p:cNvPr id="2" name="object 2"/>
          <p:cNvGrpSpPr/>
          <p:nvPr/>
        </p:nvGrpSpPr>
        <p:grpSpPr>
          <a:xfrm>
            <a:off x="361393" y="4816475"/>
            <a:ext cx="5575858" cy="2462510"/>
            <a:chOff x="361392" y="4397355"/>
            <a:chExt cx="7104493" cy="2881630"/>
          </a:xfrm>
        </p:grpSpPr>
        <p:sp>
          <p:nvSpPr>
            <p:cNvPr id="6" name="object 6"/>
            <p:cNvSpPr/>
            <p:nvPr/>
          </p:nvSpPr>
          <p:spPr>
            <a:xfrm>
              <a:off x="361392" y="5825665"/>
              <a:ext cx="6750050" cy="26670"/>
            </a:xfrm>
            <a:custGeom>
              <a:avLst/>
              <a:gdLst/>
              <a:ahLst/>
              <a:cxnLst/>
              <a:rect l="l" t="t" r="r" b="b"/>
              <a:pathLst>
                <a:path w="6750050" h="26670">
                  <a:moveTo>
                    <a:pt x="6750056" y="0"/>
                  </a:moveTo>
                  <a:lnTo>
                    <a:pt x="0" y="0"/>
                  </a:lnTo>
                  <a:lnTo>
                    <a:pt x="0" y="26093"/>
                  </a:lnTo>
                  <a:lnTo>
                    <a:pt x="6750056" y="26093"/>
                  </a:lnTo>
                  <a:lnTo>
                    <a:pt x="6750056" y="0"/>
                  </a:lnTo>
                  <a:close/>
                </a:path>
              </a:pathLst>
            </a:custGeom>
            <a:solidFill>
              <a:srgbClr val="FFFFFF"/>
            </a:solidFill>
          </p:spPr>
          <p:txBody>
            <a:bodyPr wrap="square" lIns="0" tIns="0" rIns="0" bIns="0" rtlCol="0"/>
            <a:lstStyle/>
            <a:p>
              <a:endParaRPr/>
            </a:p>
          </p:txBody>
        </p:sp>
        <p:pic>
          <p:nvPicPr>
            <p:cNvPr id="7" name="object 7"/>
            <p:cNvPicPr/>
            <p:nvPr/>
          </p:nvPicPr>
          <p:blipFill>
            <a:blip r:embed="rId3" cstate="print"/>
            <a:stretch>
              <a:fillRect/>
            </a:stretch>
          </p:blipFill>
          <p:spPr>
            <a:xfrm>
              <a:off x="495785" y="4682695"/>
              <a:ext cx="4660580" cy="1591800"/>
            </a:xfrm>
            <a:prstGeom prst="rect">
              <a:avLst/>
            </a:prstGeom>
          </p:spPr>
        </p:pic>
        <p:sp>
          <p:nvSpPr>
            <p:cNvPr id="8" name="object 8"/>
            <p:cNvSpPr/>
            <p:nvPr/>
          </p:nvSpPr>
          <p:spPr>
            <a:xfrm>
              <a:off x="5400230" y="4397355"/>
              <a:ext cx="2065655" cy="2881630"/>
            </a:xfrm>
            <a:custGeom>
              <a:avLst/>
              <a:gdLst/>
              <a:ahLst/>
              <a:cxnLst/>
              <a:rect l="l" t="t" r="r" b="b"/>
              <a:pathLst>
                <a:path w="2065654" h="2881629">
                  <a:moveTo>
                    <a:pt x="2065502" y="2384907"/>
                  </a:moveTo>
                  <a:lnTo>
                    <a:pt x="2052561" y="2368512"/>
                  </a:lnTo>
                  <a:lnTo>
                    <a:pt x="2039924" y="2351862"/>
                  </a:lnTo>
                  <a:lnTo>
                    <a:pt x="2016823" y="2328976"/>
                  </a:lnTo>
                  <a:lnTo>
                    <a:pt x="1972957" y="2273300"/>
                  </a:lnTo>
                  <a:lnTo>
                    <a:pt x="1952294" y="2240750"/>
                  </a:lnTo>
                  <a:lnTo>
                    <a:pt x="1932546" y="2205253"/>
                  </a:lnTo>
                  <a:lnTo>
                    <a:pt x="1913775" y="2166912"/>
                  </a:lnTo>
                  <a:lnTo>
                    <a:pt x="1896021" y="2125878"/>
                  </a:lnTo>
                  <a:lnTo>
                    <a:pt x="1879358" y="2082279"/>
                  </a:lnTo>
                  <a:lnTo>
                    <a:pt x="1863813" y="2036229"/>
                  </a:lnTo>
                  <a:lnTo>
                    <a:pt x="1849462" y="1987880"/>
                  </a:lnTo>
                  <a:lnTo>
                    <a:pt x="1836356" y="1937334"/>
                  </a:lnTo>
                  <a:lnTo>
                    <a:pt x="1824532" y="1884743"/>
                  </a:lnTo>
                  <a:lnTo>
                    <a:pt x="1814055" y="1830235"/>
                  </a:lnTo>
                  <a:lnTo>
                    <a:pt x="1804987" y="1773936"/>
                  </a:lnTo>
                  <a:lnTo>
                    <a:pt x="1797367" y="1715973"/>
                  </a:lnTo>
                  <a:lnTo>
                    <a:pt x="1791258" y="1656473"/>
                  </a:lnTo>
                  <a:lnTo>
                    <a:pt x="1786712" y="1595564"/>
                  </a:lnTo>
                  <a:lnTo>
                    <a:pt x="1783778" y="1533398"/>
                  </a:lnTo>
                  <a:lnTo>
                    <a:pt x="273951" y="1533398"/>
                  </a:lnTo>
                  <a:lnTo>
                    <a:pt x="271068" y="1594573"/>
                  </a:lnTo>
                  <a:lnTo>
                    <a:pt x="266623" y="1654530"/>
                  </a:lnTo>
                  <a:lnTo>
                    <a:pt x="260680" y="1713115"/>
                  </a:lnTo>
                  <a:lnTo>
                    <a:pt x="253263" y="1770227"/>
                  </a:lnTo>
                  <a:lnTo>
                    <a:pt x="244436" y="1825739"/>
                  </a:lnTo>
                  <a:lnTo>
                    <a:pt x="234251" y="1879536"/>
                  </a:lnTo>
                  <a:lnTo>
                    <a:pt x="222758" y="1931466"/>
                  </a:lnTo>
                  <a:lnTo>
                    <a:pt x="210007" y="1981441"/>
                  </a:lnTo>
                  <a:lnTo>
                    <a:pt x="196049" y="2029307"/>
                  </a:lnTo>
                  <a:lnTo>
                    <a:pt x="180949" y="2074964"/>
                  </a:lnTo>
                  <a:lnTo>
                    <a:pt x="164731" y="2118271"/>
                  </a:lnTo>
                  <a:lnTo>
                    <a:pt x="147459" y="2159114"/>
                  </a:lnTo>
                  <a:lnTo>
                    <a:pt x="129197" y="2197379"/>
                  </a:lnTo>
                  <a:lnTo>
                    <a:pt x="109982" y="2232914"/>
                  </a:lnTo>
                  <a:lnTo>
                    <a:pt x="89852" y="2265629"/>
                  </a:lnTo>
                  <a:lnTo>
                    <a:pt x="47117" y="2322055"/>
                  </a:lnTo>
                  <a:lnTo>
                    <a:pt x="35725" y="2338057"/>
                  </a:lnTo>
                  <a:lnTo>
                    <a:pt x="24091" y="2353894"/>
                  </a:lnTo>
                  <a:lnTo>
                    <a:pt x="12192" y="2369515"/>
                  </a:lnTo>
                  <a:lnTo>
                    <a:pt x="12" y="2384907"/>
                  </a:lnTo>
                  <a:lnTo>
                    <a:pt x="12" y="2881490"/>
                  </a:lnTo>
                  <a:lnTo>
                    <a:pt x="39039" y="2851950"/>
                  </a:lnTo>
                  <a:lnTo>
                    <a:pt x="77050" y="2821178"/>
                  </a:lnTo>
                  <a:lnTo>
                    <a:pt x="114033" y="2789212"/>
                  </a:lnTo>
                  <a:lnTo>
                    <a:pt x="149948" y="2756077"/>
                  </a:lnTo>
                  <a:lnTo>
                    <a:pt x="184759" y="2721800"/>
                  </a:lnTo>
                  <a:lnTo>
                    <a:pt x="218452" y="2686405"/>
                  </a:lnTo>
                  <a:lnTo>
                    <a:pt x="250990" y="2649944"/>
                  </a:lnTo>
                  <a:lnTo>
                    <a:pt x="282333" y="2612428"/>
                  </a:lnTo>
                  <a:lnTo>
                    <a:pt x="312470" y="2573883"/>
                  </a:lnTo>
                  <a:lnTo>
                    <a:pt x="341363" y="2534348"/>
                  </a:lnTo>
                  <a:lnTo>
                    <a:pt x="368973" y="2493861"/>
                  </a:lnTo>
                  <a:lnTo>
                    <a:pt x="395300" y="2452433"/>
                  </a:lnTo>
                  <a:lnTo>
                    <a:pt x="420281" y="2410104"/>
                  </a:lnTo>
                  <a:lnTo>
                    <a:pt x="443903" y="2366899"/>
                  </a:lnTo>
                  <a:lnTo>
                    <a:pt x="466140" y="2322842"/>
                  </a:lnTo>
                  <a:lnTo>
                    <a:pt x="486943" y="2277986"/>
                  </a:lnTo>
                  <a:lnTo>
                    <a:pt x="506310" y="2232329"/>
                  </a:lnTo>
                  <a:lnTo>
                    <a:pt x="524205" y="2185924"/>
                  </a:lnTo>
                  <a:lnTo>
                    <a:pt x="540575" y="2138781"/>
                  </a:lnTo>
                  <a:lnTo>
                    <a:pt x="555421" y="2090953"/>
                  </a:lnTo>
                  <a:lnTo>
                    <a:pt x="568693" y="2042452"/>
                  </a:lnTo>
                  <a:lnTo>
                    <a:pt x="580377" y="1993303"/>
                  </a:lnTo>
                  <a:lnTo>
                    <a:pt x="590435" y="1943557"/>
                  </a:lnTo>
                  <a:lnTo>
                    <a:pt x="598830" y="1893227"/>
                  </a:lnTo>
                  <a:lnTo>
                    <a:pt x="605548" y="1842338"/>
                  </a:lnTo>
                  <a:lnTo>
                    <a:pt x="610552" y="1790941"/>
                  </a:lnTo>
                  <a:lnTo>
                    <a:pt x="886383" y="1790941"/>
                  </a:lnTo>
                  <a:lnTo>
                    <a:pt x="886383" y="2486279"/>
                  </a:lnTo>
                  <a:lnTo>
                    <a:pt x="1180299" y="2486279"/>
                  </a:lnTo>
                  <a:lnTo>
                    <a:pt x="1180299" y="1790941"/>
                  </a:lnTo>
                  <a:lnTo>
                    <a:pt x="1454924" y="1790941"/>
                  </a:lnTo>
                  <a:lnTo>
                    <a:pt x="1459928" y="1842338"/>
                  </a:lnTo>
                  <a:lnTo>
                    <a:pt x="1466646" y="1893227"/>
                  </a:lnTo>
                  <a:lnTo>
                    <a:pt x="1475054" y="1943557"/>
                  </a:lnTo>
                  <a:lnTo>
                    <a:pt x="1485099" y="1993303"/>
                  </a:lnTo>
                  <a:lnTo>
                    <a:pt x="1496783" y="2042452"/>
                  </a:lnTo>
                  <a:lnTo>
                    <a:pt x="1510068" y="2090953"/>
                  </a:lnTo>
                  <a:lnTo>
                    <a:pt x="1524914" y="2138781"/>
                  </a:lnTo>
                  <a:lnTo>
                    <a:pt x="1541284" y="2185924"/>
                  </a:lnTo>
                  <a:lnTo>
                    <a:pt x="1559179" y="2232329"/>
                  </a:lnTo>
                  <a:lnTo>
                    <a:pt x="1578546" y="2277986"/>
                  </a:lnTo>
                  <a:lnTo>
                    <a:pt x="1599361" y="2322842"/>
                  </a:lnTo>
                  <a:lnTo>
                    <a:pt x="1621599" y="2366899"/>
                  </a:lnTo>
                  <a:lnTo>
                    <a:pt x="1645221" y="2410104"/>
                  </a:lnTo>
                  <a:lnTo>
                    <a:pt x="1670202" y="2452433"/>
                  </a:lnTo>
                  <a:lnTo>
                    <a:pt x="1696529" y="2493861"/>
                  </a:lnTo>
                  <a:lnTo>
                    <a:pt x="1724152" y="2534348"/>
                  </a:lnTo>
                  <a:lnTo>
                    <a:pt x="1753044" y="2573883"/>
                  </a:lnTo>
                  <a:lnTo>
                    <a:pt x="1783181" y="2612428"/>
                  </a:lnTo>
                  <a:lnTo>
                    <a:pt x="1814525" y="2649944"/>
                  </a:lnTo>
                  <a:lnTo>
                    <a:pt x="1847062" y="2686405"/>
                  </a:lnTo>
                  <a:lnTo>
                    <a:pt x="1880755" y="2721800"/>
                  </a:lnTo>
                  <a:lnTo>
                    <a:pt x="1915566" y="2756077"/>
                  </a:lnTo>
                  <a:lnTo>
                    <a:pt x="1951482" y="2789212"/>
                  </a:lnTo>
                  <a:lnTo>
                    <a:pt x="1988464" y="2821178"/>
                  </a:lnTo>
                  <a:lnTo>
                    <a:pt x="2026475" y="2851950"/>
                  </a:lnTo>
                  <a:lnTo>
                    <a:pt x="2065502" y="2881490"/>
                  </a:lnTo>
                  <a:lnTo>
                    <a:pt x="2065502" y="2384907"/>
                  </a:lnTo>
                  <a:close/>
                </a:path>
                <a:path w="2065654" h="2881629">
                  <a:moveTo>
                    <a:pt x="2065502" y="0"/>
                  </a:moveTo>
                  <a:lnTo>
                    <a:pt x="2026475" y="29540"/>
                  </a:lnTo>
                  <a:lnTo>
                    <a:pt x="1988464" y="60299"/>
                  </a:lnTo>
                  <a:lnTo>
                    <a:pt x="1951482" y="92265"/>
                  </a:lnTo>
                  <a:lnTo>
                    <a:pt x="1915566" y="125399"/>
                  </a:lnTo>
                  <a:lnTo>
                    <a:pt x="1880755" y="159664"/>
                  </a:lnTo>
                  <a:lnTo>
                    <a:pt x="1847062" y="195046"/>
                  </a:lnTo>
                  <a:lnTo>
                    <a:pt x="1814525" y="231508"/>
                  </a:lnTo>
                  <a:lnTo>
                    <a:pt x="1783181" y="269024"/>
                  </a:lnTo>
                  <a:lnTo>
                    <a:pt x="1753044" y="307555"/>
                  </a:lnTo>
                  <a:lnTo>
                    <a:pt x="1724152" y="347078"/>
                  </a:lnTo>
                  <a:lnTo>
                    <a:pt x="1696529" y="387578"/>
                  </a:lnTo>
                  <a:lnTo>
                    <a:pt x="1670215" y="428993"/>
                  </a:lnTo>
                  <a:lnTo>
                    <a:pt x="1645234" y="471322"/>
                  </a:lnTo>
                  <a:lnTo>
                    <a:pt x="1621599" y="514527"/>
                  </a:lnTo>
                  <a:lnTo>
                    <a:pt x="1599374" y="558571"/>
                  </a:lnTo>
                  <a:lnTo>
                    <a:pt x="1578559" y="603440"/>
                  </a:lnTo>
                  <a:lnTo>
                    <a:pt x="1559191" y="649084"/>
                  </a:lnTo>
                  <a:lnTo>
                    <a:pt x="1541310" y="695502"/>
                  </a:lnTo>
                  <a:lnTo>
                    <a:pt x="1524927" y="742632"/>
                  </a:lnTo>
                  <a:lnTo>
                    <a:pt x="1510080" y="790460"/>
                  </a:lnTo>
                  <a:lnTo>
                    <a:pt x="1496809" y="838974"/>
                  </a:lnTo>
                  <a:lnTo>
                    <a:pt x="1485138" y="888111"/>
                  </a:lnTo>
                  <a:lnTo>
                    <a:pt x="1475079" y="937856"/>
                  </a:lnTo>
                  <a:lnTo>
                    <a:pt x="1466684" y="988199"/>
                  </a:lnTo>
                  <a:lnTo>
                    <a:pt x="1459966" y="1039075"/>
                  </a:lnTo>
                  <a:lnTo>
                    <a:pt x="1454975" y="1090485"/>
                  </a:lnTo>
                  <a:lnTo>
                    <a:pt x="1179131" y="1090485"/>
                  </a:lnTo>
                  <a:lnTo>
                    <a:pt x="1179131" y="395211"/>
                  </a:lnTo>
                  <a:lnTo>
                    <a:pt x="885190" y="395211"/>
                  </a:lnTo>
                  <a:lnTo>
                    <a:pt x="885190" y="1090485"/>
                  </a:lnTo>
                  <a:lnTo>
                    <a:pt x="610552" y="1090485"/>
                  </a:lnTo>
                  <a:lnTo>
                    <a:pt x="605548" y="1039075"/>
                  </a:lnTo>
                  <a:lnTo>
                    <a:pt x="598830" y="988199"/>
                  </a:lnTo>
                  <a:lnTo>
                    <a:pt x="590435" y="937856"/>
                  </a:lnTo>
                  <a:lnTo>
                    <a:pt x="580377" y="888111"/>
                  </a:lnTo>
                  <a:lnTo>
                    <a:pt x="568693" y="838974"/>
                  </a:lnTo>
                  <a:lnTo>
                    <a:pt x="555421" y="790460"/>
                  </a:lnTo>
                  <a:lnTo>
                    <a:pt x="540575" y="742632"/>
                  </a:lnTo>
                  <a:lnTo>
                    <a:pt x="524205" y="695502"/>
                  </a:lnTo>
                  <a:lnTo>
                    <a:pt x="506310" y="649084"/>
                  </a:lnTo>
                  <a:lnTo>
                    <a:pt x="486956" y="603440"/>
                  </a:lnTo>
                  <a:lnTo>
                    <a:pt x="466140" y="558571"/>
                  </a:lnTo>
                  <a:lnTo>
                    <a:pt x="443903" y="514527"/>
                  </a:lnTo>
                  <a:lnTo>
                    <a:pt x="420281" y="471322"/>
                  </a:lnTo>
                  <a:lnTo>
                    <a:pt x="395300" y="428993"/>
                  </a:lnTo>
                  <a:lnTo>
                    <a:pt x="368973" y="387578"/>
                  </a:lnTo>
                  <a:lnTo>
                    <a:pt x="341363" y="347078"/>
                  </a:lnTo>
                  <a:lnTo>
                    <a:pt x="312470" y="307555"/>
                  </a:lnTo>
                  <a:lnTo>
                    <a:pt x="282333" y="269024"/>
                  </a:lnTo>
                  <a:lnTo>
                    <a:pt x="250977" y="231508"/>
                  </a:lnTo>
                  <a:lnTo>
                    <a:pt x="218452" y="195046"/>
                  </a:lnTo>
                  <a:lnTo>
                    <a:pt x="184759" y="159664"/>
                  </a:lnTo>
                  <a:lnTo>
                    <a:pt x="149936" y="125399"/>
                  </a:lnTo>
                  <a:lnTo>
                    <a:pt x="114033" y="92265"/>
                  </a:lnTo>
                  <a:lnTo>
                    <a:pt x="77050" y="60299"/>
                  </a:lnTo>
                  <a:lnTo>
                    <a:pt x="39027" y="29540"/>
                  </a:lnTo>
                  <a:lnTo>
                    <a:pt x="0" y="0"/>
                  </a:lnTo>
                  <a:lnTo>
                    <a:pt x="0" y="496557"/>
                  </a:lnTo>
                  <a:lnTo>
                    <a:pt x="19291" y="521258"/>
                  </a:lnTo>
                  <a:lnTo>
                    <a:pt x="25565" y="529551"/>
                  </a:lnTo>
                  <a:lnTo>
                    <a:pt x="71018" y="578700"/>
                  </a:lnTo>
                  <a:lnTo>
                    <a:pt x="113220" y="640715"/>
                  </a:lnTo>
                  <a:lnTo>
                    <a:pt x="132969" y="676224"/>
                  </a:lnTo>
                  <a:lnTo>
                    <a:pt x="151739" y="714565"/>
                  </a:lnTo>
                  <a:lnTo>
                    <a:pt x="169494" y="755611"/>
                  </a:lnTo>
                  <a:lnTo>
                    <a:pt x="186156" y="799211"/>
                  </a:lnTo>
                  <a:lnTo>
                    <a:pt x="201701" y="845261"/>
                  </a:lnTo>
                  <a:lnTo>
                    <a:pt x="216052" y="893622"/>
                  </a:lnTo>
                  <a:lnTo>
                    <a:pt x="229158" y="944156"/>
                  </a:lnTo>
                  <a:lnTo>
                    <a:pt x="240982" y="996734"/>
                  </a:lnTo>
                  <a:lnTo>
                    <a:pt x="251460" y="1051242"/>
                  </a:lnTo>
                  <a:lnTo>
                    <a:pt x="260527" y="1107541"/>
                  </a:lnTo>
                  <a:lnTo>
                    <a:pt x="268147" y="1165504"/>
                  </a:lnTo>
                  <a:lnTo>
                    <a:pt x="274269" y="1224991"/>
                  </a:lnTo>
                  <a:lnTo>
                    <a:pt x="278815" y="1285875"/>
                  </a:lnTo>
                  <a:lnTo>
                    <a:pt x="281762" y="1348028"/>
                  </a:lnTo>
                  <a:lnTo>
                    <a:pt x="1791576" y="1348028"/>
                  </a:lnTo>
                  <a:lnTo>
                    <a:pt x="1794459" y="1286865"/>
                  </a:lnTo>
                  <a:lnTo>
                    <a:pt x="1798891" y="1226921"/>
                  </a:lnTo>
                  <a:lnTo>
                    <a:pt x="1804847" y="1168336"/>
                  </a:lnTo>
                  <a:lnTo>
                    <a:pt x="1812264" y="1111224"/>
                  </a:lnTo>
                  <a:lnTo>
                    <a:pt x="1821078" y="1055712"/>
                  </a:lnTo>
                  <a:lnTo>
                    <a:pt x="1831263" y="1001928"/>
                  </a:lnTo>
                  <a:lnTo>
                    <a:pt x="1842757" y="949998"/>
                  </a:lnTo>
                  <a:lnTo>
                    <a:pt x="1855508" y="900023"/>
                  </a:lnTo>
                  <a:lnTo>
                    <a:pt x="1869465" y="852157"/>
                  </a:lnTo>
                  <a:lnTo>
                    <a:pt x="1884565" y="806500"/>
                  </a:lnTo>
                  <a:lnTo>
                    <a:pt x="1900783" y="763193"/>
                  </a:lnTo>
                  <a:lnTo>
                    <a:pt x="1918055" y="722337"/>
                  </a:lnTo>
                  <a:lnTo>
                    <a:pt x="1936318" y="684085"/>
                  </a:lnTo>
                  <a:lnTo>
                    <a:pt x="1955546" y="648538"/>
                  </a:lnTo>
                  <a:lnTo>
                    <a:pt x="1975662" y="615823"/>
                  </a:lnTo>
                  <a:lnTo>
                    <a:pt x="2018411" y="559396"/>
                  </a:lnTo>
                  <a:lnTo>
                    <a:pt x="2029790" y="543407"/>
                  </a:lnTo>
                  <a:lnTo>
                    <a:pt x="2041423" y="527583"/>
                  </a:lnTo>
                  <a:lnTo>
                    <a:pt x="2053323" y="511949"/>
                  </a:lnTo>
                  <a:lnTo>
                    <a:pt x="2065502" y="496557"/>
                  </a:lnTo>
                  <a:lnTo>
                    <a:pt x="2065502" y="0"/>
                  </a:lnTo>
                  <a:close/>
                </a:path>
              </a:pathLst>
            </a:custGeom>
            <a:solidFill>
              <a:srgbClr val="C99C7B"/>
            </a:solidFill>
          </p:spPr>
          <p:txBody>
            <a:bodyPr wrap="square" lIns="0" tIns="0" rIns="0" bIns="0" rtlCol="0"/>
            <a:lstStyle/>
            <a:p>
              <a:endParaRPr/>
            </a:p>
          </p:txBody>
        </p:sp>
      </p:grpSp>
      <p:sp>
        <p:nvSpPr>
          <p:cNvPr id="4" name="Retângulo 3">
            <a:extLst>
              <a:ext uri="{FF2B5EF4-FFF2-40B4-BE49-F238E27FC236}">
                <a16:creationId xmlns:a16="http://schemas.microsoft.com/office/drawing/2014/main" id="{198E4AAA-9DB1-349F-A96E-D4A1D73A7EA7}"/>
              </a:ext>
            </a:extLst>
          </p:cNvPr>
          <p:cNvSpPr/>
          <p:nvPr/>
        </p:nvSpPr>
        <p:spPr>
          <a:xfrm>
            <a:off x="-1" y="8931275"/>
            <a:ext cx="20085649" cy="1752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object 9">
            <a:extLst>
              <a:ext uri="{FF2B5EF4-FFF2-40B4-BE49-F238E27FC236}">
                <a16:creationId xmlns:a16="http://schemas.microsoft.com/office/drawing/2014/main" id="{7E5680FA-4237-6933-605C-670A63F6FD02}"/>
              </a:ext>
            </a:extLst>
          </p:cNvPr>
          <p:cNvSpPr txBox="1">
            <a:spLocks noGrp="1"/>
          </p:cNvSpPr>
          <p:nvPr>
            <p:ph type="title"/>
          </p:nvPr>
        </p:nvSpPr>
        <p:spPr>
          <a:xfrm>
            <a:off x="1280452" y="9188540"/>
            <a:ext cx="6071199" cy="1340752"/>
          </a:xfrm>
          <a:prstGeom prst="rect">
            <a:avLst/>
          </a:prstGeom>
        </p:spPr>
        <p:txBody>
          <a:bodyPr vert="horz" wrap="square" lIns="0" tIns="17145" rIns="0" bIns="0" rtlCol="0">
            <a:spAutoFit/>
          </a:bodyPr>
          <a:lstStyle/>
          <a:p>
            <a:r>
              <a:rPr lang="pt-BR" sz="5400" dirty="0">
                <a:solidFill>
                  <a:srgbClr val="036C68"/>
                </a:solidFill>
                <a:latin typeface="Futura Lt BT" panose="020B0402020204020303" pitchFamily="34" charset="0"/>
              </a:rPr>
              <a:t>Proposta</a:t>
            </a:r>
            <a:r>
              <a:rPr lang="pt-BR" sz="5400" spc="-114" dirty="0">
                <a:solidFill>
                  <a:srgbClr val="036C68"/>
                </a:solidFill>
                <a:latin typeface="Futura Lt BT" panose="020B0402020204020303" pitchFamily="34" charset="0"/>
              </a:rPr>
              <a:t> </a:t>
            </a:r>
            <a:r>
              <a:rPr lang="pt-BR" sz="5400" spc="-10" dirty="0">
                <a:solidFill>
                  <a:srgbClr val="036C68"/>
                </a:solidFill>
                <a:latin typeface="Futura Lt BT" panose="020B0402020204020303" pitchFamily="34" charset="0"/>
              </a:rPr>
              <a:t>Comercial</a:t>
            </a:r>
            <a:br>
              <a:rPr lang="pt-BR" sz="5400" spc="-10" dirty="0">
                <a:solidFill>
                  <a:srgbClr val="036C68"/>
                </a:solidFill>
                <a:latin typeface="Futura Lt BT" panose="020B0402020204020303" pitchFamily="34" charset="0"/>
              </a:rPr>
            </a:br>
            <a:r>
              <a:rPr sz="3200" spc="-10" dirty="0">
                <a:solidFill>
                  <a:srgbClr val="036C68"/>
                </a:solidFill>
                <a:latin typeface="Futura Lt BT" panose="020B0402020204020303" pitchFamily="34" charset="0"/>
              </a:rPr>
              <a:t>{{NUMERO_PROPOSTA}}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Imagem 1">
            <a:extLst>
              <a:ext uri="{FF2B5EF4-FFF2-40B4-BE49-F238E27FC236}">
                <a16:creationId xmlns:a16="http://schemas.microsoft.com/office/drawing/2014/main" id="{FA44E3DE-71BC-C2CC-38EB-4CD4D023122A}"/>
              </a:ext>
            </a:extLst>
          </p:cNvPr>
          <p:cNvPicPr>
            <a:picLocks noChangeAspect="1"/>
          </p:cNvPicPr>
          <p:nvPr/>
        </p:nvPicPr>
        <p:blipFill>
          <a:blip r:embed="rId2" cstate="print"/>
          <a:srcRect/>
          <a:stretch>
            <a:fillRect/>
          </a:stretch>
        </p:blipFill>
        <p:spPr bwMode="auto">
          <a:xfrm>
            <a:off x="10900706" y="6217436"/>
            <a:ext cx="5281151" cy="2121020"/>
          </a:xfrm>
          <a:prstGeom prst="rect">
            <a:avLst/>
          </a:prstGeom>
          <a:noFill/>
          <a:ln w="9525">
            <a:noFill/>
            <a:miter lim="800000"/>
            <a:headEnd/>
            <a:tailEnd/>
          </a:ln>
        </p:spPr>
      </p:pic>
      <p:sp>
        <p:nvSpPr>
          <p:cNvPr id="20" name="object 20"/>
          <p:cNvSpPr txBox="1"/>
          <p:nvPr/>
        </p:nvSpPr>
        <p:spPr>
          <a:xfrm>
            <a:off x="7881090" y="3754195"/>
            <a:ext cx="11176635" cy="1910714"/>
          </a:xfrm>
          <a:prstGeom prst="rect">
            <a:avLst/>
          </a:prstGeom>
        </p:spPr>
        <p:txBody>
          <a:bodyPr vert="horz" wrap="square" lIns="0" tIns="15240" rIns="0" bIns="0" rtlCol="0">
            <a:spAutoFit/>
          </a:bodyPr>
          <a:lstStyle/>
          <a:p>
            <a:pPr marL="12700">
              <a:lnSpc>
                <a:spcPct val="100000"/>
              </a:lnSpc>
              <a:spcBef>
                <a:spcPts val="120"/>
              </a:spcBef>
            </a:pPr>
            <a:r>
              <a:rPr lang="pt-BR" sz="2450" dirty="0">
                <a:latin typeface="Futura Lt BT" panose="020B0402020204020303" pitchFamily="34" charset="0"/>
              </a:rPr>
              <a:t>Prezado Sr. </a:t>
            </a:r>
            <a:r>
              <a:rPr sz="2450" dirty="0">
                <a:latin typeface="Futura Lt BT" panose="020B0402020204020303" pitchFamily="34" charset="0"/>
              </a:rPr>
              <a:t>{{NOME_CONTATO}}</a:t>
            </a:r>
          </a:p>
          <a:p>
            <a:pPr>
              <a:lnSpc>
                <a:spcPct val="100000"/>
              </a:lnSpc>
              <a:spcBef>
                <a:spcPts val="20"/>
              </a:spcBef>
            </a:pPr>
            <a:endParaRPr sz="2450" dirty="0">
              <a:latin typeface="Futura Lt BT" panose="020B0402020204020303" pitchFamily="34" charset="0"/>
            </a:endParaRPr>
          </a:p>
          <a:p>
            <a:pPr marL="12700" marR="5080">
              <a:lnSpc>
                <a:spcPct val="101000"/>
              </a:lnSpc>
            </a:pPr>
            <a:r>
              <a:rPr sz="2450" dirty="0">
                <a:latin typeface="Futura Lt BT" panose="020B0402020204020303" pitchFamily="34" charset="0"/>
                <a:cs typeface="Futura PT Book"/>
              </a:rPr>
              <a:t>Sentimo-nos</a:t>
            </a:r>
            <a:r>
              <a:rPr sz="2450" spc="-10" dirty="0">
                <a:latin typeface="Futura Lt BT" panose="020B0402020204020303" pitchFamily="34" charset="0"/>
                <a:cs typeface="Futura PT Book"/>
              </a:rPr>
              <a:t> </a:t>
            </a:r>
            <a:r>
              <a:rPr sz="2450" dirty="0">
                <a:latin typeface="Futura Lt BT" panose="020B0402020204020303" pitchFamily="34" charset="0"/>
                <a:cs typeface="Futura PT Book"/>
              </a:rPr>
              <a:t>honrados</a:t>
            </a:r>
            <a:r>
              <a:rPr sz="2450" spc="-5" dirty="0">
                <a:latin typeface="Futura Lt BT" panose="020B0402020204020303" pitchFamily="34" charset="0"/>
                <a:cs typeface="Futura PT Book"/>
              </a:rPr>
              <a:t> </a:t>
            </a:r>
            <a:r>
              <a:rPr sz="2450" dirty="0">
                <a:latin typeface="Futura Lt BT" panose="020B0402020204020303" pitchFamily="34" charset="0"/>
                <a:cs typeface="Futura PT Book"/>
              </a:rPr>
              <a:t>com</a:t>
            </a:r>
            <a:r>
              <a:rPr sz="2450" spc="-5" dirty="0">
                <a:latin typeface="Futura Lt BT" panose="020B0402020204020303" pitchFamily="34" charset="0"/>
                <a:cs typeface="Futura PT Book"/>
              </a:rPr>
              <a:t> </a:t>
            </a:r>
            <a:r>
              <a:rPr sz="2450" dirty="0">
                <a:latin typeface="Futura Lt BT" panose="020B0402020204020303" pitchFamily="34" charset="0"/>
                <a:cs typeface="Futura PT Book"/>
              </a:rPr>
              <a:t>a</a:t>
            </a:r>
            <a:r>
              <a:rPr sz="2450" spc="-5" dirty="0">
                <a:latin typeface="Futura Lt BT" panose="020B0402020204020303" pitchFamily="34" charset="0"/>
                <a:cs typeface="Futura PT Book"/>
              </a:rPr>
              <a:t> </a:t>
            </a:r>
            <a:r>
              <a:rPr sz="2450" dirty="0">
                <a:latin typeface="Futura Lt BT" panose="020B0402020204020303" pitchFamily="34" charset="0"/>
                <a:cs typeface="Futura PT Book"/>
              </a:rPr>
              <a:t>demonstração</a:t>
            </a:r>
            <a:r>
              <a:rPr sz="2450" spc="-10" dirty="0">
                <a:latin typeface="Futura Lt BT" panose="020B0402020204020303" pitchFamily="34" charset="0"/>
                <a:cs typeface="Futura PT Book"/>
              </a:rPr>
              <a:t> </a:t>
            </a:r>
            <a:r>
              <a:rPr sz="2450" dirty="0">
                <a:latin typeface="Futura Lt BT" panose="020B0402020204020303" pitchFamily="34" charset="0"/>
                <a:cs typeface="Futura PT Book"/>
              </a:rPr>
              <a:t>de</a:t>
            </a:r>
            <a:r>
              <a:rPr sz="2450" spc="-5" dirty="0">
                <a:latin typeface="Futura Lt BT" panose="020B0402020204020303" pitchFamily="34" charset="0"/>
                <a:cs typeface="Futura PT Book"/>
              </a:rPr>
              <a:t> </a:t>
            </a:r>
            <a:r>
              <a:rPr sz="2450" dirty="0">
                <a:latin typeface="Futura Lt BT" panose="020B0402020204020303" pitchFamily="34" charset="0"/>
                <a:cs typeface="Futura PT Book"/>
              </a:rPr>
              <a:t>confiança</a:t>
            </a:r>
            <a:r>
              <a:rPr sz="2450" spc="-5" dirty="0">
                <a:latin typeface="Futura Lt BT" panose="020B0402020204020303" pitchFamily="34" charset="0"/>
                <a:cs typeface="Futura PT Book"/>
              </a:rPr>
              <a:t> </a:t>
            </a:r>
            <a:r>
              <a:rPr sz="2450" dirty="0">
                <a:latin typeface="Futura Lt BT" panose="020B0402020204020303" pitchFamily="34" charset="0"/>
                <a:cs typeface="Futura PT Book"/>
              </a:rPr>
              <a:t>manifestada</a:t>
            </a:r>
            <a:r>
              <a:rPr sz="2450" spc="-5" dirty="0">
                <a:latin typeface="Futura Lt BT" panose="020B0402020204020303" pitchFamily="34" charset="0"/>
                <a:cs typeface="Futura PT Book"/>
              </a:rPr>
              <a:t> </a:t>
            </a:r>
            <a:r>
              <a:rPr sz="2450" dirty="0">
                <a:latin typeface="Futura Lt BT" panose="020B0402020204020303" pitchFamily="34" charset="0"/>
                <a:cs typeface="Futura PT Book"/>
              </a:rPr>
              <a:t>através</a:t>
            </a:r>
            <a:r>
              <a:rPr sz="2450" spc="-5" dirty="0">
                <a:latin typeface="Futura Lt BT" panose="020B0402020204020303" pitchFamily="34" charset="0"/>
                <a:cs typeface="Futura PT Book"/>
              </a:rPr>
              <a:t> </a:t>
            </a:r>
            <a:r>
              <a:rPr sz="2450" dirty="0">
                <a:latin typeface="Futura Lt BT" panose="020B0402020204020303" pitchFamily="34" charset="0"/>
                <a:cs typeface="Futura PT Book"/>
              </a:rPr>
              <a:t>do</a:t>
            </a:r>
            <a:r>
              <a:rPr sz="2450" spc="-10" dirty="0">
                <a:latin typeface="Futura Lt BT" panose="020B0402020204020303" pitchFamily="34" charset="0"/>
                <a:cs typeface="Futura PT Book"/>
              </a:rPr>
              <a:t> convite </a:t>
            </a:r>
            <a:r>
              <a:rPr sz="2450" dirty="0">
                <a:latin typeface="Futura Lt BT" panose="020B0402020204020303" pitchFamily="34" charset="0"/>
                <a:cs typeface="Futura PT Book"/>
              </a:rPr>
              <a:t>recebido</a:t>
            </a:r>
            <a:r>
              <a:rPr sz="2450" spc="-25" dirty="0">
                <a:latin typeface="Futura Lt BT" panose="020B0402020204020303" pitchFamily="34" charset="0"/>
                <a:cs typeface="Futura PT Book"/>
              </a:rPr>
              <a:t> </a:t>
            </a:r>
            <a:r>
              <a:rPr sz="2450" dirty="0">
                <a:latin typeface="Futura Lt BT" panose="020B0402020204020303" pitchFamily="34" charset="0"/>
                <a:cs typeface="Futura PT Book"/>
              </a:rPr>
              <a:t>de</a:t>
            </a:r>
            <a:r>
              <a:rPr sz="2450" spc="-20" dirty="0">
                <a:latin typeface="Futura Lt BT" panose="020B0402020204020303" pitchFamily="34" charset="0"/>
                <a:cs typeface="Futura PT Book"/>
              </a:rPr>
              <a:t> </a:t>
            </a:r>
            <a:r>
              <a:rPr sz="2450" spc="-10" dirty="0">
                <a:latin typeface="Futura Lt BT" panose="020B0402020204020303" pitchFamily="34" charset="0"/>
                <a:cs typeface="Futura PT Book"/>
              </a:rPr>
              <a:t>V.Sas.</a:t>
            </a:r>
            <a:r>
              <a:rPr sz="2450" spc="-20" dirty="0">
                <a:latin typeface="Futura Lt BT" panose="020B0402020204020303" pitchFamily="34" charset="0"/>
                <a:cs typeface="Futura PT Book"/>
              </a:rPr>
              <a:t> </a:t>
            </a:r>
            <a:r>
              <a:rPr sz="2450" dirty="0">
                <a:latin typeface="Futura Lt BT" panose="020B0402020204020303" pitchFamily="34" charset="0"/>
                <a:cs typeface="Futura PT Book"/>
              </a:rPr>
              <a:t>e</a:t>
            </a:r>
            <a:r>
              <a:rPr sz="2450" spc="-20" dirty="0">
                <a:latin typeface="Futura Lt BT" panose="020B0402020204020303" pitchFamily="34" charset="0"/>
                <a:cs typeface="Futura PT Book"/>
              </a:rPr>
              <a:t> </a:t>
            </a:r>
            <a:r>
              <a:rPr sz="2450" spc="-10" dirty="0">
                <a:latin typeface="Futura Lt BT" panose="020B0402020204020303" pitchFamily="34" charset="0"/>
                <a:cs typeface="Futura PT Book"/>
              </a:rPr>
              <a:t>apresentamos-</a:t>
            </a:r>
            <a:r>
              <a:rPr sz="2450" dirty="0">
                <a:latin typeface="Futura Lt BT" panose="020B0402020204020303" pitchFamily="34" charset="0"/>
                <a:cs typeface="Futura PT Book"/>
              </a:rPr>
              <a:t>lhes,</a:t>
            </a:r>
            <a:r>
              <a:rPr sz="2450" spc="-20" dirty="0">
                <a:latin typeface="Futura Lt BT" panose="020B0402020204020303" pitchFamily="34" charset="0"/>
                <a:cs typeface="Futura PT Book"/>
              </a:rPr>
              <a:t> </a:t>
            </a:r>
            <a:r>
              <a:rPr sz="2450" dirty="0">
                <a:latin typeface="Futura Lt BT" panose="020B0402020204020303" pitchFamily="34" charset="0"/>
                <a:cs typeface="Futura PT Book"/>
              </a:rPr>
              <a:t>com</a:t>
            </a:r>
            <a:r>
              <a:rPr sz="2450" spc="-25" dirty="0">
                <a:latin typeface="Futura Lt BT" panose="020B0402020204020303" pitchFamily="34" charset="0"/>
                <a:cs typeface="Futura PT Book"/>
              </a:rPr>
              <a:t> </a:t>
            </a:r>
            <a:r>
              <a:rPr sz="2450" dirty="0">
                <a:latin typeface="Futura Lt BT" panose="020B0402020204020303" pitchFamily="34" charset="0"/>
                <a:cs typeface="Futura PT Book"/>
              </a:rPr>
              <a:t>satisfação,</a:t>
            </a:r>
            <a:r>
              <a:rPr sz="2450" spc="-20" dirty="0">
                <a:latin typeface="Futura Lt BT" panose="020B0402020204020303" pitchFamily="34" charset="0"/>
                <a:cs typeface="Futura PT Book"/>
              </a:rPr>
              <a:t> </a:t>
            </a:r>
            <a:r>
              <a:rPr sz="2450" dirty="0">
                <a:latin typeface="Futura Lt BT" panose="020B0402020204020303" pitchFamily="34" charset="0"/>
                <a:cs typeface="Futura PT Book"/>
              </a:rPr>
              <a:t>nossa</a:t>
            </a:r>
            <a:r>
              <a:rPr sz="2450" spc="-20" dirty="0">
                <a:latin typeface="Futura Lt BT" panose="020B0402020204020303" pitchFamily="34" charset="0"/>
                <a:cs typeface="Futura PT Book"/>
              </a:rPr>
              <a:t> </a:t>
            </a:r>
            <a:r>
              <a:rPr sz="2450" dirty="0">
                <a:latin typeface="Futura Lt BT" panose="020B0402020204020303" pitchFamily="34" charset="0"/>
                <a:cs typeface="Futura PT Book"/>
              </a:rPr>
              <a:t>proposta</a:t>
            </a:r>
            <a:r>
              <a:rPr sz="2450" spc="-20" dirty="0">
                <a:latin typeface="Futura Lt BT" panose="020B0402020204020303" pitchFamily="34" charset="0"/>
                <a:cs typeface="Futura PT Book"/>
              </a:rPr>
              <a:t> </a:t>
            </a:r>
            <a:r>
              <a:rPr sz="2450" dirty="0">
                <a:latin typeface="Futura Lt BT" panose="020B0402020204020303" pitchFamily="34" charset="0"/>
                <a:cs typeface="Futura PT Book"/>
              </a:rPr>
              <a:t>para</a:t>
            </a:r>
            <a:r>
              <a:rPr sz="2450" spc="-20" dirty="0">
                <a:latin typeface="Futura Lt BT" panose="020B0402020204020303" pitchFamily="34" charset="0"/>
                <a:cs typeface="Futura PT Book"/>
              </a:rPr>
              <a:t> </a:t>
            </a:r>
            <a:r>
              <a:rPr sz="2450" dirty="0">
                <a:latin typeface="Futura Lt BT" panose="020B0402020204020303" pitchFamily="34" charset="0"/>
                <a:cs typeface="Futura PT Book"/>
              </a:rPr>
              <a:t>prestação</a:t>
            </a:r>
            <a:r>
              <a:rPr sz="2450" spc="-20" dirty="0">
                <a:latin typeface="Futura Lt BT" panose="020B0402020204020303" pitchFamily="34" charset="0"/>
                <a:cs typeface="Futura PT Book"/>
              </a:rPr>
              <a:t> </a:t>
            </a:r>
            <a:r>
              <a:rPr sz="2450" spc="-25" dirty="0">
                <a:latin typeface="Futura Lt BT" panose="020B0402020204020303" pitchFamily="34" charset="0"/>
                <a:cs typeface="Futura PT Book"/>
              </a:rPr>
              <a:t>de </a:t>
            </a:r>
            <a:r>
              <a:rPr sz="2450" dirty="0">
                <a:latin typeface="Futura Lt BT" panose="020B0402020204020303" pitchFamily="34" charset="0"/>
                <a:cs typeface="Futura PT Book"/>
              </a:rPr>
              <a:t>serviços</a:t>
            </a:r>
            <a:r>
              <a:rPr sz="2450" spc="30" dirty="0">
                <a:latin typeface="Futura Lt BT" panose="020B0402020204020303" pitchFamily="34" charset="0"/>
                <a:cs typeface="Futura PT Book"/>
              </a:rPr>
              <a:t> </a:t>
            </a:r>
            <a:r>
              <a:rPr sz="2450" dirty="0">
                <a:latin typeface="Futura Lt BT" panose="020B0402020204020303" pitchFamily="34" charset="0"/>
                <a:cs typeface="Futura PT Book"/>
              </a:rPr>
              <a:t>de</a:t>
            </a:r>
            <a:r>
              <a:rPr sz="2450" spc="30" dirty="0">
                <a:latin typeface="Futura Lt BT" panose="020B0402020204020303" pitchFamily="34" charset="0"/>
                <a:cs typeface="Futura PT Book"/>
              </a:rPr>
              <a:t> </a:t>
            </a:r>
            <a:r>
              <a:rPr sz="2450" spc="-10" dirty="0">
                <a:latin typeface="Futura Lt BT" panose="020B0402020204020303" pitchFamily="34" charset="0"/>
                <a:cs typeface="Futura PT Book"/>
              </a:rPr>
              <a:t>avaliação.</a:t>
            </a:r>
            <a:endParaRPr sz="2450" dirty="0">
              <a:latin typeface="Futura Lt BT" panose="020B0402020204020303" pitchFamily="34" charset="0"/>
              <a:cs typeface="Futura PT Book"/>
            </a:endParaRPr>
          </a:p>
        </p:txBody>
      </p:sp>
      <p:sp>
        <p:nvSpPr>
          <p:cNvPr id="22" name="object 22"/>
          <p:cNvSpPr txBox="1"/>
          <p:nvPr/>
        </p:nvSpPr>
        <p:spPr>
          <a:xfrm>
            <a:off x="7812821" y="119959"/>
            <a:ext cx="11914731" cy="2033634"/>
          </a:xfrm>
          <a:prstGeom prst="rect">
            <a:avLst/>
          </a:prstGeom>
        </p:spPr>
        <p:txBody>
          <a:bodyPr vert="horz" wrap="square" lIns="0" tIns="12065" rIns="0" bIns="0" rtlCol="0">
            <a:spAutoFit/>
          </a:bodyPr>
          <a:lstStyle/>
          <a:p>
            <a:pPr marL="12700" marR="5080">
              <a:lnSpc>
                <a:spcPct val="134600"/>
              </a:lnSpc>
              <a:spcBef>
                <a:spcPts val="95"/>
              </a:spcBef>
            </a:pPr>
            <a:r>
              <a:rPr sz="2450" dirty="0">
                <a:latin typeface="Futura Lt BT" panose="020B0402020204020303" pitchFamily="34" charset="0"/>
              </a:rPr>
              <a:t>{{RAZAO_SOCIAL}} (“{{NOME_CLIENTE}}” </a:t>
            </a:r>
            <a:r>
              <a:rPr sz="2450" dirty="0" err="1">
                <a:latin typeface="Futura Lt BT" panose="020B0402020204020303" pitchFamily="34" charset="0"/>
              </a:rPr>
              <a:t>ou</a:t>
            </a:r>
            <a:r>
              <a:rPr sz="2450" dirty="0">
                <a:latin typeface="Futura Lt BT" panose="020B0402020204020303" pitchFamily="34" charset="0"/>
              </a:rPr>
              <a:t> “</a:t>
            </a:r>
            <a:r>
              <a:rPr sz="2450" dirty="0" err="1">
                <a:latin typeface="Futura Lt BT" panose="020B0402020204020303" pitchFamily="34" charset="0"/>
              </a:rPr>
              <a:t>Contratante</a:t>
            </a:r>
            <a:r>
              <a:rPr sz="2450" dirty="0">
                <a:latin typeface="Futura Lt BT" panose="020B0402020204020303" pitchFamily="34" charset="0"/>
              </a:rPr>
              <a:t>” )</a:t>
            </a:r>
            <a:endParaRPr lang="pt-BR" sz="2450" dirty="0">
              <a:latin typeface="Futura Lt BT" panose="020B0402020204020303" pitchFamily="34" charset="0"/>
            </a:endParaRPr>
          </a:p>
          <a:p>
            <a:pPr marL="12700" marR="5080">
              <a:lnSpc>
                <a:spcPct val="134600"/>
              </a:lnSpc>
              <a:spcBef>
                <a:spcPts val="95"/>
              </a:spcBef>
            </a:pPr>
            <a:r>
              <a:rPr sz="2450" dirty="0">
                <a:latin typeface="Futura Lt BT" panose="020B0402020204020303" pitchFamily="34" charset="0"/>
              </a:rPr>
              <a:t>CNPJ: {{CNPJ_CLIENTE}}</a:t>
            </a:r>
            <a:endParaRPr lang="pt-BR" sz="2450" dirty="0">
              <a:latin typeface="Futura Lt BT" panose="020B0402020204020303" pitchFamily="34" charset="0"/>
            </a:endParaRPr>
          </a:p>
          <a:p>
            <a:pPr marL="12700" marR="5080">
              <a:lnSpc>
                <a:spcPct val="134600"/>
              </a:lnSpc>
              <a:spcBef>
                <a:spcPts val="95"/>
              </a:spcBef>
            </a:pPr>
            <a:endParaRPr sz="2450" dirty="0">
              <a:latin typeface="Futura Lt BT" panose="020B0402020204020303" pitchFamily="34" charset="0"/>
            </a:endParaRPr>
          </a:p>
          <a:p>
            <a:pPr marL="12700" marR="5080">
              <a:lnSpc>
                <a:spcPct val="134600"/>
              </a:lnSpc>
              <a:spcBef>
                <a:spcPts val="95"/>
              </a:spcBef>
            </a:pPr>
            <a:r>
              <a:rPr sz="2450" dirty="0">
                <a:latin typeface="Futura Lt BT" panose="020B0402020204020303" pitchFamily="34" charset="0"/>
              </a:rPr>
              <a:t>{{DATA_PROPOSTA}}</a:t>
            </a:r>
          </a:p>
        </p:txBody>
      </p:sp>
      <p:grpSp>
        <p:nvGrpSpPr>
          <p:cNvPr id="10" name="object 10"/>
          <p:cNvGrpSpPr/>
          <p:nvPr/>
        </p:nvGrpSpPr>
        <p:grpSpPr>
          <a:xfrm>
            <a:off x="11292850" y="7586156"/>
            <a:ext cx="4743450" cy="15875"/>
            <a:chOff x="11292850" y="7586156"/>
            <a:chExt cx="4743450" cy="15875"/>
          </a:xfrm>
        </p:grpSpPr>
        <p:sp>
          <p:nvSpPr>
            <p:cNvPr id="11" name="object 11"/>
            <p:cNvSpPr/>
            <p:nvPr/>
          </p:nvSpPr>
          <p:spPr>
            <a:xfrm>
              <a:off x="11298085" y="7591391"/>
              <a:ext cx="4733290" cy="5715"/>
            </a:xfrm>
            <a:custGeom>
              <a:avLst/>
              <a:gdLst/>
              <a:ahLst/>
              <a:cxnLst/>
              <a:rect l="l" t="t" r="r" b="b"/>
              <a:pathLst>
                <a:path w="4733290" h="5715">
                  <a:moveTo>
                    <a:pt x="4732840" y="0"/>
                  </a:moveTo>
                  <a:lnTo>
                    <a:pt x="0" y="0"/>
                  </a:lnTo>
                  <a:lnTo>
                    <a:pt x="0" y="5235"/>
                  </a:lnTo>
                  <a:lnTo>
                    <a:pt x="4732840" y="5235"/>
                  </a:lnTo>
                  <a:lnTo>
                    <a:pt x="4732840" y="0"/>
                  </a:lnTo>
                  <a:close/>
                </a:path>
              </a:pathLst>
            </a:custGeom>
            <a:solidFill>
              <a:srgbClr val="000000"/>
            </a:solidFill>
          </p:spPr>
          <p:txBody>
            <a:bodyPr wrap="square" lIns="0" tIns="0" rIns="0" bIns="0" rtlCol="0"/>
            <a:lstStyle/>
            <a:p>
              <a:endParaRPr/>
            </a:p>
          </p:txBody>
        </p:sp>
        <p:sp>
          <p:nvSpPr>
            <p:cNvPr id="12" name="object 12"/>
            <p:cNvSpPr/>
            <p:nvPr/>
          </p:nvSpPr>
          <p:spPr>
            <a:xfrm>
              <a:off x="11298085" y="7591391"/>
              <a:ext cx="4733290" cy="5715"/>
            </a:xfrm>
            <a:custGeom>
              <a:avLst/>
              <a:gdLst/>
              <a:ahLst/>
              <a:cxnLst/>
              <a:rect l="l" t="t" r="r" b="b"/>
              <a:pathLst>
                <a:path w="4733290" h="5715">
                  <a:moveTo>
                    <a:pt x="4732840" y="5235"/>
                  </a:moveTo>
                  <a:lnTo>
                    <a:pt x="0" y="5235"/>
                  </a:lnTo>
                  <a:lnTo>
                    <a:pt x="0" y="0"/>
                  </a:lnTo>
                  <a:lnTo>
                    <a:pt x="4732840" y="0"/>
                  </a:lnTo>
                  <a:lnTo>
                    <a:pt x="4732840" y="5235"/>
                  </a:lnTo>
                  <a:close/>
                </a:path>
              </a:pathLst>
            </a:custGeom>
            <a:ln w="10470">
              <a:solidFill>
                <a:srgbClr val="000000"/>
              </a:solidFill>
            </a:ln>
          </p:spPr>
          <p:txBody>
            <a:bodyPr wrap="square" lIns="0" tIns="0" rIns="0" bIns="0" rtlCol="0"/>
            <a:lstStyle/>
            <a:p>
              <a:endParaRPr/>
            </a:p>
          </p:txBody>
        </p:sp>
      </p:grpSp>
      <p:sp>
        <p:nvSpPr>
          <p:cNvPr id="14" name="object 14"/>
          <p:cNvSpPr/>
          <p:nvPr/>
        </p:nvSpPr>
        <p:spPr>
          <a:xfrm>
            <a:off x="16198459" y="10942075"/>
            <a:ext cx="3811904" cy="367030"/>
          </a:xfrm>
          <a:custGeom>
            <a:avLst/>
            <a:gdLst/>
            <a:ahLst/>
            <a:cxnLst/>
            <a:rect l="l" t="t" r="r" b="b"/>
            <a:pathLst>
              <a:path w="3811905" h="367029">
                <a:moveTo>
                  <a:pt x="3544813" y="0"/>
                </a:moveTo>
                <a:lnTo>
                  <a:pt x="266588" y="0"/>
                </a:lnTo>
                <a:lnTo>
                  <a:pt x="218669" y="4295"/>
                </a:lnTo>
                <a:lnTo>
                  <a:pt x="173568" y="16678"/>
                </a:lnTo>
                <a:lnTo>
                  <a:pt x="132037" y="36397"/>
                </a:lnTo>
                <a:lnTo>
                  <a:pt x="94829" y="62698"/>
                </a:lnTo>
                <a:lnTo>
                  <a:pt x="62698" y="94829"/>
                </a:lnTo>
                <a:lnTo>
                  <a:pt x="36397" y="132037"/>
                </a:lnTo>
                <a:lnTo>
                  <a:pt x="16678" y="173568"/>
                </a:lnTo>
                <a:lnTo>
                  <a:pt x="4295" y="218669"/>
                </a:lnTo>
                <a:lnTo>
                  <a:pt x="1" y="266576"/>
                </a:lnTo>
                <a:lnTo>
                  <a:pt x="0" y="366480"/>
                </a:lnTo>
                <a:lnTo>
                  <a:pt x="3811401" y="366480"/>
                </a:lnTo>
                <a:lnTo>
                  <a:pt x="3811401" y="266576"/>
                </a:lnTo>
                <a:lnTo>
                  <a:pt x="3807107" y="218669"/>
                </a:lnTo>
                <a:lnTo>
                  <a:pt x="3794723" y="173568"/>
                </a:lnTo>
                <a:lnTo>
                  <a:pt x="3775004" y="132037"/>
                </a:lnTo>
                <a:lnTo>
                  <a:pt x="3748703" y="94829"/>
                </a:lnTo>
                <a:lnTo>
                  <a:pt x="3716572" y="62698"/>
                </a:lnTo>
                <a:lnTo>
                  <a:pt x="3679365" y="36397"/>
                </a:lnTo>
                <a:lnTo>
                  <a:pt x="3637834" y="16678"/>
                </a:lnTo>
                <a:lnTo>
                  <a:pt x="3592732" y="4295"/>
                </a:lnTo>
                <a:lnTo>
                  <a:pt x="3544813" y="0"/>
                </a:lnTo>
                <a:close/>
              </a:path>
            </a:pathLst>
          </a:custGeom>
          <a:solidFill>
            <a:srgbClr val="006969">
              <a:alpha val="89999"/>
            </a:srgbClr>
          </a:solidFill>
        </p:spPr>
        <p:txBody>
          <a:bodyPr wrap="square" lIns="0" tIns="0" rIns="0" bIns="0" rtlCol="0"/>
          <a:lstStyle/>
          <a:p>
            <a:endParaRPr/>
          </a:p>
        </p:txBody>
      </p:sp>
      <p:grpSp>
        <p:nvGrpSpPr>
          <p:cNvPr id="16" name="object 16"/>
          <p:cNvGrpSpPr/>
          <p:nvPr/>
        </p:nvGrpSpPr>
        <p:grpSpPr>
          <a:xfrm>
            <a:off x="11292850" y="7586156"/>
            <a:ext cx="4743450" cy="15875"/>
            <a:chOff x="11292850" y="7586156"/>
            <a:chExt cx="4743450" cy="15875"/>
          </a:xfrm>
        </p:grpSpPr>
        <p:sp>
          <p:nvSpPr>
            <p:cNvPr id="17" name="object 17"/>
            <p:cNvSpPr/>
            <p:nvPr/>
          </p:nvSpPr>
          <p:spPr>
            <a:xfrm>
              <a:off x="11298085" y="7591391"/>
              <a:ext cx="4733290" cy="5715"/>
            </a:xfrm>
            <a:custGeom>
              <a:avLst/>
              <a:gdLst/>
              <a:ahLst/>
              <a:cxnLst/>
              <a:rect l="l" t="t" r="r" b="b"/>
              <a:pathLst>
                <a:path w="4733290" h="5715">
                  <a:moveTo>
                    <a:pt x="4732840" y="0"/>
                  </a:moveTo>
                  <a:lnTo>
                    <a:pt x="0" y="0"/>
                  </a:lnTo>
                  <a:lnTo>
                    <a:pt x="0" y="5235"/>
                  </a:lnTo>
                  <a:lnTo>
                    <a:pt x="4732840" y="5235"/>
                  </a:lnTo>
                  <a:lnTo>
                    <a:pt x="4732840" y="0"/>
                  </a:lnTo>
                  <a:close/>
                </a:path>
              </a:pathLst>
            </a:custGeom>
            <a:solidFill>
              <a:srgbClr val="000000"/>
            </a:solidFill>
          </p:spPr>
          <p:txBody>
            <a:bodyPr wrap="square" lIns="0" tIns="0" rIns="0" bIns="0" rtlCol="0"/>
            <a:lstStyle/>
            <a:p>
              <a:endParaRPr/>
            </a:p>
          </p:txBody>
        </p:sp>
        <p:sp>
          <p:nvSpPr>
            <p:cNvPr id="18" name="object 18"/>
            <p:cNvSpPr/>
            <p:nvPr/>
          </p:nvSpPr>
          <p:spPr>
            <a:xfrm>
              <a:off x="11298085" y="7591391"/>
              <a:ext cx="4733290" cy="5715"/>
            </a:xfrm>
            <a:custGeom>
              <a:avLst/>
              <a:gdLst/>
              <a:ahLst/>
              <a:cxnLst/>
              <a:rect l="l" t="t" r="r" b="b"/>
              <a:pathLst>
                <a:path w="4733290" h="5715">
                  <a:moveTo>
                    <a:pt x="4732840" y="5235"/>
                  </a:moveTo>
                  <a:lnTo>
                    <a:pt x="0" y="5235"/>
                  </a:lnTo>
                  <a:lnTo>
                    <a:pt x="0" y="0"/>
                  </a:lnTo>
                  <a:lnTo>
                    <a:pt x="4732840" y="0"/>
                  </a:lnTo>
                  <a:lnTo>
                    <a:pt x="4732840" y="5235"/>
                  </a:lnTo>
                  <a:close/>
                </a:path>
              </a:pathLst>
            </a:custGeom>
            <a:ln w="10470">
              <a:solidFill>
                <a:srgbClr val="000000"/>
              </a:solidFill>
            </a:ln>
          </p:spPr>
          <p:txBody>
            <a:bodyPr wrap="square" lIns="0" tIns="0" rIns="0" bIns="0" rtlCol="0"/>
            <a:lstStyle/>
            <a:p>
              <a:endParaRPr/>
            </a:p>
          </p:txBody>
        </p:sp>
      </p:grpSp>
      <p:sp>
        <p:nvSpPr>
          <p:cNvPr id="19" name="object 19"/>
          <p:cNvSpPr txBox="1"/>
          <p:nvPr/>
        </p:nvSpPr>
        <p:spPr>
          <a:xfrm>
            <a:off x="11298086" y="7594670"/>
            <a:ext cx="4900374" cy="643125"/>
          </a:xfrm>
          <a:prstGeom prst="rect">
            <a:avLst/>
          </a:prstGeom>
        </p:spPr>
        <p:txBody>
          <a:bodyPr vert="horz" wrap="square" lIns="0" tIns="12065" rIns="0" bIns="0" rtlCol="0">
            <a:spAutoFit/>
          </a:bodyPr>
          <a:lstStyle/>
          <a:p>
            <a:pPr marL="12700" marR="5080" indent="66675" algn="ctr">
              <a:lnSpc>
                <a:spcPct val="100499"/>
              </a:lnSpc>
              <a:spcBef>
                <a:spcPts val="95"/>
              </a:spcBef>
            </a:pPr>
            <a:r>
              <a:rPr sz="2050" b="1" dirty="0">
                <a:latin typeface="Futura Lt BT Light"/>
                <a:cs typeface="Futura PT Book"/>
              </a:rPr>
              <a:t>Antônio Luiz Feijó Nicolau - </a:t>
            </a:r>
            <a:r>
              <a:rPr sz="2050" b="1" spc="-10" dirty="0">
                <a:latin typeface="Futura Lt BT Light"/>
                <a:cs typeface="Futura PT Book"/>
              </a:rPr>
              <a:t>Diretor </a:t>
            </a:r>
            <a:r>
              <a:rPr sz="2050" b="1" dirty="0">
                <a:latin typeface="Futura Lt BT Light"/>
                <a:cs typeface="Futura PT Book"/>
              </a:rPr>
              <a:t>Meden Consultoria Empresarial </a:t>
            </a:r>
            <a:r>
              <a:rPr sz="2050" b="1" spc="-20" dirty="0">
                <a:latin typeface="Futura Lt BT Light"/>
                <a:cs typeface="Futura PT Book"/>
              </a:rPr>
              <a:t>Ltda</a:t>
            </a:r>
            <a:endParaRPr sz="2050" b="1" dirty="0">
              <a:latin typeface="Futura Lt BT Light"/>
              <a:cs typeface="Futura PT Book"/>
            </a:endParaRPr>
          </a:p>
        </p:txBody>
      </p:sp>
      <p:sp>
        <p:nvSpPr>
          <p:cNvPr id="21" name="object 21"/>
          <p:cNvSpPr txBox="1"/>
          <p:nvPr/>
        </p:nvSpPr>
        <p:spPr>
          <a:xfrm>
            <a:off x="7804129" y="9018956"/>
            <a:ext cx="6193155" cy="2035810"/>
          </a:xfrm>
          <a:prstGeom prst="rect">
            <a:avLst/>
          </a:prstGeom>
        </p:spPr>
        <p:txBody>
          <a:bodyPr vert="horz" wrap="square" lIns="0" tIns="140970" rIns="0" bIns="0" rtlCol="0">
            <a:spAutoFit/>
          </a:bodyPr>
          <a:lstStyle/>
          <a:p>
            <a:pPr marL="12700">
              <a:lnSpc>
                <a:spcPct val="100000"/>
              </a:lnSpc>
              <a:spcBef>
                <a:spcPts val="1110"/>
              </a:spcBef>
            </a:pPr>
            <a:r>
              <a:rPr sz="2450" dirty="0">
                <a:latin typeface="Futura Lt BT Light"/>
                <a:cs typeface="Futura PT Book"/>
              </a:rPr>
              <a:t>MEDEN</a:t>
            </a:r>
            <a:r>
              <a:rPr sz="2450" spc="-5" dirty="0">
                <a:latin typeface="Futura Lt BT Light"/>
                <a:cs typeface="Futura PT Book"/>
              </a:rPr>
              <a:t> </a:t>
            </a:r>
            <a:r>
              <a:rPr sz="2450" spc="-10" dirty="0">
                <a:latin typeface="Futura Lt BT Light"/>
                <a:cs typeface="Futura PT Book"/>
              </a:rPr>
              <a:t>CONSULTORIA</a:t>
            </a:r>
            <a:endParaRPr sz="2450" dirty="0">
              <a:latin typeface="Futura Lt BT Light"/>
              <a:cs typeface="Futura PT Book"/>
            </a:endParaRPr>
          </a:p>
          <a:p>
            <a:pPr marL="12700" marR="5080">
              <a:lnSpc>
                <a:spcPct val="134600"/>
              </a:lnSpc>
              <a:tabLst>
                <a:tab pos="3557904" algn="l"/>
              </a:tabLst>
            </a:pPr>
            <a:r>
              <a:rPr sz="2450" dirty="0">
                <a:latin typeface="Futura Lt BT Light"/>
                <a:cs typeface="Futura PT Book"/>
              </a:rPr>
              <a:t>Rua</a:t>
            </a:r>
            <a:r>
              <a:rPr sz="2450" spc="-30" dirty="0">
                <a:latin typeface="Futura Lt BT Light"/>
                <a:cs typeface="Futura PT Book"/>
              </a:rPr>
              <a:t> </a:t>
            </a:r>
            <a:r>
              <a:rPr sz="2450" dirty="0">
                <a:latin typeface="Futura Lt BT Light"/>
                <a:cs typeface="Futura PT Book"/>
              </a:rPr>
              <a:t>1º</a:t>
            </a:r>
            <a:r>
              <a:rPr sz="2450" spc="-30" dirty="0">
                <a:latin typeface="Futura Lt BT Light"/>
                <a:cs typeface="Futura PT Book"/>
              </a:rPr>
              <a:t> </a:t>
            </a:r>
            <a:r>
              <a:rPr sz="2450" dirty="0">
                <a:latin typeface="Futura Lt BT Light"/>
                <a:cs typeface="Futura PT Book"/>
              </a:rPr>
              <a:t>de</a:t>
            </a:r>
            <a:r>
              <a:rPr sz="2450" spc="-30" dirty="0">
                <a:latin typeface="Futura Lt BT Light"/>
                <a:cs typeface="Futura PT Book"/>
              </a:rPr>
              <a:t> </a:t>
            </a:r>
            <a:r>
              <a:rPr sz="2450" dirty="0">
                <a:latin typeface="Futura Lt BT Light"/>
                <a:cs typeface="Futura PT Book"/>
              </a:rPr>
              <a:t>Março,</a:t>
            </a:r>
            <a:r>
              <a:rPr sz="2450" spc="-30" dirty="0">
                <a:latin typeface="Futura Lt BT Light"/>
                <a:cs typeface="Futura PT Book"/>
              </a:rPr>
              <a:t> </a:t>
            </a:r>
            <a:r>
              <a:rPr sz="2450" dirty="0">
                <a:latin typeface="Futura Lt BT Light"/>
                <a:cs typeface="Futura PT Book"/>
              </a:rPr>
              <a:t>23</a:t>
            </a:r>
            <a:r>
              <a:rPr sz="2450" spc="-30" dirty="0">
                <a:latin typeface="Futura Lt BT Light"/>
                <a:cs typeface="Futura PT Book"/>
              </a:rPr>
              <a:t> </a:t>
            </a:r>
            <a:r>
              <a:rPr sz="2450" dirty="0">
                <a:latin typeface="Futura Lt BT Light"/>
                <a:cs typeface="Futura PT Book"/>
              </a:rPr>
              <a:t>–</a:t>
            </a:r>
            <a:r>
              <a:rPr sz="2450" spc="-30" dirty="0">
                <a:latin typeface="Futura Lt BT Light"/>
                <a:cs typeface="Futura PT Book"/>
              </a:rPr>
              <a:t> </a:t>
            </a:r>
            <a:r>
              <a:rPr sz="2450" spc="-25" dirty="0">
                <a:latin typeface="Futura Lt BT Light"/>
                <a:cs typeface="Futura PT Book"/>
              </a:rPr>
              <a:t>22º</a:t>
            </a:r>
            <a:r>
              <a:rPr lang="pt-BR" sz="2450" spc="-25" dirty="0">
                <a:latin typeface="Futura Lt BT Light"/>
                <a:cs typeface="Futura PT Book"/>
              </a:rPr>
              <a:t> </a:t>
            </a:r>
            <a:r>
              <a:rPr sz="2450" dirty="0">
                <a:latin typeface="Futura Lt BT Light"/>
                <a:cs typeface="Futura PT Book"/>
              </a:rPr>
              <a:t>Andar.</a:t>
            </a:r>
            <a:r>
              <a:rPr sz="2450" spc="-35" dirty="0">
                <a:latin typeface="Futura Lt BT Light"/>
                <a:cs typeface="Futura PT Book"/>
              </a:rPr>
              <a:t> </a:t>
            </a:r>
            <a:endParaRPr lang="pt-BR" sz="2450" spc="-35" dirty="0">
              <a:latin typeface="Futura Lt BT Light"/>
              <a:cs typeface="Futura PT Book"/>
            </a:endParaRPr>
          </a:p>
          <a:p>
            <a:pPr marL="12700" marR="5080">
              <a:lnSpc>
                <a:spcPct val="134600"/>
              </a:lnSpc>
              <a:tabLst>
                <a:tab pos="3557904" algn="l"/>
              </a:tabLst>
            </a:pPr>
            <a:r>
              <a:rPr sz="2450" dirty="0">
                <a:latin typeface="Futura Lt BT Light"/>
                <a:cs typeface="Futura PT Book"/>
              </a:rPr>
              <a:t>Rio</a:t>
            </a:r>
            <a:r>
              <a:rPr sz="2450" spc="-35" dirty="0">
                <a:latin typeface="Futura Lt BT Light"/>
                <a:cs typeface="Futura PT Book"/>
              </a:rPr>
              <a:t> </a:t>
            </a:r>
            <a:r>
              <a:rPr sz="2450" dirty="0">
                <a:latin typeface="Futura Lt BT Light"/>
                <a:cs typeface="Futura PT Book"/>
              </a:rPr>
              <a:t>de</a:t>
            </a:r>
            <a:r>
              <a:rPr sz="2450" spc="-35" dirty="0">
                <a:latin typeface="Futura Lt BT Light"/>
                <a:cs typeface="Futura PT Book"/>
              </a:rPr>
              <a:t> </a:t>
            </a:r>
            <a:r>
              <a:rPr sz="2450" spc="-10" dirty="0">
                <a:latin typeface="Futura Lt BT Light"/>
                <a:cs typeface="Futura PT Book"/>
              </a:rPr>
              <a:t>Janeiro </a:t>
            </a:r>
            <a:r>
              <a:rPr sz="2450" dirty="0">
                <a:latin typeface="Futura Lt BT Light"/>
                <a:cs typeface="Futura PT Book"/>
              </a:rPr>
              <a:t>CEP:</a:t>
            </a:r>
            <a:r>
              <a:rPr sz="2450" spc="40" dirty="0">
                <a:latin typeface="Futura Lt BT Light"/>
                <a:cs typeface="Futura PT Book"/>
              </a:rPr>
              <a:t> </a:t>
            </a:r>
            <a:r>
              <a:rPr sz="2450" spc="-85" dirty="0">
                <a:latin typeface="Futura Lt BT Light"/>
                <a:cs typeface="Futura PT Book"/>
              </a:rPr>
              <a:t>20010-</a:t>
            </a:r>
            <a:r>
              <a:rPr sz="2450" spc="-25" dirty="0">
                <a:latin typeface="Futura Lt BT Light"/>
                <a:cs typeface="Futura PT Book"/>
              </a:rPr>
              <a:t>000</a:t>
            </a:r>
            <a:endParaRPr sz="2450" dirty="0">
              <a:latin typeface="Futura Lt BT Light"/>
              <a:cs typeface="Futura PT Book"/>
            </a:endParaRPr>
          </a:p>
          <a:p>
            <a:pPr marL="12700">
              <a:lnSpc>
                <a:spcPct val="100000"/>
              </a:lnSpc>
              <a:spcBef>
                <a:spcPts val="1019"/>
              </a:spcBef>
            </a:pPr>
            <a:r>
              <a:rPr sz="2450" spc="-25" dirty="0">
                <a:latin typeface="Futura Lt BT Light"/>
                <a:cs typeface="Futura PT Book"/>
              </a:rPr>
              <a:t>Tel.</a:t>
            </a:r>
            <a:r>
              <a:rPr sz="2450" spc="-40" dirty="0">
                <a:latin typeface="Futura Lt BT Light"/>
                <a:cs typeface="Futura PT Book"/>
              </a:rPr>
              <a:t> </a:t>
            </a:r>
            <a:r>
              <a:rPr sz="2450" dirty="0">
                <a:latin typeface="Futura Lt BT Light"/>
                <a:cs typeface="Futura PT Book"/>
              </a:rPr>
              <a:t>+55</a:t>
            </a:r>
            <a:r>
              <a:rPr sz="2450" spc="-40" dirty="0">
                <a:latin typeface="Futura Lt BT Light"/>
                <a:cs typeface="Futura PT Book"/>
              </a:rPr>
              <a:t> </a:t>
            </a:r>
            <a:r>
              <a:rPr sz="2450" spc="-80" dirty="0">
                <a:latin typeface="Futura Lt BT Light"/>
                <a:cs typeface="Futura PT Book"/>
              </a:rPr>
              <a:t>(21)</a:t>
            </a:r>
            <a:r>
              <a:rPr sz="2450" spc="-40" dirty="0">
                <a:latin typeface="Futura Lt BT Light"/>
                <a:cs typeface="Futura PT Book"/>
              </a:rPr>
              <a:t> </a:t>
            </a:r>
            <a:r>
              <a:rPr sz="2450" spc="-50" dirty="0">
                <a:latin typeface="Futura Lt BT Light"/>
                <a:cs typeface="Futura PT Book"/>
              </a:rPr>
              <a:t>2507-</a:t>
            </a:r>
            <a:r>
              <a:rPr sz="2450" spc="-20" dirty="0">
                <a:latin typeface="Futura Lt BT Light"/>
                <a:cs typeface="Futura PT Book"/>
              </a:rPr>
              <a:t>3552</a:t>
            </a:r>
            <a:endParaRPr sz="2450" dirty="0">
              <a:latin typeface="Futura Lt BT Light"/>
              <a:cs typeface="Futura PT Book"/>
            </a:endParaRPr>
          </a:p>
        </p:txBody>
      </p:sp>
      <p:sp>
        <p:nvSpPr>
          <p:cNvPr id="23" name="object 23"/>
          <p:cNvSpPr/>
          <p:nvPr/>
        </p:nvSpPr>
        <p:spPr>
          <a:xfrm>
            <a:off x="16198459" y="10942075"/>
            <a:ext cx="3811904" cy="367030"/>
          </a:xfrm>
          <a:custGeom>
            <a:avLst/>
            <a:gdLst/>
            <a:ahLst/>
            <a:cxnLst/>
            <a:rect l="l" t="t" r="r" b="b"/>
            <a:pathLst>
              <a:path w="3811905" h="367029">
                <a:moveTo>
                  <a:pt x="3544813" y="0"/>
                </a:moveTo>
                <a:lnTo>
                  <a:pt x="266588" y="0"/>
                </a:lnTo>
                <a:lnTo>
                  <a:pt x="218669" y="4295"/>
                </a:lnTo>
                <a:lnTo>
                  <a:pt x="173568" y="16678"/>
                </a:lnTo>
                <a:lnTo>
                  <a:pt x="132037" y="36397"/>
                </a:lnTo>
                <a:lnTo>
                  <a:pt x="94829" y="62698"/>
                </a:lnTo>
                <a:lnTo>
                  <a:pt x="62698" y="94829"/>
                </a:lnTo>
                <a:lnTo>
                  <a:pt x="36397" y="132037"/>
                </a:lnTo>
                <a:lnTo>
                  <a:pt x="16678" y="173568"/>
                </a:lnTo>
                <a:lnTo>
                  <a:pt x="4295" y="218669"/>
                </a:lnTo>
                <a:lnTo>
                  <a:pt x="1" y="266576"/>
                </a:lnTo>
                <a:lnTo>
                  <a:pt x="0" y="366480"/>
                </a:lnTo>
                <a:lnTo>
                  <a:pt x="3811401" y="366480"/>
                </a:lnTo>
                <a:lnTo>
                  <a:pt x="3811401" y="266576"/>
                </a:lnTo>
                <a:lnTo>
                  <a:pt x="3807107" y="218669"/>
                </a:lnTo>
                <a:lnTo>
                  <a:pt x="3794723" y="173568"/>
                </a:lnTo>
                <a:lnTo>
                  <a:pt x="3775004" y="132037"/>
                </a:lnTo>
                <a:lnTo>
                  <a:pt x="3748703" y="94829"/>
                </a:lnTo>
                <a:lnTo>
                  <a:pt x="3716572" y="62698"/>
                </a:lnTo>
                <a:lnTo>
                  <a:pt x="3679365" y="36397"/>
                </a:lnTo>
                <a:lnTo>
                  <a:pt x="3637834" y="16678"/>
                </a:lnTo>
                <a:lnTo>
                  <a:pt x="3592732" y="4295"/>
                </a:lnTo>
                <a:lnTo>
                  <a:pt x="3544813" y="0"/>
                </a:lnTo>
                <a:close/>
              </a:path>
            </a:pathLst>
          </a:custGeom>
          <a:solidFill>
            <a:srgbClr val="006969">
              <a:alpha val="89999"/>
            </a:srgbClr>
          </a:solidFill>
        </p:spPr>
        <p:txBody>
          <a:bodyPr wrap="square" lIns="0" tIns="0" rIns="0" bIns="0" rtlCol="0"/>
          <a:lstStyle/>
          <a:p>
            <a:endParaRPr/>
          </a:p>
        </p:txBody>
      </p:sp>
      <p:sp>
        <p:nvSpPr>
          <p:cNvPr id="24" name="object 24"/>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pic>
        <p:nvPicPr>
          <p:cNvPr id="27" name="Imagem 26">
            <a:extLst>
              <a:ext uri="{FF2B5EF4-FFF2-40B4-BE49-F238E27FC236}">
                <a16:creationId xmlns:a16="http://schemas.microsoft.com/office/drawing/2014/main" id="{CBF787E7-E64D-7F65-58D9-A6FADC3E6961}"/>
              </a:ext>
            </a:extLst>
          </p:cNvPr>
          <p:cNvPicPr>
            <a:picLocks noChangeAspect="1"/>
          </p:cNvPicPr>
          <p:nvPr/>
        </p:nvPicPr>
        <p:blipFill>
          <a:blip r:embed="rId3"/>
          <a:stretch>
            <a:fillRect/>
          </a:stretch>
        </p:blipFill>
        <p:spPr>
          <a:xfrm>
            <a:off x="9253" y="0"/>
            <a:ext cx="7599331" cy="11309350"/>
          </a:xfrm>
          <a:prstGeom prst="rect">
            <a:avLst/>
          </a:prstGeom>
        </p:spPr>
      </p:pic>
      <p:sp>
        <p:nvSpPr>
          <p:cNvPr id="4" name="Espaço Reservado para Número de Slide 3">
            <a:extLst>
              <a:ext uri="{FF2B5EF4-FFF2-40B4-BE49-F238E27FC236}">
                <a16:creationId xmlns:a16="http://schemas.microsoft.com/office/drawing/2014/main" id="{012DDE24-AA56-9E9D-B32A-A095B2FC8309}"/>
              </a:ext>
            </a:extLst>
          </p:cNvPr>
          <p:cNvSpPr>
            <a:spLocks noGrp="1"/>
          </p:cNvSpPr>
          <p:nvPr>
            <p:ph type="sldNum" sz="quarter" idx="7"/>
          </p:nvPr>
        </p:nvSpPr>
        <p:spPr>
          <a:xfrm>
            <a:off x="15005050" y="11001831"/>
            <a:ext cx="4623943" cy="215444"/>
          </a:xfrm>
        </p:spPr>
        <p:txBody>
          <a:bodyPr/>
          <a:lstStyle/>
          <a:p>
            <a:fld id="{B6F15528-21DE-4FAA-801E-634DDDAF4B2B}" type="slidenum">
              <a:rPr lang="en-US" sz="1400" smtClean="0">
                <a:solidFill>
                  <a:schemeClr val="bg1"/>
                </a:solidFill>
                <a:latin typeface="Futura Lt BT" panose="020B0402020204020303" pitchFamily="34" charset="0"/>
              </a:rPr>
              <a:pPr/>
              <a:t>2</a:t>
            </a:fld>
            <a:endParaRPr lang="en-US" sz="1400" dirty="0">
              <a:solidFill>
                <a:schemeClr val="bg1"/>
              </a:solidFill>
              <a:latin typeface="Futura Lt BT" panose="020B0402020204020303"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0" y="0"/>
            <a:ext cx="1529080" cy="11308715"/>
          </a:xfrm>
          <a:custGeom>
            <a:avLst/>
            <a:gdLst/>
            <a:ahLst/>
            <a:cxnLst/>
            <a:rect l="l" t="t" r="r" b="b"/>
            <a:pathLst>
              <a:path w="1529080" h="11308715">
                <a:moveTo>
                  <a:pt x="1528749" y="11308556"/>
                </a:moveTo>
                <a:lnTo>
                  <a:pt x="0" y="11308556"/>
                </a:lnTo>
                <a:lnTo>
                  <a:pt x="0" y="0"/>
                </a:lnTo>
                <a:lnTo>
                  <a:pt x="1528749" y="0"/>
                </a:lnTo>
                <a:lnTo>
                  <a:pt x="1528749" y="11308556"/>
                </a:lnTo>
                <a:close/>
              </a:path>
            </a:pathLst>
          </a:custGeom>
          <a:solidFill>
            <a:srgbClr val="C69A78">
              <a:alpha val="89999"/>
            </a:srgbClr>
          </a:solidFill>
        </p:spPr>
        <p:txBody>
          <a:bodyPr wrap="square" lIns="0" tIns="0" rIns="0" bIns="0" rtlCol="0"/>
          <a:lstStyle/>
          <a:p>
            <a:endParaRPr/>
          </a:p>
        </p:txBody>
      </p:sp>
      <p:pic>
        <p:nvPicPr>
          <p:cNvPr id="3" name="object 3"/>
          <p:cNvPicPr/>
          <p:nvPr/>
        </p:nvPicPr>
        <p:blipFill>
          <a:blip r:embed="rId2" cstate="print"/>
          <a:stretch>
            <a:fillRect/>
          </a:stretch>
        </p:blipFill>
        <p:spPr>
          <a:xfrm>
            <a:off x="11507503" y="534025"/>
            <a:ext cx="8184043" cy="10230044"/>
          </a:xfrm>
          <a:prstGeom prst="rect">
            <a:avLst/>
          </a:prstGeom>
        </p:spPr>
      </p:pic>
      <p:sp>
        <p:nvSpPr>
          <p:cNvPr id="4" name="object 4"/>
          <p:cNvSpPr txBox="1">
            <a:spLocks noGrp="1"/>
          </p:cNvSpPr>
          <p:nvPr>
            <p:ph type="title"/>
          </p:nvPr>
        </p:nvSpPr>
        <p:spPr>
          <a:xfrm>
            <a:off x="10512769" y="1204151"/>
            <a:ext cx="5193665" cy="1190069"/>
          </a:xfrm>
          <a:prstGeom prst="rect">
            <a:avLst/>
          </a:prstGeom>
          <a:solidFill>
            <a:srgbClr val="036C68">
              <a:alpha val="60000"/>
            </a:srgbClr>
          </a:solidFill>
        </p:spPr>
        <p:txBody>
          <a:bodyPr vert="horz" wrap="square" lIns="0" tIns="172720" rIns="0" bIns="0" rtlCol="0">
            <a:spAutoFit/>
          </a:bodyPr>
          <a:lstStyle/>
          <a:p>
            <a:pPr marL="2442210">
              <a:lnSpc>
                <a:spcPct val="100000"/>
              </a:lnSpc>
              <a:spcBef>
                <a:spcPts val="1360"/>
              </a:spcBef>
            </a:pPr>
            <a:r>
              <a:rPr sz="6600" spc="-10" dirty="0">
                <a:solidFill>
                  <a:srgbClr val="FFFFFF"/>
                </a:solidFill>
                <a:latin typeface="Futura Lt BT Light"/>
              </a:rPr>
              <a:t>ÍNDICE</a:t>
            </a:r>
            <a:endParaRPr sz="6600" dirty="0">
              <a:latin typeface="Futura Lt BT Light"/>
            </a:endParaRPr>
          </a:p>
        </p:txBody>
      </p:sp>
      <p:sp>
        <p:nvSpPr>
          <p:cNvPr id="23" name="object 23"/>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sp>
        <p:nvSpPr>
          <p:cNvPr id="26" name="object 24">
            <a:extLst>
              <a:ext uri="{FF2B5EF4-FFF2-40B4-BE49-F238E27FC236}">
                <a16:creationId xmlns:a16="http://schemas.microsoft.com/office/drawing/2014/main" id="{A24F483F-6B77-7601-98DD-7CB1E030139B}"/>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36" name="Espaço Reservado para Número de Slide 35">
            <a:extLst>
              <a:ext uri="{FF2B5EF4-FFF2-40B4-BE49-F238E27FC236}">
                <a16:creationId xmlns:a16="http://schemas.microsoft.com/office/drawing/2014/main" id="{836F68CD-8AF3-6E49-F8D0-42F84473E289}"/>
              </a:ext>
            </a:extLst>
          </p:cNvPr>
          <p:cNvSpPr>
            <a:spLocks noGrp="1"/>
          </p:cNvSpPr>
          <p:nvPr>
            <p:ph type="sldNum" sz="quarter" idx="7"/>
          </p:nvPr>
        </p:nvSpPr>
        <p:spPr>
          <a:xfrm>
            <a:off x="15005050" y="11001831"/>
            <a:ext cx="4623943" cy="215444"/>
          </a:xfrm>
        </p:spPr>
        <p:txBody>
          <a:bodyPr/>
          <a:lstStyle/>
          <a:p>
            <a:fld id="{B6F15528-21DE-4FAA-801E-634DDDAF4B2B}" type="slidenum">
              <a:rPr lang="en-US" sz="1400" smtClean="0">
                <a:solidFill>
                  <a:schemeClr val="bg1"/>
                </a:solidFill>
                <a:latin typeface="Futura Lt BT" panose="020B0402020204020303" pitchFamily="34" charset="0"/>
              </a:rPr>
              <a:t>3</a:t>
            </a:fld>
            <a:endParaRPr lang="en-US" dirty="0">
              <a:solidFill>
                <a:schemeClr val="bg1"/>
              </a:solidFill>
              <a:latin typeface="Futura Lt BT" panose="020B0402020204020303" pitchFamily="34" charset="0"/>
            </a:endParaRPr>
          </a:p>
        </p:txBody>
      </p:sp>
      <p:grpSp>
        <p:nvGrpSpPr>
          <p:cNvPr id="43" name="Agrupar 42">
            <a:extLst>
              <a:ext uri="{FF2B5EF4-FFF2-40B4-BE49-F238E27FC236}">
                <a16:creationId xmlns:a16="http://schemas.microsoft.com/office/drawing/2014/main" id="{E7231F25-0B5C-619F-6641-9AD21F31134E}"/>
              </a:ext>
            </a:extLst>
          </p:cNvPr>
          <p:cNvGrpSpPr/>
          <p:nvPr/>
        </p:nvGrpSpPr>
        <p:grpSpPr>
          <a:xfrm>
            <a:off x="2633964" y="2606675"/>
            <a:ext cx="7067519" cy="7267047"/>
            <a:chOff x="2633964" y="2606675"/>
            <a:chExt cx="7067519" cy="7267047"/>
          </a:xfrm>
        </p:grpSpPr>
        <p:sp>
          <p:nvSpPr>
            <p:cNvPr id="5" name="object 5"/>
            <p:cNvSpPr/>
            <p:nvPr/>
          </p:nvSpPr>
          <p:spPr>
            <a:xfrm>
              <a:off x="2649134" y="3099886"/>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6" name="object 6"/>
            <p:cNvSpPr/>
            <p:nvPr/>
          </p:nvSpPr>
          <p:spPr>
            <a:xfrm>
              <a:off x="2649134" y="4073678"/>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7" name="object 7"/>
            <p:cNvSpPr/>
            <p:nvPr/>
          </p:nvSpPr>
          <p:spPr>
            <a:xfrm>
              <a:off x="2649134" y="5047471"/>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8" name="object 8"/>
            <p:cNvSpPr/>
            <p:nvPr/>
          </p:nvSpPr>
          <p:spPr>
            <a:xfrm>
              <a:off x="2649134" y="6021263"/>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9" name="object 9"/>
            <p:cNvSpPr/>
            <p:nvPr/>
          </p:nvSpPr>
          <p:spPr>
            <a:xfrm>
              <a:off x="2649134" y="6995055"/>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10" name="object 10"/>
            <p:cNvSpPr txBox="1"/>
            <p:nvPr/>
          </p:nvSpPr>
          <p:spPr>
            <a:xfrm>
              <a:off x="2633964" y="2606675"/>
              <a:ext cx="4902695" cy="392415"/>
            </a:xfrm>
            <a:prstGeom prst="rect">
              <a:avLst/>
            </a:prstGeom>
          </p:spPr>
          <p:txBody>
            <a:bodyPr vert="horz" wrap="square" lIns="0" tIns="15240" rIns="0" bIns="0" rtlCol="0">
              <a:spAutoFit/>
            </a:bodyPr>
            <a:lstStyle/>
            <a:p>
              <a:pPr marL="12700">
                <a:lnSpc>
                  <a:spcPct val="100000"/>
                </a:lnSpc>
                <a:spcBef>
                  <a:spcPts val="120"/>
                </a:spcBef>
              </a:pPr>
              <a:r>
                <a:rPr sz="2450" dirty="0">
                  <a:latin typeface="Futura Lt BT Light"/>
                  <a:cs typeface="Futura PT Book"/>
                </a:rPr>
                <a:t>Apresentação</a:t>
              </a:r>
              <a:r>
                <a:rPr sz="2450" spc="-65" dirty="0">
                  <a:latin typeface="Futura Lt BT Light"/>
                  <a:cs typeface="Futura PT Book"/>
                </a:rPr>
                <a:t> </a:t>
              </a:r>
              <a:r>
                <a:rPr sz="2450" spc="-10" dirty="0">
                  <a:latin typeface="Futura Lt BT Light"/>
                  <a:cs typeface="Futura PT Book"/>
                </a:rPr>
                <a:t>Corporativa</a:t>
              </a:r>
              <a:endParaRPr sz="2450" dirty="0">
                <a:latin typeface="Futura Lt BT Light"/>
                <a:cs typeface="Futura PT Book"/>
              </a:endParaRPr>
            </a:p>
          </p:txBody>
        </p:sp>
        <p:sp>
          <p:nvSpPr>
            <p:cNvPr id="11" name="object 11"/>
            <p:cNvSpPr txBox="1"/>
            <p:nvPr/>
          </p:nvSpPr>
          <p:spPr>
            <a:xfrm>
              <a:off x="2633965" y="3640780"/>
              <a:ext cx="4730787" cy="392415"/>
            </a:xfrm>
            <a:prstGeom prst="rect">
              <a:avLst/>
            </a:prstGeom>
          </p:spPr>
          <p:txBody>
            <a:bodyPr vert="horz" wrap="square" lIns="0" tIns="15240" rIns="0" bIns="0" rtlCol="0">
              <a:spAutoFit/>
            </a:bodyPr>
            <a:lstStyle/>
            <a:p>
              <a:pPr marL="12700">
                <a:lnSpc>
                  <a:spcPct val="100000"/>
                </a:lnSpc>
                <a:spcBef>
                  <a:spcPts val="120"/>
                </a:spcBef>
              </a:pPr>
              <a:r>
                <a:rPr sz="2450" dirty="0">
                  <a:latin typeface="Futura Lt BT Light"/>
                  <a:cs typeface="Futura PT Book"/>
                </a:rPr>
                <a:t>Entendimento</a:t>
              </a:r>
              <a:r>
                <a:rPr sz="2450" spc="-10" dirty="0">
                  <a:latin typeface="Futura Lt BT Light"/>
                  <a:cs typeface="Futura PT Book"/>
                </a:rPr>
                <a:t> </a:t>
              </a:r>
              <a:r>
                <a:rPr sz="2450" dirty="0">
                  <a:latin typeface="Futura Lt BT Light"/>
                  <a:cs typeface="Futura PT Book"/>
                </a:rPr>
                <a:t>da</a:t>
              </a:r>
              <a:r>
                <a:rPr sz="2450" spc="-5" dirty="0">
                  <a:latin typeface="Futura Lt BT Light"/>
                  <a:cs typeface="Futura PT Book"/>
                </a:rPr>
                <a:t> </a:t>
              </a:r>
              <a:r>
                <a:rPr sz="2450" spc="-10" dirty="0">
                  <a:latin typeface="Futura Lt BT Light"/>
                  <a:cs typeface="Futura PT Book"/>
                </a:rPr>
                <a:t>situação</a:t>
              </a:r>
              <a:endParaRPr sz="2450" dirty="0">
                <a:latin typeface="Futura Lt BT Light"/>
                <a:cs typeface="Futura PT Book"/>
              </a:endParaRPr>
            </a:p>
          </p:txBody>
        </p:sp>
        <p:sp>
          <p:nvSpPr>
            <p:cNvPr id="12" name="object 12"/>
            <p:cNvSpPr txBox="1"/>
            <p:nvPr/>
          </p:nvSpPr>
          <p:spPr>
            <a:xfrm>
              <a:off x="2633964" y="4541381"/>
              <a:ext cx="3379269" cy="392415"/>
            </a:xfrm>
            <a:prstGeom prst="rect">
              <a:avLst/>
            </a:prstGeom>
          </p:spPr>
          <p:txBody>
            <a:bodyPr vert="horz" wrap="square" lIns="0" tIns="15240" rIns="0" bIns="0" rtlCol="0">
              <a:spAutoFit/>
            </a:bodyPr>
            <a:lstStyle/>
            <a:p>
              <a:pPr marL="12700">
                <a:lnSpc>
                  <a:spcPct val="100000"/>
                </a:lnSpc>
                <a:spcBef>
                  <a:spcPts val="120"/>
                </a:spcBef>
              </a:pPr>
              <a:r>
                <a:rPr sz="2450" dirty="0">
                  <a:latin typeface="Futura Lt BT Light"/>
                  <a:cs typeface="Futura PT Book"/>
                </a:rPr>
                <a:t>Escopo</a:t>
              </a:r>
              <a:r>
                <a:rPr sz="2450" spc="5" dirty="0">
                  <a:latin typeface="Futura Lt BT Light"/>
                  <a:cs typeface="Futura PT Book"/>
                </a:rPr>
                <a:t> </a:t>
              </a:r>
              <a:r>
                <a:rPr sz="2450" dirty="0">
                  <a:latin typeface="Futura Lt BT Light"/>
                  <a:cs typeface="Futura PT Book"/>
                </a:rPr>
                <a:t>do</a:t>
              </a:r>
              <a:r>
                <a:rPr sz="2450" spc="5" dirty="0">
                  <a:latin typeface="Futura Lt BT Light"/>
                  <a:cs typeface="Futura PT Book"/>
                </a:rPr>
                <a:t> </a:t>
              </a:r>
              <a:r>
                <a:rPr sz="2450" spc="-10" dirty="0">
                  <a:latin typeface="Futura Lt BT Light"/>
                  <a:cs typeface="Futura PT Book"/>
                </a:rPr>
                <a:t>projeto</a:t>
              </a:r>
              <a:endParaRPr sz="2450">
                <a:latin typeface="Futura Lt BT Light"/>
                <a:cs typeface="Futura PT Book"/>
              </a:endParaRPr>
            </a:p>
          </p:txBody>
        </p:sp>
        <p:sp>
          <p:nvSpPr>
            <p:cNvPr id="13" name="object 13"/>
            <p:cNvSpPr txBox="1"/>
            <p:nvPr/>
          </p:nvSpPr>
          <p:spPr>
            <a:xfrm>
              <a:off x="2633965" y="5518001"/>
              <a:ext cx="3379268" cy="392415"/>
            </a:xfrm>
            <a:prstGeom prst="rect">
              <a:avLst/>
            </a:prstGeom>
          </p:spPr>
          <p:txBody>
            <a:bodyPr vert="horz" wrap="square" lIns="0" tIns="15240" rIns="0" bIns="0" rtlCol="0">
              <a:spAutoFit/>
            </a:bodyPr>
            <a:lstStyle/>
            <a:p>
              <a:pPr marL="12700">
                <a:lnSpc>
                  <a:spcPct val="100000"/>
                </a:lnSpc>
                <a:spcBef>
                  <a:spcPts val="120"/>
                </a:spcBef>
              </a:pPr>
              <a:r>
                <a:rPr lang="pt-BR" sz="2450" spc="-10" dirty="0">
                  <a:latin typeface="Futura Lt BT Light"/>
                  <a:cs typeface="Futura PT Book"/>
                </a:rPr>
                <a:t>Investimento</a:t>
              </a:r>
              <a:endParaRPr sz="2450" dirty="0">
                <a:latin typeface="Futura Lt BT Light"/>
                <a:cs typeface="Futura PT Book"/>
              </a:endParaRPr>
            </a:p>
          </p:txBody>
        </p:sp>
        <p:sp>
          <p:nvSpPr>
            <p:cNvPr id="14" name="object 14"/>
            <p:cNvSpPr txBox="1"/>
            <p:nvPr/>
          </p:nvSpPr>
          <p:spPr>
            <a:xfrm>
              <a:off x="2633964" y="6491793"/>
              <a:ext cx="5665485" cy="782265"/>
            </a:xfrm>
            <a:prstGeom prst="rect">
              <a:avLst/>
            </a:prstGeom>
          </p:spPr>
          <p:txBody>
            <a:bodyPr vert="horz" wrap="square" lIns="0" tIns="15240" rIns="0" bIns="0" rtlCol="0">
              <a:spAutoFit/>
            </a:bodyPr>
            <a:lstStyle/>
            <a:p>
              <a:pPr marL="12700">
                <a:spcBef>
                  <a:spcPts val="120"/>
                </a:spcBef>
              </a:pPr>
              <a:r>
                <a:rPr lang="pt-BR" sz="2450" dirty="0">
                  <a:latin typeface="Futura Lt BT Light"/>
                  <a:cs typeface="Futura PT Book"/>
                </a:rPr>
                <a:t>Prazo</a:t>
              </a:r>
              <a:r>
                <a:rPr lang="pt-BR" sz="2450" spc="-30" dirty="0">
                  <a:latin typeface="Futura Lt BT Light"/>
                  <a:cs typeface="Futura PT Book"/>
                </a:rPr>
                <a:t> </a:t>
              </a:r>
              <a:r>
                <a:rPr lang="pt-BR" sz="2450" dirty="0">
                  <a:latin typeface="Futura Lt BT Light"/>
                  <a:cs typeface="Futura PT Book"/>
                </a:rPr>
                <a:t>e</a:t>
              </a:r>
              <a:r>
                <a:rPr lang="pt-BR" sz="2450" spc="-25" dirty="0">
                  <a:latin typeface="Futura Lt BT Light"/>
                  <a:cs typeface="Futura PT Book"/>
                </a:rPr>
                <a:t> </a:t>
              </a:r>
              <a:r>
                <a:rPr lang="pt-BR" sz="2450" dirty="0">
                  <a:latin typeface="Futura Lt BT Light"/>
                  <a:cs typeface="Futura PT Book"/>
                </a:rPr>
                <a:t>Condições</a:t>
              </a:r>
              <a:r>
                <a:rPr lang="pt-BR" sz="2450" spc="-30" dirty="0">
                  <a:latin typeface="Futura Lt BT Light"/>
                  <a:cs typeface="Futura PT Book"/>
                </a:rPr>
                <a:t> </a:t>
              </a:r>
              <a:r>
                <a:rPr lang="pt-BR" sz="2450" dirty="0">
                  <a:latin typeface="Futura Lt BT Light"/>
                  <a:cs typeface="Futura PT Book"/>
                </a:rPr>
                <a:t>de</a:t>
              </a:r>
              <a:r>
                <a:rPr lang="pt-BR" sz="2450" spc="-25" dirty="0">
                  <a:latin typeface="Futura Lt BT Light"/>
                  <a:cs typeface="Futura PT Book"/>
                </a:rPr>
                <a:t> </a:t>
              </a:r>
              <a:r>
                <a:rPr lang="pt-BR" sz="2450" spc="-10" dirty="0">
                  <a:latin typeface="Futura Lt BT Light"/>
                  <a:cs typeface="Futura PT Book"/>
                </a:rPr>
                <a:t>Execução</a:t>
              </a:r>
              <a:endParaRPr lang="pt-BR" sz="2450" dirty="0">
                <a:latin typeface="Futura Lt BT Light"/>
                <a:cs typeface="Futura PT Book"/>
              </a:endParaRPr>
            </a:p>
            <a:p>
              <a:pPr marL="12700">
                <a:lnSpc>
                  <a:spcPct val="100000"/>
                </a:lnSpc>
                <a:spcBef>
                  <a:spcPts val="120"/>
                </a:spcBef>
              </a:pPr>
              <a:endParaRPr sz="2450" dirty="0">
                <a:latin typeface="Futura Lt BT Light"/>
                <a:cs typeface="Futura PT Book"/>
              </a:endParaRPr>
            </a:p>
          </p:txBody>
        </p:sp>
        <p:sp>
          <p:nvSpPr>
            <p:cNvPr id="15" name="object 15"/>
            <p:cNvSpPr/>
            <p:nvPr/>
          </p:nvSpPr>
          <p:spPr>
            <a:xfrm>
              <a:off x="2649134" y="7895551"/>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16" name="object 16"/>
            <p:cNvSpPr txBox="1"/>
            <p:nvPr/>
          </p:nvSpPr>
          <p:spPr>
            <a:xfrm>
              <a:off x="2633965" y="7392371"/>
              <a:ext cx="5962633" cy="392415"/>
            </a:xfrm>
            <a:prstGeom prst="rect">
              <a:avLst/>
            </a:prstGeom>
          </p:spPr>
          <p:txBody>
            <a:bodyPr vert="horz" wrap="square" lIns="0" tIns="15240" rIns="0" bIns="0" rtlCol="0">
              <a:spAutoFit/>
            </a:bodyPr>
            <a:lstStyle/>
            <a:p>
              <a:pPr marL="12700">
                <a:lnSpc>
                  <a:spcPct val="100000"/>
                </a:lnSpc>
                <a:spcBef>
                  <a:spcPts val="120"/>
                </a:spcBef>
              </a:pPr>
              <a:r>
                <a:rPr lang="pt-BR" sz="2450" dirty="0">
                  <a:latin typeface="Futura Lt BT Light"/>
                  <a:cs typeface="Futura PT Book"/>
                </a:rPr>
                <a:t>Equipe</a:t>
              </a:r>
              <a:endParaRPr sz="2450" dirty="0">
                <a:latin typeface="Futura Lt BT Light"/>
                <a:cs typeface="Futura PT Book"/>
              </a:endParaRPr>
            </a:p>
          </p:txBody>
        </p:sp>
        <p:sp>
          <p:nvSpPr>
            <p:cNvPr id="17" name="object 17"/>
            <p:cNvSpPr txBox="1"/>
            <p:nvPr/>
          </p:nvSpPr>
          <p:spPr>
            <a:xfrm>
              <a:off x="9107485" y="2857640"/>
              <a:ext cx="203835" cy="402590"/>
            </a:xfrm>
            <a:prstGeom prst="rect">
              <a:avLst/>
            </a:prstGeom>
          </p:spPr>
          <p:txBody>
            <a:bodyPr vert="horz" wrap="square" lIns="0" tIns="15240" rIns="0" bIns="0" rtlCol="0">
              <a:spAutoFit/>
            </a:bodyPr>
            <a:lstStyle/>
            <a:p>
              <a:pPr marL="12700">
                <a:lnSpc>
                  <a:spcPct val="100000"/>
                </a:lnSpc>
                <a:spcBef>
                  <a:spcPts val="120"/>
                </a:spcBef>
              </a:pPr>
              <a:r>
                <a:rPr sz="2450" spc="10" dirty="0">
                  <a:latin typeface="Futura PT Book"/>
                  <a:cs typeface="Futura PT Book"/>
                </a:rPr>
                <a:t>4</a:t>
              </a:r>
              <a:endParaRPr sz="2450" dirty="0">
                <a:latin typeface="Futura PT Book"/>
                <a:cs typeface="Futura PT Book"/>
              </a:endParaRPr>
            </a:p>
          </p:txBody>
        </p:sp>
        <p:sp>
          <p:nvSpPr>
            <p:cNvPr id="18" name="object 18"/>
            <p:cNvSpPr txBox="1"/>
            <p:nvPr/>
          </p:nvSpPr>
          <p:spPr>
            <a:xfrm>
              <a:off x="9107485" y="3821066"/>
              <a:ext cx="203835" cy="402590"/>
            </a:xfrm>
            <a:prstGeom prst="rect">
              <a:avLst/>
            </a:prstGeom>
          </p:spPr>
          <p:txBody>
            <a:bodyPr vert="horz" wrap="square" lIns="0" tIns="15240" rIns="0" bIns="0" rtlCol="0">
              <a:spAutoFit/>
            </a:bodyPr>
            <a:lstStyle/>
            <a:p>
              <a:pPr marL="12700">
                <a:lnSpc>
                  <a:spcPct val="100000"/>
                </a:lnSpc>
                <a:spcBef>
                  <a:spcPts val="120"/>
                </a:spcBef>
              </a:pPr>
              <a:r>
                <a:rPr sz="2450" spc="10" dirty="0">
                  <a:latin typeface="Futura PT Book"/>
                  <a:cs typeface="Futura PT Book"/>
                </a:rPr>
                <a:t>8</a:t>
              </a:r>
              <a:endParaRPr sz="2450">
                <a:latin typeface="Futura PT Book"/>
                <a:cs typeface="Futura PT Book"/>
              </a:endParaRPr>
            </a:p>
          </p:txBody>
        </p:sp>
        <p:sp>
          <p:nvSpPr>
            <p:cNvPr id="19" name="object 19"/>
            <p:cNvSpPr txBox="1"/>
            <p:nvPr/>
          </p:nvSpPr>
          <p:spPr>
            <a:xfrm>
              <a:off x="9107485" y="4794858"/>
              <a:ext cx="349885" cy="402590"/>
            </a:xfrm>
            <a:prstGeom prst="rect">
              <a:avLst/>
            </a:prstGeom>
          </p:spPr>
          <p:txBody>
            <a:bodyPr vert="horz" wrap="square" lIns="0" tIns="15240" rIns="0" bIns="0" rtlCol="0">
              <a:spAutoFit/>
            </a:bodyPr>
            <a:lstStyle/>
            <a:p>
              <a:pPr marL="12700">
                <a:lnSpc>
                  <a:spcPct val="100000"/>
                </a:lnSpc>
                <a:spcBef>
                  <a:spcPts val="120"/>
                </a:spcBef>
              </a:pPr>
              <a:r>
                <a:rPr sz="2450" spc="-95" dirty="0">
                  <a:latin typeface="Futura PT Book"/>
                  <a:cs typeface="Futura PT Book"/>
                </a:rPr>
                <a:t>1</a:t>
              </a:r>
              <a:r>
                <a:rPr lang="pt-BR" sz="2450" spc="-95" dirty="0">
                  <a:latin typeface="Futura PT Book"/>
                  <a:cs typeface="Futura PT Book"/>
                </a:rPr>
                <a:t>0</a:t>
              </a:r>
              <a:endParaRPr sz="2450" dirty="0">
                <a:latin typeface="Futura PT Book"/>
                <a:cs typeface="Futura PT Book"/>
              </a:endParaRPr>
            </a:p>
          </p:txBody>
        </p:sp>
        <p:sp>
          <p:nvSpPr>
            <p:cNvPr id="20" name="object 20"/>
            <p:cNvSpPr txBox="1"/>
            <p:nvPr/>
          </p:nvSpPr>
          <p:spPr>
            <a:xfrm>
              <a:off x="9107485" y="5747605"/>
              <a:ext cx="327025" cy="402590"/>
            </a:xfrm>
            <a:prstGeom prst="rect">
              <a:avLst/>
            </a:prstGeom>
          </p:spPr>
          <p:txBody>
            <a:bodyPr vert="horz" wrap="square" lIns="0" tIns="15240" rIns="0" bIns="0" rtlCol="0">
              <a:spAutoFit/>
            </a:bodyPr>
            <a:lstStyle/>
            <a:p>
              <a:pPr marL="12700">
                <a:lnSpc>
                  <a:spcPct val="100000"/>
                </a:lnSpc>
                <a:spcBef>
                  <a:spcPts val="120"/>
                </a:spcBef>
              </a:pPr>
              <a:r>
                <a:rPr sz="2450" spc="-365" dirty="0">
                  <a:latin typeface="Futura PT Book"/>
                  <a:cs typeface="Futura PT Book"/>
                </a:rPr>
                <a:t>1</a:t>
              </a:r>
              <a:r>
                <a:rPr lang="pt-BR" sz="2450" spc="-365" dirty="0">
                  <a:latin typeface="Futura PT Book"/>
                  <a:cs typeface="Futura PT Book"/>
                </a:rPr>
                <a:t>3</a:t>
              </a:r>
              <a:endParaRPr sz="2450" dirty="0">
                <a:latin typeface="Futura PT Book"/>
                <a:cs typeface="Futura PT Book"/>
              </a:endParaRPr>
            </a:p>
          </p:txBody>
        </p:sp>
        <p:sp>
          <p:nvSpPr>
            <p:cNvPr id="21" name="object 21"/>
            <p:cNvSpPr txBox="1"/>
            <p:nvPr/>
          </p:nvSpPr>
          <p:spPr>
            <a:xfrm>
              <a:off x="9107485" y="6742443"/>
              <a:ext cx="593998" cy="392415"/>
            </a:xfrm>
            <a:prstGeom prst="rect">
              <a:avLst/>
            </a:prstGeom>
          </p:spPr>
          <p:txBody>
            <a:bodyPr vert="horz" wrap="square" lIns="0" tIns="15240" rIns="0" bIns="0" rtlCol="0">
              <a:spAutoFit/>
            </a:bodyPr>
            <a:lstStyle>
              <a:defPPr>
                <a:defRPr kern="0"/>
              </a:defPPr>
              <a:lvl1pPr marL="12700">
                <a:lnSpc>
                  <a:spcPct val="100000"/>
                </a:lnSpc>
                <a:spcBef>
                  <a:spcPts val="120"/>
                </a:spcBef>
                <a:defRPr sz="2450" spc="-365">
                  <a:latin typeface="Futura PT Book"/>
                  <a:cs typeface="Futura PT Book"/>
                </a:defRPr>
              </a:lvl1pPr>
            </a:lstStyle>
            <a:p>
              <a:r>
                <a:rPr lang="pt-BR" dirty="0"/>
                <a:t>15</a:t>
              </a:r>
              <a:endParaRPr dirty="0"/>
            </a:p>
          </p:txBody>
        </p:sp>
        <p:sp>
          <p:nvSpPr>
            <p:cNvPr id="22" name="object 22"/>
            <p:cNvSpPr txBox="1"/>
            <p:nvPr/>
          </p:nvSpPr>
          <p:spPr>
            <a:xfrm>
              <a:off x="9107485" y="7621997"/>
              <a:ext cx="334645" cy="402590"/>
            </a:xfrm>
            <a:prstGeom prst="rect">
              <a:avLst/>
            </a:prstGeom>
          </p:spPr>
          <p:txBody>
            <a:bodyPr vert="horz" wrap="square" lIns="0" tIns="15240" rIns="0" bIns="0" rtlCol="0">
              <a:spAutoFit/>
            </a:bodyPr>
            <a:lstStyle/>
            <a:p>
              <a:pPr marL="12700">
                <a:lnSpc>
                  <a:spcPct val="100000"/>
                </a:lnSpc>
                <a:spcBef>
                  <a:spcPts val="120"/>
                </a:spcBef>
              </a:pPr>
              <a:r>
                <a:rPr lang="pt-BR" sz="2450" spc="-305" dirty="0">
                  <a:latin typeface="Futura PT Book"/>
                  <a:cs typeface="Futura PT Book"/>
                </a:rPr>
                <a:t>18</a:t>
              </a:r>
              <a:endParaRPr sz="2450" dirty="0">
                <a:latin typeface="Futura PT Book"/>
                <a:cs typeface="Futura PT Book"/>
              </a:endParaRPr>
            </a:p>
          </p:txBody>
        </p:sp>
        <p:sp>
          <p:nvSpPr>
            <p:cNvPr id="37" name="object 9">
              <a:extLst>
                <a:ext uri="{FF2B5EF4-FFF2-40B4-BE49-F238E27FC236}">
                  <a16:creationId xmlns:a16="http://schemas.microsoft.com/office/drawing/2014/main" id="{EF3C20D6-0F26-A87F-6EA2-F41E07348418}"/>
                </a:ext>
              </a:extLst>
            </p:cNvPr>
            <p:cNvSpPr/>
            <p:nvPr/>
          </p:nvSpPr>
          <p:spPr>
            <a:xfrm>
              <a:off x="2649134" y="8854365"/>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38" name="object 14">
              <a:extLst>
                <a:ext uri="{FF2B5EF4-FFF2-40B4-BE49-F238E27FC236}">
                  <a16:creationId xmlns:a16="http://schemas.microsoft.com/office/drawing/2014/main" id="{C8A79E43-ECDF-1BBC-3103-07E0BACBE742}"/>
                </a:ext>
              </a:extLst>
            </p:cNvPr>
            <p:cNvSpPr txBox="1"/>
            <p:nvPr/>
          </p:nvSpPr>
          <p:spPr>
            <a:xfrm>
              <a:off x="2633964" y="8351103"/>
              <a:ext cx="5665485" cy="782265"/>
            </a:xfrm>
            <a:prstGeom prst="rect">
              <a:avLst/>
            </a:prstGeom>
          </p:spPr>
          <p:txBody>
            <a:bodyPr vert="horz" wrap="square" lIns="0" tIns="15240" rIns="0" bIns="0" rtlCol="0">
              <a:spAutoFit/>
            </a:bodyPr>
            <a:lstStyle/>
            <a:p>
              <a:pPr marL="12700">
                <a:spcBef>
                  <a:spcPts val="120"/>
                </a:spcBef>
              </a:pPr>
              <a:r>
                <a:rPr lang="pt-BR" sz="2450" dirty="0">
                  <a:latin typeface="Futura Lt BT Light"/>
                  <a:cs typeface="Futura PT Book"/>
                </a:rPr>
                <a:t>Confidencialidade</a:t>
              </a:r>
            </a:p>
            <a:p>
              <a:pPr marL="12700">
                <a:lnSpc>
                  <a:spcPct val="100000"/>
                </a:lnSpc>
                <a:spcBef>
                  <a:spcPts val="120"/>
                </a:spcBef>
              </a:pPr>
              <a:endParaRPr sz="2450" dirty="0">
                <a:latin typeface="Futura Lt BT Light"/>
                <a:cs typeface="Futura PT Book"/>
              </a:endParaRPr>
            </a:p>
          </p:txBody>
        </p:sp>
        <p:sp>
          <p:nvSpPr>
            <p:cNvPr id="39" name="object 15">
              <a:extLst>
                <a:ext uri="{FF2B5EF4-FFF2-40B4-BE49-F238E27FC236}">
                  <a16:creationId xmlns:a16="http://schemas.microsoft.com/office/drawing/2014/main" id="{E43C9C9D-BA6D-4F37-631A-EF78841BD25E}"/>
                </a:ext>
              </a:extLst>
            </p:cNvPr>
            <p:cNvSpPr/>
            <p:nvPr/>
          </p:nvSpPr>
          <p:spPr>
            <a:xfrm>
              <a:off x="2649134" y="9754861"/>
              <a:ext cx="6219825" cy="20955"/>
            </a:xfrm>
            <a:custGeom>
              <a:avLst/>
              <a:gdLst/>
              <a:ahLst/>
              <a:cxnLst/>
              <a:rect l="l" t="t" r="r" b="b"/>
              <a:pathLst>
                <a:path w="6219825" h="20954">
                  <a:moveTo>
                    <a:pt x="6219705" y="0"/>
                  </a:moveTo>
                  <a:lnTo>
                    <a:pt x="0" y="0"/>
                  </a:lnTo>
                  <a:lnTo>
                    <a:pt x="0" y="20941"/>
                  </a:lnTo>
                  <a:lnTo>
                    <a:pt x="6219705" y="20941"/>
                  </a:lnTo>
                  <a:lnTo>
                    <a:pt x="6219705" y="0"/>
                  </a:lnTo>
                  <a:close/>
                </a:path>
              </a:pathLst>
            </a:custGeom>
            <a:solidFill>
              <a:srgbClr val="000000"/>
            </a:solidFill>
          </p:spPr>
          <p:txBody>
            <a:bodyPr wrap="square" lIns="0" tIns="0" rIns="0" bIns="0" rtlCol="0"/>
            <a:lstStyle/>
            <a:p>
              <a:endParaRPr/>
            </a:p>
          </p:txBody>
        </p:sp>
        <p:sp>
          <p:nvSpPr>
            <p:cNvPr id="40" name="object 16">
              <a:extLst>
                <a:ext uri="{FF2B5EF4-FFF2-40B4-BE49-F238E27FC236}">
                  <a16:creationId xmlns:a16="http://schemas.microsoft.com/office/drawing/2014/main" id="{61A4418E-48C3-2E05-EBDC-64B0C7A8C478}"/>
                </a:ext>
              </a:extLst>
            </p:cNvPr>
            <p:cNvSpPr txBox="1"/>
            <p:nvPr/>
          </p:nvSpPr>
          <p:spPr>
            <a:xfrm>
              <a:off x="2633965" y="9251681"/>
              <a:ext cx="5962633" cy="392415"/>
            </a:xfrm>
            <a:prstGeom prst="rect">
              <a:avLst/>
            </a:prstGeom>
          </p:spPr>
          <p:txBody>
            <a:bodyPr vert="horz" wrap="square" lIns="0" tIns="15240" rIns="0" bIns="0" rtlCol="0">
              <a:spAutoFit/>
            </a:bodyPr>
            <a:lstStyle/>
            <a:p>
              <a:pPr marL="12700">
                <a:lnSpc>
                  <a:spcPct val="100000"/>
                </a:lnSpc>
                <a:spcBef>
                  <a:spcPts val="120"/>
                </a:spcBef>
              </a:pPr>
              <a:r>
                <a:rPr lang="pt-BR" sz="2450" dirty="0">
                  <a:latin typeface="Futura Lt BT Light"/>
                  <a:cs typeface="Futura PT Book"/>
                </a:rPr>
                <a:t>Aceite e Contrato</a:t>
              </a:r>
              <a:endParaRPr sz="2450" dirty="0">
                <a:latin typeface="Futura Lt BT Light"/>
                <a:cs typeface="Futura PT Book"/>
              </a:endParaRPr>
            </a:p>
          </p:txBody>
        </p:sp>
        <p:sp>
          <p:nvSpPr>
            <p:cNvPr id="41" name="object 21">
              <a:extLst>
                <a:ext uri="{FF2B5EF4-FFF2-40B4-BE49-F238E27FC236}">
                  <a16:creationId xmlns:a16="http://schemas.microsoft.com/office/drawing/2014/main" id="{D8FE09CB-FAB8-F3B8-78A3-9ECFF3DC7609}"/>
                </a:ext>
              </a:extLst>
            </p:cNvPr>
            <p:cNvSpPr txBox="1"/>
            <p:nvPr/>
          </p:nvSpPr>
          <p:spPr>
            <a:xfrm>
              <a:off x="9107485" y="8601753"/>
              <a:ext cx="593998" cy="392415"/>
            </a:xfrm>
            <a:prstGeom prst="rect">
              <a:avLst/>
            </a:prstGeom>
          </p:spPr>
          <p:txBody>
            <a:bodyPr vert="horz" wrap="square" lIns="0" tIns="15240" rIns="0" bIns="0" rtlCol="0">
              <a:spAutoFit/>
            </a:bodyPr>
            <a:lstStyle/>
            <a:p>
              <a:pPr marL="36000">
                <a:lnSpc>
                  <a:spcPct val="100000"/>
                </a:lnSpc>
                <a:spcBef>
                  <a:spcPts val="120"/>
                </a:spcBef>
              </a:pPr>
              <a:r>
                <a:rPr lang="pt-BR" sz="2450" spc="-95" dirty="0">
                  <a:latin typeface="Futura PT Book"/>
                </a:rPr>
                <a:t>20</a:t>
              </a:r>
              <a:endParaRPr sz="2450" spc="-95" dirty="0">
                <a:latin typeface="Futura PT Book"/>
              </a:endParaRPr>
            </a:p>
          </p:txBody>
        </p:sp>
        <p:sp>
          <p:nvSpPr>
            <p:cNvPr id="42" name="object 22">
              <a:extLst>
                <a:ext uri="{FF2B5EF4-FFF2-40B4-BE49-F238E27FC236}">
                  <a16:creationId xmlns:a16="http://schemas.microsoft.com/office/drawing/2014/main" id="{4D30D562-1377-BFEC-25C3-85A81F6483C4}"/>
                </a:ext>
              </a:extLst>
            </p:cNvPr>
            <p:cNvSpPr txBox="1"/>
            <p:nvPr/>
          </p:nvSpPr>
          <p:spPr>
            <a:xfrm>
              <a:off x="9107485" y="9481307"/>
              <a:ext cx="483847" cy="392415"/>
            </a:xfrm>
            <a:prstGeom prst="rect">
              <a:avLst/>
            </a:prstGeom>
          </p:spPr>
          <p:txBody>
            <a:bodyPr vert="horz" wrap="square" lIns="0" tIns="15240" rIns="0" bIns="0" rtlCol="0">
              <a:spAutoFit/>
            </a:bodyPr>
            <a:lstStyle/>
            <a:p>
              <a:pPr marL="12700">
                <a:lnSpc>
                  <a:spcPct val="100000"/>
                </a:lnSpc>
                <a:spcBef>
                  <a:spcPts val="120"/>
                </a:spcBef>
              </a:pPr>
              <a:r>
                <a:rPr lang="pt-BR" sz="2450" spc="-95" dirty="0">
                  <a:latin typeface="Futura PT Book"/>
                </a:rPr>
                <a:t>21</a:t>
              </a:r>
              <a:endParaRPr sz="2450" spc="-95" dirty="0">
                <a:latin typeface="Futura PT Book"/>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020202">
              <a:alpha val="69999"/>
            </a:srgbClr>
          </a:solidFill>
        </p:spPr>
        <p:txBody>
          <a:bodyPr wrap="square" lIns="0" tIns="0" rIns="0" bIns="0" rtlCol="0"/>
          <a:lstStyle/>
          <a:p>
            <a:endParaRPr/>
          </a:p>
        </p:txBody>
      </p:sp>
      <p:sp>
        <p:nvSpPr>
          <p:cNvPr id="3" name="object 3"/>
          <p:cNvSpPr/>
          <p:nvPr/>
        </p:nvSpPr>
        <p:spPr>
          <a:xfrm>
            <a:off x="9737923" y="5183088"/>
            <a:ext cx="10366375" cy="1550035"/>
          </a:xfrm>
          <a:custGeom>
            <a:avLst/>
            <a:gdLst/>
            <a:ahLst/>
            <a:cxnLst/>
            <a:rect l="l" t="t" r="r" b="b"/>
            <a:pathLst>
              <a:path w="10366375" h="1550034">
                <a:moveTo>
                  <a:pt x="0" y="1549691"/>
                </a:moveTo>
                <a:lnTo>
                  <a:pt x="10366176" y="1549691"/>
                </a:lnTo>
                <a:lnTo>
                  <a:pt x="10366176" y="0"/>
                </a:lnTo>
                <a:lnTo>
                  <a:pt x="0" y="0"/>
                </a:lnTo>
                <a:lnTo>
                  <a:pt x="0" y="1549691"/>
                </a:lnTo>
                <a:close/>
              </a:path>
            </a:pathLst>
          </a:custGeom>
          <a:solidFill>
            <a:srgbClr val="090706">
              <a:alpha val="64999"/>
            </a:srgbClr>
          </a:solidFill>
        </p:spPr>
        <p:txBody>
          <a:bodyPr wrap="square" lIns="0" tIns="0" rIns="0" bIns="0" rtlCol="0"/>
          <a:lstStyle/>
          <a:p>
            <a:endParaRPr/>
          </a:p>
        </p:txBody>
      </p:sp>
      <p:sp>
        <p:nvSpPr>
          <p:cNvPr id="4" name="object 4"/>
          <p:cNvSpPr txBox="1">
            <a:spLocks noGrp="1"/>
          </p:cNvSpPr>
          <p:nvPr>
            <p:ph type="title"/>
          </p:nvPr>
        </p:nvSpPr>
        <p:spPr>
          <a:xfrm>
            <a:off x="10585450" y="5447907"/>
            <a:ext cx="10366375" cy="752770"/>
          </a:xfrm>
          <a:prstGeom prst="rect">
            <a:avLst/>
          </a:prstGeom>
        </p:spPr>
        <p:txBody>
          <a:bodyPr vert="horz" wrap="square" lIns="0" tIns="13970" rIns="0" bIns="0" rtlCol="0">
            <a:spAutoFit/>
          </a:bodyPr>
          <a:lstStyle/>
          <a:p>
            <a:pPr marL="12700">
              <a:lnSpc>
                <a:spcPct val="100000"/>
              </a:lnSpc>
              <a:spcBef>
                <a:spcPts val="110"/>
              </a:spcBef>
            </a:pPr>
            <a:r>
              <a:rPr sz="4800" spc="-20" dirty="0">
                <a:solidFill>
                  <a:srgbClr val="F3FFCC"/>
                </a:solidFill>
                <a:latin typeface="Futura Lt BT Light"/>
              </a:rPr>
              <a:t>APRESENTAÇÃO</a:t>
            </a:r>
            <a:r>
              <a:rPr sz="4800" spc="-240" dirty="0">
                <a:solidFill>
                  <a:srgbClr val="F3FFCC"/>
                </a:solidFill>
                <a:latin typeface="Futura Lt BT Light"/>
              </a:rPr>
              <a:t> </a:t>
            </a:r>
            <a:r>
              <a:rPr sz="4800" spc="-40" dirty="0">
                <a:solidFill>
                  <a:srgbClr val="F3FFCC"/>
                </a:solidFill>
                <a:latin typeface="Futura Lt BT Light"/>
              </a:rPr>
              <a:t>CORPORATIVA</a:t>
            </a:r>
            <a:endParaRPr sz="4800" dirty="0">
              <a:latin typeface="Futura Lt BT Light"/>
            </a:endParaRPr>
          </a:p>
        </p:txBody>
      </p:sp>
      <p:sp>
        <p:nvSpPr>
          <p:cNvPr id="5" name="object 5"/>
          <p:cNvSpPr/>
          <p:nvPr/>
        </p:nvSpPr>
        <p:spPr>
          <a:xfrm>
            <a:off x="10429002" y="5580981"/>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803190" y="2184931"/>
            <a:ext cx="14740095" cy="3017814"/>
          </a:xfrm>
          <a:prstGeom prst="rect">
            <a:avLst/>
          </a:prstGeom>
        </p:spPr>
        <p:txBody>
          <a:bodyPr vert="horz" wrap="square" lIns="0" tIns="11430" rIns="0" bIns="0" rtlCol="0">
            <a:spAutoFit/>
          </a:bodyPr>
          <a:lstStyle/>
          <a:p>
            <a:pPr marL="12700" marR="5080" algn="just">
              <a:lnSpc>
                <a:spcPct val="115700"/>
              </a:lnSpc>
              <a:spcBef>
                <a:spcPts val="90"/>
              </a:spcBef>
            </a:pPr>
            <a:r>
              <a:rPr sz="2850" dirty="0">
                <a:latin typeface="Futura Lt BT Light"/>
                <a:cs typeface="Futura PT Book"/>
              </a:rPr>
              <a:t>A</a:t>
            </a:r>
            <a:r>
              <a:rPr sz="2850" spc="275" dirty="0">
                <a:latin typeface="Futura Lt BT Light"/>
                <a:cs typeface="Futura PT Book"/>
              </a:rPr>
              <a:t>  </a:t>
            </a:r>
            <a:r>
              <a:rPr sz="2850" b="1" dirty="0">
                <a:solidFill>
                  <a:srgbClr val="006969"/>
                </a:solidFill>
                <a:latin typeface="Futura Lt BT Light"/>
                <a:cs typeface="Futura PT Heavy"/>
              </a:rPr>
              <a:t>Meden</a:t>
            </a:r>
            <a:r>
              <a:rPr sz="2850" b="1" spc="270" dirty="0">
                <a:solidFill>
                  <a:srgbClr val="006969"/>
                </a:solidFill>
                <a:latin typeface="Futura Lt BT Light"/>
                <a:cs typeface="Futura PT Heavy"/>
              </a:rPr>
              <a:t>  </a:t>
            </a:r>
            <a:r>
              <a:rPr sz="2850" b="1" dirty="0">
                <a:solidFill>
                  <a:srgbClr val="006969"/>
                </a:solidFill>
                <a:latin typeface="Futura Lt BT Light"/>
                <a:cs typeface="Futura PT Heavy"/>
              </a:rPr>
              <a:t>Consultoria</a:t>
            </a:r>
            <a:r>
              <a:rPr sz="2850" b="1" spc="275" dirty="0">
                <a:solidFill>
                  <a:srgbClr val="006969"/>
                </a:solidFill>
                <a:latin typeface="Futura Lt BT Light"/>
                <a:cs typeface="Futura PT Heavy"/>
              </a:rPr>
              <a:t>  </a:t>
            </a:r>
            <a:r>
              <a:rPr sz="2850" dirty="0">
                <a:latin typeface="Futura Lt BT Light"/>
                <a:cs typeface="Futura PT Book"/>
              </a:rPr>
              <a:t>é</a:t>
            </a:r>
            <a:r>
              <a:rPr sz="2850" spc="275" dirty="0">
                <a:latin typeface="Futura Lt BT Light"/>
                <a:cs typeface="Futura PT Book"/>
              </a:rPr>
              <a:t>  </a:t>
            </a:r>
            <a:r>
              <a:rPr sz="2850" dirty="0">
                <a:latin typeface="Futura Lt BT Light"/>
                <a:cs typeface="Futura PT Book"/>
              </a:rPr>
              <a:t>uma</a:t>
            </a:r>
            <a:r>
              <a:rPr sz="2850" spc="270" dirty="0">
                <a:latin typeface="Futura Lt BT Light"/>
                <a:cs typeface="Futura PT Book"/>
              </a:rPr>
              <a:t>  </a:t>
            </a:r>
            <a:r>
              <a:rPr sz="2850" dirty="0">
                <a:latin typeface="Futura Lt BT Light"/>
                <a:cs typeface="Futura PT Book"/>
              </a:rPr>
              <a:t>consultoria</a:t>
            </a:r>
            <a:r>
              <a:rPr sz="2850" spc="275" dirty="0">
                <a:latin typeface="Futura Lt BT Light"/>
                <a:cs typeface="Futura PT Book"/>
              </a:rPr>
              <a:t>  </a:t>
            </a:r>
            <a:r>
              <a:rPr sz="2850" dirty="0">
                <a:latin typeface="Futura Lt BT Light"/>
                <a:cs typeface="Futura PT Book"/>
              </a:rPr>
              <a:t>boutique</a:t>
            </a:r>
            <a:r>
              <a:rPr sz="2850" spc="270" dirty="0">
                <a:latin typeface="Futura Lt BT Light"/>
                <a:cs typeface="Futura PT Book"/>
              </a:rPr>
              <a:t>  </a:t>
            </a:r>
            <a:r>
              <a:rPr sz="2850" dirty="0">
                <a:latin typeface="Futura Lt BT Light"/>
                <a:cs typeface="Futura PT Book"/>
              </a:rPr>
              <a:t>constituída</a:t>
            </a:r>
            <a:r>
              <a:rPr sz="2850" spc="275" dirty="0">
                <a:latin typeface="Futura Lt BT Light"/>
                <a:cs typeface="Futura PT Book"/>
              </a:rPr>
              <a:t>  </a:t>
            </a:r>
            <a:r>
              <a:rPr sz="2850" dirty="0">
                <a:latin typeface="Futura Lt BT Light"/>
                <a:cs typeface="Futura PT Book"/>
              </a:rPr>
              <a:t>por</a:t>
            </a:r>
            <a:r>
              <a:rPr sz="2850" spc="275" dirty="0">
                <a:latin typeface="Futura Lt BT Light"/>
                <a:cs typeface="Futura PT Book"/>
              </a:rPr>
              <a:t>  </a:t>
            </a:r>
            <a:r>
              <a:rPr sz="2850" dirty="0">
                <a:latin typeface="Futura Lt BT Light"/>
                <a:cs typeface="Futura PT Book"/>
              </a:rPr>
              <a:t>uma</a:t>
            </a:r>
            <a:r>
              <a:rPr sz="2850" spc="270" dirty="0">
                <a:latin typeface="Futura Lt BT Light"/>
                <a:cs typeface="Futura PT Book"/>
              </a:rPr>
              <a:t>  </a:t>
            </a:r>
            <a:r>
              <a:rPr sz="2850" spc="-10" dirty="0">
                <a:latin typeface="Futura Lt BT Light"/>
                <a:cs typeface="Futura PT Book"/>
              </a:rPr>
              <a:t>equipe </a:t>
            </a:r>
            <a:r>
              <a:rPr sz="2850" dirty="0">
                <a:latin typeface="Futura Lt BT Light"/>
                <a:cs typeface="Futura PT Book"/>
              </a:rPr>
              <a:t>multidisciplinar</a:t>
            </a:r>
            <a:r>
              <a:rPr sz="2850" spc="-10" dirty="0">
                <a:latin typeface="Futura Lt BT Light"/>
                <a:cs typeface="Futura PT Book"/>
              </a:rPr>
              <a:t> </a:t>
            </a:r>
            <a:r>
              <a:rPr sz="2850" dirty="0">
                <a:latin typeface="Futura Lt BT Light"/>
                <a:cs typeface="Futura PT Book"/>
              </a:rPr>
              <a:t>com</a:t>
            </a:r>
            <a:r>
              <a:rPr sz="2850" spc="-5" dirty="0">
                <a:latin typeface="Futura Lt BT Light"/>
                <a:cs typeface="Futura PT Book"/>
              </a:rPr>
              <a:t> </a:t>
            </a:r>
            <a:r>
              <a:rPr sz="2850" dirty="0">
                <a:latin typeface="Futura Lt BT Light"/>
                <a:cs typeface="Futura PT Book"/>
              </a:rPr>
              <a:t>vasta</a:t>
            </a:r>
            <a:r>
              <a:rPr sz="2850" spc="-5" dirty="0">
                <a:latin typeface="Futura Lt BT Light"/>
                <a:cs typeface="Futura PT Book"/>
              </a:rPr>
              <a:t> </a:t>
            </a:r>
            <a:r>
              <a:rPr sz="2850" dirty="0">
                <a:latin typeface="Futura Lt BT Light"/>
                <a:cs typeface="Futura PT Book"/>
              </a:rPr>
              <a:t>experiência</a:t>
            </a:r>
            <a:r>
              <a:rPr sz="2850" spc="-10" dirty="0">
                <a:latin typeface="Futura Lt BT Light"/>
                <a:cs typeface="Futura PT Book"/>
              </a:rPr>
              <a:t> </a:t>
            </a:r>
            <a:r>
              <a:rPr sz="2850" dirty="0">
                <a:latin typeface="Futura Lt BT Light"/>
                <a:cs typeface="Futura PT Book"/>
              </a:rPr>
              <a:t>no</a:t>
            </a:r>
            <a:r>
              <a:rPr sz="2850" spc="-5" dirty="0">
                <a:latin typeface="Futura Lt BT Light"/>
                <a:cs typeface="Futura PT Book"/>
              </a:rPr>
              <a:t> </a:t>
            </a:r>
            <a:r>
              <a:rPr sz="2850" dirty="0">
                <a:latin typeface="Futura Lt BT Light"/>
                <a:cs typeface="Futura PT Book"/>
              </a:rPr>
              <a:t>mercado</a:t>
            </a:r>
            <a:r>
              <a:rPr sz="2850" spc="-5" dirty="0">
                <a:latin typeface="Futura Lt BT Light"/>
                <a:cs typeface="Futura PT Book"/>
              </a:rPr>
              <a:t> </a:t>
            </a:r>
            <a:r>
              <a:rPr sz="2850" dirty="0">
                <a:latin typeface="Futura Lt BT Light"/>
                <a:cs typeface="Futura PT Book"/>
              </a:rPr>
              <a:t>de</a:t>
            </a:r>
            <a:r>
              <a:rPr sz="2850" spc="-10" dirty="0">
                <a:latin typeface="Futura Lt BT Light"/>
                <a:cs typeface="Futura PT Book"/>
              </a:rPr>
              <a:t> </a:t>
            </a:r>
            <a:r>
              <a:rPr sz="2850" dirty="0">
                <a:latin typeface="Futura Lt BT Light"/>
                <a:cs typeface="Futura PT Book"/>
              </a:rPr>
              <a:t>avaliações</a:t>
            </a:r>
            <a:r>
              <a:rPr sz="2850" spc="-5" dirty="0">
                <a:latin typeface="Futura Lt BT Light"/>
                <a:cs typeface="Futura PT Book"/>
              </a:rPr>
              <a:t> </a:t>
            </a:r>
            <a:r>
              <a:rPr sz="2850" dirty="0">
                <a:latin typeface="Futura Lt BT Light"/>
                <a:cs typeface="Futura PT Book"/>
              </a:rPr>
              <a:t>e</a:t>
            </a:r>
            <a:r>
              <a:rPr sz="2850" spc="-5" dirty="0">
                <a:latin typeface="Futura Lt BT Light"/>
                <a:cs typeface="Futura PT Book"/>
              </a:rPr>
              <a:t> </a:t>
            </a:r>
            <a:r>
              <a:rPr sz="2850" dirty="0">
                <a:latin typeface="Futura Lt BT Light"/>
                <a:cs typeface="Futura PT Book"/>
              </a:rPr>
              <a:t>de</a:t>
            </a:r>
            <a:r>
              <a:rPr sz="2850" spc="-10" dirty="0">
                <a:latin typeface="Futura Lt BT Light"/>
                <a:cs typeface="Futura PT Book"/>
              </a:rPr>
              <a:t> </a:t>
            </a:r>
            <a:r>
              <a:rPr sz="2850" dirty="0">
                <a:latin typeface="Futura Lt BT Light"/>
                <a:cs typeface="Futura PT Book"/>
              </a:rPr>
              <a:t>fusões</a:t>
            </a:r>
            <a:r>
              <a:rPr sz="2850" spc="-5" dirty="0">
                <a:latin typeface="Futura Lt BT Light"/>
                <a:cs typeface="Futura PT Book"/>
              </a:rPr>
              <a:t> </a:t>
            </a:r>
            <a:r>
              <a:rPr sz="2850" dirty="0">
                <a:latin typeface="Futura Lt BT Light"/>
                <a:cs typeface="Futura PT Book"/>
              </a:rPr>
              <a:t>e</a:t>
            </a:r>
            <a:r>
              <a:rPr sz="2850" spc="-5" dirty="0">
                <a:latin typeface="Futura Lt BT Light"/>
                <a:cs typeface="Futura PT Book"/>
              </a:rPr>
              <a:t> </a:t>
            </a:r>
            <a:r>
              <a:rPr sz="2850" spc="-10" dirty="0">
                <a:latin typeface="Futura Lt BT Light"/>
                <a:cs typeface="Futura PT Book"/>
              </a:rPr>
              <a:t>aquisições, </a:t>
            </a:r>
            <a:r>
              <a:rPr sz="2850" dirty="0">
                <a:latin typeface="Futura Lt BT Light"/>
                <a:cs typeface="Futura PT Book"/>
              </a:rPr>
              <a:t>tendo participado</a:t>
            </a:r>
            <a:r>
              <a:rPr sz="2850" spc="10" dirty="0">
                <a:latin typeface="Futura Lt BT Light"/>
                <a:cs typeface="Futura PT Book"/>
              </a:rPr>
              <a:t> </a:t>
            </a:r>
            <a:r>
              <a:rPr sz="2850" dirty="0">
                <a:latin typeface="Futura Lt BT Light"/>
                <a:cs typeface="Futura PT Book"/>
              </a:rPr>
              <a:t>de</a:t>
            </a:r>
            <a:r>
              <a:rPr sz="2850" spc="10" dirty="0">
                <a:latin typeface="Futura Lt BT Light"/>
                <a:cs typeface="Futura PT Book"/>
              </a:rPr>
              <a:t> </a:t>
            </a:r>
            <a:r>
              <a:rPr sz="2850" dirty="0">
                <a:latin typeface="Futura Lt BT Light"/>
                <a:cs typeface="Futura PT Book"/>
              </a:rPr>
              <a:t>projetos</a:t>
            </a:r>
            <a:r>
              <a:rPr sz="2850" spc="5" dirty="0">
                <a:latin typeface="Futura Lt BT Light"/>
                <a:cs typeface="Futura PT Book"/>
              </a:rPr>
              <a:t> </a:t>
            </a:r>
            <a:r>
              <a:rPr sz="2850" dirty="0">
                <a:latin typeface="Futura Lt BT Light"/>
                <a:cs typeface="Futura PT Book"/>
              </a:rPr>
              <a:t>que</a:t>
            </a:r>
            <a:r>
              <a:rPr sz="2850" spc="10" dirty="0">
                <a:latin typeface="Futura Lt BT Light"/>
                <a:cs typeface="Futura PT Book"/>
              </a:rPr>
              <a:t> </a:t>
            </a:r>
            <a:r>
              <a:rPr sz="2850" dirty="0">
                <a:latin typeface="Futura Lt BT Light"/>
                <a:cs typeface="Futura PT Book"/>
              </a:rPr>
              <a:t>somam</a:t>
            </a:r>
            <a:r>
              <a:rPr sz="2850" spc="10" dirty="0">
                <a:latin typeface="Futura Lt BT Light"/>
                <a:cs typeface="Futura PT Book"/>
              </a:rPr>
              <a:t> </a:t>
            </a:r>
            <a:r>
              <a:rPr sz="2850" dirty="0">
                <a:latin typeface="Futura Lt BT Light"/>
                <a:cs typeface="Futura PT Book"/>
              </a:rPr>
              <a:t>mais</a:t>
            </a:r>
            <a:r>
              <a:rPr sz="2850" spc="10" dirty="0">
                <a:latin typeface="Futura Lt BT Light"/>
                <a:cs typeface="Futura PT Book"/>
              </a:rPr>
              <a:t> </a:t>
            </a:r>
            <a:r>
              <a:rPr sz="2850" dirty="0">
                <a:latin typeface="Futura Lt BT Light"/>
                <a:cs typeface="Futura PT Book"/>
              </a:rPr>
              <a:t>de</a:t>
            </a:r>
            <a:r>
              <a:rPr sz="2850" spc="10" dirty="0">
                <a:latin typeface="Futura Lt BT Light"/>
                <a:cs typeface="Futura PT Book"/>
              </a:rPr>
              <a:t> </a:t>
            </a:r>
            <a:r>
              <a:rPr sz="2850" dirty="0">
                <a:latin typeface="Futura Lt BT Light"/>
                <a:cs typeface="Futura PT Book"/>
              </a:rPr>
              <a:t>R$</a:t>
            </a:r>
            <a:r>
              <a:rPr sz="2850" spc="10" dirty="0">
                <a:latin typeface="Futura Lt BT Light"/>
                <a:cs typeface="Futura PT Book"/>
              </a:rPr>
              <a:t> </a:t>
            </a:r>
            <a:r>
              <a:rPr lang="pt-BR" sz="2850" spc="10" dirty="0">
                <a:latin typeface="Futura Lt BT Light"/>
                <a:cs typeface="Futura PT Book"/>
              </a:rPr>
              <a:t>3</a:t>
            </a:r>
            <a:r>
              <a:rPr sz="2850" dirty="0">
                <a:latin typeface="Futura Lt BT Light"/>
                <a:cs typeface="Futura PT Book"/>
              </a:rPr>
              <a:t>00</a:t>
            </a:r>
            <a:r>
              <a:rPr sz="2850" spc="5" dirty="0">
                <a:latin typeface="Futura Lt BT Light"/>
                <a:cs typeface="Futura PT Book"/>
              </a:rPr>
              <a:t> </a:t>
            </a:r>
            <a:r>
              <a:rPr sz="2850" dirty="0">
                <a:latin typeface="Futura Lt BT Light"/>
                <a:cs typeface="Futura PT Book"/>
              </a:rPr>
              <a:t>bilhões</a:t>
            </a:r>
            <a:r>
              <a:rPr sz="2850" spc="10" dirty="0">
                <a:latin typeface="Futura Lt BT Light"/>
                <a:cs typeface="Futura PT Book"/>
              </a:rPr>
              <a:t> </a:t>
            </a:r>
            <a:r>
              <a:rPr sz="2850" dirty="0">
                <a:latin typeface="Futura Lt BT Light"/>
                <a:cs typeface="Futura PT Book"/>
              </a:rPr>
              <a:t>em</a:t>
            </a:r>
            <a:r>
              <a:rPr sz="2850" spc="10" dirty="0">
                <a:latin typeface="Futura Lt BT Light"/>
                <a:cs typeface="Futura PT Book"/>
              </a:rPr>
              <a:t> </a:t>
            </a:r>
            <a:r>
              <a:rPr sz="2850" dirty="0">
                <a:latin typeface="Futura Lt BT Light"/>
                <a:cs typeface="Futura PT Book"/>
              </a:rPr>
              <a:t>ativos.</a:t>
            </a:r>
            <a:r>
              <a:rPr sz="2850" spc="10" dirty="0">
                <a:latin typeface="Futura Lt BT Light"/>
                <a:cs typeface="Futura PT Book"/>
              </a:rPr>
              <a:t> </a:t>
            </a:r>
            <a:r>
              <a:rPr sz="2850" dirty="0">
                <a:latin typeface="Futura Lt BT Light"/>
                <a:cs typeface="Futura PT Book"/>
              </a:rPr>
              <a:t>Com</a:t>
            </a:r>
            <a:r>
              <a:rPr sz="2850" spc="10" dirty="0">
                <a:latin typeface="Futura Lt BT Light"/>
                <a:cs typeface="Futura PT Book"/>
              </a:rPr>
              <a:t> </a:t>
            </a:r>
            <a:r>
              <a:rPr sz="2850" dirty="0">
                <a:latin typeface="Futura Lt BT Light"/>
                <a:cs typeface="Futura PT Book"/>
              </a:rPr>
              <a:t>foco</a:t>
            </a:r>
            <a:r>
              <a:rPr sz="2850" spc="10" dirty="0">
                <a:latin typeface="Futura Lt BT Light"/>
                <a:cs typeface="Futura PT Book"/>
              </a:rPr>
              <a:t> </a:t>
            </a:r>
            <a:r>
              <a:rPr sz="2850" spc="-25" dirty="0">
                <a:latin typeface="Futura Lt BT Light"/>
                <a:cs typeface="Futura PT Book"/>
              </a:rPr>
              <a:t>no </a:t>
            </a:r>
            <a:r>
              <a:rPr sz="2850" dirty="0">
                <a:latin typeface="Futura Lt BT Light"/>
                <a:cs typeface="Futura PT Book"/>
              </a:rPr>
              <a:t>atendimento</a:t>
            </a:r>
            <a:r>
              <a:rPr sz="2850" spc="110" dirty="0">
                <a:latin typeface="Futura Lt BT Light"/>
                <a:cs typeface="Futura PT Book"/>
              </a:rPr>
              <a:t>  </a:t>
            </a:r>
            <a:r>
              <a:rPr sz="2850" dirty="0">
                <a:latin typeface="Futura Lt BT Light"/>
                <a:cs typeface="Futura PT Book"/>
              </a:rPr>
              <a:t>eficiente</a:t>
            </a:r>
            <a:r>
              <a:rPr sz="2850" spc="110" dirty="0">
                <a:latin typeface="Futura Lt BT Light"/>
                <a:cs typeface="Futura PT Book"/>
              </a:rPr>
              <a:t>  </a:t>
            </a:r>
            <a:r>
              <a:rPr sz="2850" dirty="0">
                <a:latin typeface="Futura Lt BT Light"/>
                <a:cs typeface="Futura PT Book"/>
              </a:rPr>
              <a:t>e</a:t>
            </a:r>
            <a:r>
              <a:rPr sz="2850" spc="110" dirty="0">
                <a:latin typeface="Futura Lt BT Light"/>
                <a:cs typeface="Futura PT Book"/>
              </a:rPr>
              <a:t>  </a:t>
            </a:r>
            <a:r>
              <a:rPr sz="2850" dirty="0">
                <a:latin typeface="Futura Lt BT Light"/>
                <a:cs typeface="Futura PT Book"/>
              </a:rPr>
              <a:t>personalizado,</a:t>
            </a:r>
            <a:r>
              <a:rPr sz="2850" spc="114" dirty="0">
                <a:latin typeface="Futura Lt BT Light"/>
                <a:cs typeface="Futura PT Book"/>
              </a:rPr>
              <a:t>  </a:t>
            </a:r>
            <a:r>
              <a:rPr sz="2850" dirty="0">
                <a:latin typeface="Futura Lt BT Light"/>
                <a:cs typeface="Futura PT Book"/>
              </a:rPr>
              <a:t>a</a:t>
            </a:r>
            <a:r>
              <a:rPr sz="2850" spc="110" dirty="0">
                <a:latin typeface="Futura Lt BT Light"/>
                <a:cs typeface="Futura PT Book"/>
              </a:rPr>
              <a:t>  </a:t>
            </a:r>
            <a:r>
              <a:rPr sz="2850" b="1" dirty="0">
                <a:solidFill>
                  <a:srgbClr val="006969"/>
                </a:solidFill>
                <a:latin typeface="Futura Lt BT Light"/>
                <a:cs typeface="Futura PT Heavy"/>
              </a:rPr>
              <a:t>Meden</a:t>
            </a:r>
            <a:r>
              <a:rPr sz="2850" b="1" spc="110" dirty="0">
                <a:solidFill>
                  <a:srgbClr val="006969"/>
                </a:solidFill>
                <a:latin typeface="Futura Lt BT Light"/>
                <a:cs typeface="Futura PT Heavy"/>
              </a:rPr>
              <a:t>  </a:t>
            </a:r>
            <a:r>
              <a:rPr sz="2850" b="1" dirty="0">
                <a:solidFill>
                  <a:srgbClr val="006969"/>
                </a:solidFill>
                <a:latin typeface="Futura Lt BT Light"/>
                <a:cs typeface="Futura PT Heavy"/>
              </a:rPr>
              <a:t>Consultoria</a:t>
            </a:r>
            <a:r>
              <a:rPr sz="2850" b="1" spc="110" dirty="0">
                <a:solidFill>
                  <a:srgbClr val="006969"/>
                </a:solidFill>
                <a:latin typeface="Futura Lt BT Light"/>
                <a:cs typeface="Futura PT Heavy"/>
              </a:rPr>
              <a:t>  </a:t>
            </a:r>
            <a:r>
              <a:rPr sz="2850" dirty="0">
                <a:latin typeface="Futura Lt BT Light"/>
                <a:cs typeface="Futura PT Book"/>
              </a:rPr>
              <a:t>já</a:t>
            </a:r>
            <a:r>
              <a:rPr sz="2850" spc="110" dirty="0">
                <a:latin typeface="Futura Lt BT Light"/>
                <a:cs typeface="Futura PT Book"/>
              </a:rPr>
              <a:t>  </a:t>
            </a:r>
            <a:r>
              <a:rPr sz="2850" dirty="0">
                <a:latin typeface="Futura Lt BT Light"/>
                <a:cs typeface="Futura PT Book"/>
              </a:rPr>
              <a:t>realizou</a:t>
            </a:r>
            <a:r>
              <a:rPr sz="2850" spc="110" dirty="0">
                <a:latin typeface="Futura Lt BT Light"/>
                <a:cs typeface="Futura PT Book"/>
              </a:rPr>
              <a:t>  </a:t>
            </a:r>
            <a:r>
              <a:rPr sz="2850" spc="-10" dirty="0">
                <a:latin typeface="Futura Lt BT Light"/>
                <a:cs typeface="Futura PT Book"/>
              </a:rPr>
              <a:t>diversos </a:t>
            </a:r>
            <a:r>
              <a:rPr sz="2850" dirty="0">
                <a:latin typeface="Futura Lt BT Light"/>
                <a:cs typeface="Futura PT Book"/>
              </a:rPr>
              <a:t>projetos</a:t>
            </a:r>
            <a:r>
              <a:rPr sz="2850" spc="390" dirty="0">
                <a:latin typeface="Futura Lt BT Light"/>
                <a:cs typeface="Futura PT Book"/>
              </a:rPr>
              <a:t>   </a:t>
            </a:r>
            <a:r>
              <a:rPr sz="2850" dirty="0">
                <a:latin typeface="Futura Lt BT Light"/>
                <a:cs typeface="Futura PT Book"/>
              </a:rPr>
              <a:t>para</a:t>
            </a:r>
            <a:r>
              <a:rPr sz="2850" spc="390" dirty="0">
                <a:latin typeface="Futura Lt BT Light"/>
                <a:cs typeface="Futura PT Book"/>
              </a:rPr>
              <a:t>   </a:t>
            </a:r>
            <a:r>
              <a:rPr sz="2850" dirty="0">
                <a:latin typeface="Futura Lt BT Light"/>
                <a:cs typeface="Futura PT Book"/>
              </a:rPr>
              <a:t>empresas</a:t>
            </a:r>
            <a:r>
              <a:rPr sz="2850" spc="390" dirty="0">
                <a:latin typeface="Futura Lt BT Light"/>
                <a:cs typeface="Futura PT Book"/>
              </a:rPr>
              <a:t>   </a:t>
            </a:r>
            <a:r>
              <a:rPr sz="2850" dirty="0">
                <a:latin typeface="Futura Lt BT Light"/>
                <a:cs typeface="Futura PT Book"/>
              </a:rPr>
              <a:t>de</a:t>
            </a:r>
            <a:r>
              <a:rPr sz="2850" spc="385" dirty="0">
                <a:latin typeface="Futura Lt BT Light"/>
                <a:cs typeface="Futura PT Book"/>
              </a:rPr>
              <a:t>   </a:t>
            </a:r>
            <a:r>
              <a:rPr sz="2850" dirty="0">
                <a:latin typeface="Futura Lt BT Light"/>
                <a:cs typeface="Futura PT Book"/>
              </a:rPr>
              <a:t>diferentes</a:t>
            </a:r>
            <a:r>
              <a:rPr sz="2850" spc="390" dirty="0">
                <a:latin typeface="Futura Lt BT Light"/>
                <a:cs typeface="Futura PT Book"/>
              </a:rPr>
              <a:t>   </a:t>
            </a:r>
            <a:r>
              <a:rPr sz="2850" dirty="0">
                <a:latin typeface="Futura Lt BT Light"/>
                <a:cs typeface="Futura PT Book"/>
              </a:rPr>
              <a:t>setores,</a:t>
            </a:r>
            <a:r>
              <a:rPr sz="2850" spc="390" dirty="0">
                <a:latin typeface="Futura Lt BT Light"/>
                <a:cs typeface="Futura PT Book"/>
              </a:rPr>
              <a:t>   </a:t>
            </a:r>
            <a:r>
              <a:rPr sz="2850" dirty="0">
                <a:latin typeface="Futura Lt BT Light"/>
                <a:cs typeface="Futura PT Book"/>
              </a:rPr>
              <a:t>no</a:t>
            </a:r>
            <a:r>
              <a:rPr sz="2850" spc="390" dirty="0">
                <a:latin typeface="Futura Lt BT Light"/>
                <a:cs typeface="Futura PT Book"/>
              </a:rPr>
              <a:t>   </a:t>
            </a:r>
            <a:r>
              <a:rPr sz="2850" dirty="0">
                <a:latin typeface="Futura Lt BT Light"/>
                <a:cs typeface="Futura PT Book"/>
              </a:rPr>
              <a:t>Brasil</a:t>
            </a:r>
            <a:r>
              <a:rPr sz="2850" spc="390" dirty="0">
                <a:latin typeface="Futura Lt BT Light"/>
                <a:cs typeface="Futura PT Book"/>
              </a:rPr>
              <a:t>   </a:t>
            </a:r>
            <a:r>
              <a:rPr sz="2850" dirty="0">
                <a:latin typeface="Futura Lt BT Light"/>
                <a:cs typeface="Futura PT Book"/>
              </a:rPr>
              <a:t>e</a:t>
            </a:r>
            <a:r>
              <a:rPr sz="2850" spc="390" dirty="0">
                <a:latin typeface="Futura Lt BT Light"/>
                <a:cs typeface="Futura PT Book"/>
              </a:rPr>
              <a:t>   </a:t>
            </a:r>
            <a:r>
              <a:rPr sz="2850" dirty="0">
                <a:latin typeface="Futura Lt BT Light"/>
                <a:cs typeface="Futura PT Book"/>
              </a:rPr>
              <a:t>no</a:t>
            </a:r>
            <a:r>
              <a:rPr sz="2850" spc="385" dirty="0">
                <a:latin typeface="Futura Lt BT Light"/>
                <a:cs typeface="Futura PT Book"/>
              </a:rPr>
              <a:t>   </a:t>
            </a:r>
            <a:r>
              <a:rPr sz="2850" spc="-10" dirty="0">
                <a:latin typeface="Futura Lt BT Light"/>
                <a:cs typeface="Futura PT Book"/>
              </a:rPr>
              <a:t>exterior.</a:t>
            </a:r>
            <a:endParaRPr sz="2850" dirty="0">
              <a:latin typeface="Futura Lt BT Light"/>
              <a:cs typeface="Futura PT Book"/>
            </a:endParaRPr>
          </a:p>
        </p:txBody>
      </p:sp>
      <p:sp>
        <p:nvSpPr>
          <p:cNvPr id="3" name="object 3"/>
          <p:cNvSpPr txBox="1"/>
          <p:nvPr/>
        </p:nvSpPr>
        <p:spPr>
          <a:xfrm>
            <a:off x="6609835" y="5383133"/>
            <a:ext cx="9643220" cy="5684569"/>
          </a:xfrm>
          <a:prstGeom prst="rect">
            <a:avLst/>
          </a:prstGeom>
        </p:spPr>
        <p:txBody>
          <a:bodyPr vert="horz" wrap="square" lIns="0" tIns="12065" rIns="0" bIns="0" rtlCol="0">
            <a:spAutoFit/>
          </a:bodyPr>
          <a:lstStyle/>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Consultoria Econômico-Financeira, Contábil e de </a:t>
            </a:r>
            <a:r>
              <a:rPr sz="2400" dirty="0" err="1">
                <a:latin typeface="Futura Lt BT Light"/>
                <a:ea typeface="+mn-ea"/>
                <a:cs typeface="+mn-cs"/>
              </a:rPr>
              <a:t>Engenharia</a:t>
            </a:r>
            <a:r>
              <a:rPr sz="2400" dirty="0">
                <a:latin typeface="Futura Lt BT Light"/>
                <a:ea typeface="+mn-ea"/>
                <a:cs typeface="+mn-cs"/>
              </a:rPr>
              <a:t> </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Avaliação</a:t>
            </a:r>
            <a:r>
              <a:rPr sz="2400" dirty="0">
                <a:latin typeface="Futura Lt BT Light"/>
                <a:ea typeface="+mn-ea"/>
                <a:cs typeface="+mn-cs"/>
              </a:rPr>
              <a:t> de Negócios</a:t>
            </a:r>
          </a:p>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Fusões e Aquisições (M&amp;A e Captação de Recursos) </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Consultoria</a:t>
            </a:r>
            <a:r>
              <a:rPr sz="2400" dirty="0">
                <a:latin typeface="Futura Lt BT Light"/>
                <a:ea typeface="+mn-ea"/>
                <a:cs typeface="+mn-cs"/>
              </a:rPr>
              <a:t> Imobiliária e Gestão de Ativos </a:t>
            </a:r>
            <a:r>
              <a:rPr sz="2400" dirty="0" err="1">
                <a:latin typeface="Futura Lt BT Light"/>
                <a:ea typeface="+mn-ea"/>
                <a:cs typeface="+mn-cs"/>
              </a:rPr>
              <a:t>Imobilizados</a:t>
            </a:r>
            <a:r>
              <a:rPr sz="2400" dirty="0">
                <a:latin typeface="Futura Lt BT Light"/>
                <a:ea typeface="+mn-ea"/>
                <a:cs typeface="+mn-cs"/>
              </a:rPr>
              <a:t> </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Assistência</a:t>
            </a:r>
            <a:r>
              <a:rPr sz="2400" dirty="0">
                <a:latin typeface="Futura Lt BT Light"/>
                <a:ea typeface="+mn-ea"/>
                <a:cs typeface="+mn-cs"/>
              </a:rPr>
              <a:t> Técnica em Perícias e </a:t>
            </a:r>
            <a:r>
              <a:rPr sz="2400" dirty="0" err="1">
                <a:latin typeface="Futura Lt BT Light"/>
                <a:ea typeface="+mn-ea"/>
                <a:cs typeface="+mn-cs"/>
              </a:rPr>
              <a:t>Arbitragem</a:t>
            </a:r>
            <a:r>
              <a:rPr sz="2400" dirty="0">
                <a:latin typeface="Futura Lt BT Light"/>
                <a:ea typeface="+mn-ea"/>
                <a:cs typeface="+mn-cs"/>
              </a:rPr>
              <a:t> </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Recuperação</a:t>
            </a:r>
            <a:r>
              <a:rPr sz="2400" dirty="0">
                <a:latin typeface="Futura Lt BT Light"/>
                <a:ea typeface="+mn-ea"/>
                <a:cs typeface="+mn-cs"/>
              </a:rPr>
              <a:t> Judicial e Falências</a:t>
            </a:r>
          </a:p>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Estratégia e Modelagem de </a:t>
            </a:r>
            <a:r>
              <a:rPr sz="2400" dirty="0" err="1">
                <a:latin typeface="Futura Lt BT Light"/>
                <a:ea typeface="+mn-ea"/>
                <a:cs typeface="+mn-cs"/>
              </a:rPr>
              <a:t>Negócios</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Governança</a:t>
            </a:r>
            <a:r>
              <a:rPr sz="2400" dirty="0">
                <a:latin typeface="Futura Lt BT Light"/>
                <a:ea typeface="+mn-ea"/>
                <a:cs typeface="+mn-cs"/>
              </a:rPr>
              <a:t> Corporativa</a:t>
            </a:r>
          </a:p>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Atendimento às Normais Contábeis, Fiscais e Societárias</a:t>
            </a:r>
          </a:p>
        </p:txBody>
      </p:sp>
      <p:sp>
        <p:nvSpPr>
          <p:cNvPr id="13" name="object 13"/>
          <p:cNvSpPr txBox="1">
            <a:spLocks noGrp="1"/>
          </p:cNvSpPr>
          <p:nvPr>
            <p:ph type="title"/>
          </p:nvPr>
        </p:nvSpPr>
        <p:spPr>
          <a:xfrm>
            <a:off x="670003" y="635022"/>
            <a:ext cx="10242550" cy="773930"/>
          </a:xfrm>
          <a:prstGeom prst="rect">
            <a:avLst/>
          </a:prstGeom>
        </p:spPr>
        <p:txBody>
          <a:bodyPr vert="horz" wrap="square" lIns="0" tIns="12065" rIns="0" bIns="0" rtlCol="0">
            <a:spAutoFit/>
          </a:bodyPr>
          <a:lstStyle/>
          <a:p>
            <a:pPr marL="43815">
              <a:lnSpc>
                <a:spcPct val="100000"/>
              </a:lnSpc>
              <a:spcBef>
                <a:spcPts val="95"/>
              </a:spcBef>
            </a:pPr>
            <a:r>
              <a:rPr dirty="0">
                <a:latin typeface="Futura Lt BT Light"/>
              </a:rPr>
              <a:t>SOBRE</a:t>
            </a:r>
            <a:r>
              <a:rPr spc="-145" dirty="0">
                <a:latin typeface="Futura Lt BT Light"/>
              </a:rPr>
              <a:t> </a:t>
            </a:r>
            <a:r>
              <a:rPr spc="-25" dirty="0">
                <a:latin typeface="Futura Lt BT Light"/>
              </a:rPr>
              <a:t>NÓS</a:t>
            </a:r>
          </a:p>
        </p:txBody>
      </p:sp>
      <p:sp>
        <p:nvSpPr>
          <p:cNvPr id="14" name="object 14"/>
          <p:cNvSpPr/>
          <p:nvPr/>
        </p:nvSpPr>
        <p:spPr>
          <a:xfrm>
            <a:off x="523544" y="769725"/>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15" name="object 15"/>
          <p:cNvSpPr txBox="1"/>
          <p:nvPr/>
        </p:nvSpPr>
        <p:spPr>
          <a:xfrm>
            <a:off x="701416" y="5404623"/>
            <a:ext cx="6092416" cy="773930"/>
          </a:xfrm>
          <a:prstGeom prst="rect">
            <a:avLst/>
          </a:prstGeom>
        </p:spPr>
        <p:txBody>
          <a:bodyPr vert="horz" wrap="square" lIns="0" tIns="12065" rIns="0" bIns="0" rtlCol="0">
            <a:spAutoFit/>
          </a:bodyPr>
          <a:lstStyle/>
          <a:p>
            <a:pPr marL="12700">
              <a:lnSpc>
                <a:spcPct val="100000"/>
              </a:lnSpc>
              <a:spcBef>
                <a:spcPts val="95"/>
              </a:spcBef>
            </a:pPr>
            <a:r>
              <a:rPr sz="4950" spc="-10" dirty="0">
                <a:solidFill>
                  <a:srgbClr val="006969"/>
                </a:solidFill>
                <a:latin typeface="Futura Lt BT Light"/>
                <a:cs typeface="Futura PT Book"/>
              </a:rPr>
              <a:t>NOSSOS</a:t>
            </a:r>
            <a:r>
              <a:rPr sz="4950" spc="-245" dirty="0">
                <a:solidFill>
                  <a:srgbClr val="006969"/>
                </a:solidFill>
                <a:latin typeface="Futura Lt BT Light"/>
                <a:cs typeface="Futura PT Book"/>
              </a:rPr>
              <a:t> </a:t>
            </a:r>
            <a:r>
              <a:rPr sz="4950" spc="-10" dirty="0">
                <a:solidFill>
                  <a:srgbClr val="006969"/>
                </a:solidFill>
                <a:latin typeface="Futura Lt BT Light"/>
                <a:cs typeface="Futura PT Book"/>
              </a:rPr>
              <a:t>SERVIÇOS</a:t>
            </a:r>
            <a:endParaRPr sz="4950" dirty="0">
              <a:latin typeface="Futura Lt BT Light"/>
              <a:cs typeface="Futura PT Book"/>
            </a:endParaRPr>
          </a:p>
        </p:txBody>
      </p:sp>
      <p:sp>
        <p:nvSpPr>
          <p:cNvPr id="16" name="object 16"/>
          <p:cNvSpPr/>
          <p:nvPr/>
        </p:nvSpPr>
        <p:spPr>
          <a:xfrm>
            <a:off x="523544" y="5513036"/>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grpSp>
        <p:nvGrpSpPr>
          <p:cNvPr id="17" name="object 17"/>
          <p:cNvGrpSpPr/>
          <p:nvPr/>
        </p:nvGrpSpPr>
        <p:grpSpPr>
          <a:xfrm>
            <a:off x="7905518" y="0"/>
            <a:ext cx="12198985" cy="11308715"/>
            <a:chOff x="7905518" y="0"/>
            <a:chExt cx="12198985" cy="11308715"/>
          </a:xfrm>
        </p:grpSpPr>
        <p:sp>
          <p:nvSpPr>
            <p:cNvPr id="18" name="object 18"/>
            <p:cNvSpPr/>
            <p:nvPr/>
          </p:nvSpPr>
          <p:spPr>
            <a:xfrm>
              <a:off x="16093750" y="0"/>
              <a:ext cx="4010660" cy="11308715"/>
            </a:xfrm>
            <a:custGeom>
              <a:avLst/>
              <a:gdLst/>
              <a:ahLst/>
              <a:cxnLst/>
              <a:rect l="l" t="t" r="r" b="b"/>
              <a:pathLst>
                <a:path w="4010659" h="11308715">
                  <a:moveTo>
                    <a:pt x="4010349" y="0"/>
                  </a:moveTo>
                  <a:lnTo>
                    <a:pt x="0" y="0"/>
                  </a:lnTo>
                  <a:lnTo>
                    <a:pt x="0" y="11308556"/>
                  </a:lnTo>
                  <a:lnTo>
                    <a:pt x="4010349" y="11308556"/>
                  </a:lnTo>
                  <a:lnTo>
                    <a:pt x="4010349" y="0"/>
                  </a:lnTo>
                  <a:close/>
                </a:path>
              </a:pathLst>
            </a:custGeom>
            <a:solidFill>
              <a:srgbClr val="C69A78">
                <a:alpha val="89999"/>
              </a:srgbClr>
            </a:solidFill>
          </p:spPr>
          <p:txBody>
            <a:bodyPr wrap="square" lIns="0" tIns="0" rIns="0" bIns="0" rtlCol="0"/>
            <a:lstStyle/>
            <a:p>
              <a:endParaRPr/>
            </a:p>
          </p:txBody>
        </p:sp>
        <p:sp>
          <p:nvSpPr>
            <p:cNvPr id="19" name="object 19"/>
            <p:cNvSpPr/>
            <p:nvPr/>
          </p:nvSpPr>
          <p:spPr>
            <a:xfrm>
              <a:off x="7905518" y="937259"/>
              <a:ext cx="10701655" cy="440055"/>
            </a:xfrm>
            <a:custGeom>
              <a:avLst/>
              <a:gdLst/>
              <a:ahLst/>
              <a:cxnLst/>
              <a:rect l="l" t="t" r="r" b="b"/>
              <a:pathLst>
                <a:path w="10701655" h="440055">
                  <a:moveTo>
                    <a:pt x="10701244" y="0"/>
                  </a:moveTo>
                  <a:lnTo>
                    <a:pt x="0" y="0"/>
                  </a:lnTo>
                  <a:lnTo>
                    <a:pt x="0" y="439777"/>
                  </a:lnTo>
                  <a:lnTo>
                    <a:pt x="10701244" y="439777"/>
                  </a:lnTo>
                  <a:lnTo>
                    <a:pt x="10701244" y="0"/>
                  </a:lnTo>
                  <a:close/>
                </a:path>
              </a:pathLst>
            </a:custGeom>
            <a:solidFill>
              <a:srgbClr val="929286"/>
            </a:solidFill>
          </p:spPr>
          <p:txBody>
            <a:bodyPr wrap="square" lIns="0" tIns="0" rIns="0" bIns="0" rtlCol="0"/>
            <a:lstStyle/>
            <a:p>
              <a:endParaRPr/>
            </a:p>
          </p:txBody>
        </p:sp>
        <p:sp>
          <p:nvSpPr>
            <p:cNvPr id="20" name="object 20"/>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grpSp>
      <p:sp>
        <p:nvSpPr>
          <p:cNvPr id="23" name="object 24">
            <a:extLst>
              <a:ext uri="{FF2B5EF4-FFF2-40B4-BE49-F238E27FC236}">
                <a16:creationId xmlns:a16="http://schemas.microsoft.com/office/drawing/2014/main" id="{59CC7FA1-64CF-C542-B830-72AB2304A94F}"/>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24" name="Espaço Reservado para Número de Slide 23">
            <a:extLst>
              <a:ext uri="{FF2B5EF4-FFF2-40B4-BE49-F238E27FC236}">
                <a16:creationId xmlns:a16="http://schemas.microsoft.com/office/drawing/2014/main" id="{20DCA1D5-22AC-088D-0944-FEF4674FE1EB}"/>
              </a:ext>
            </a:extLst>
          </p:cNvPr>
          <p:cNvSpPr>
            <a:spLocks noGrp="1"/>
          </p:cNvSpPr>
          <p:nvPr>
            <p:ph type="sldNum" sz="quarter" idx="7"/>
          </p:nvPr>
        </p:nvSpPr>
        <p:spPr>
          <a:xfrm>
            <a:off x="15005050" y="11001368"/>
            <a:ext cx="4623943" cy="215444"/>
          </a:xfrm>
        </p:spPr>
        <p:txBody>
          <a:bodyPr/>
          <a:lstStyle/>
          <a:p>
            <a:fld id="{B6F15528-21DE-4FAA-801E-634DDDAF4B2B}" type="slidenum">
              <a:rPr lang="en-US" sz="1400" smtClean="0">
                <a:solidFill>
                  <a:schemeClr val="bg1"/>
                </a:solidFill>
                <a:latin typeface="Futura Lt BT" panose="020B0402020204020303" pitchFamily="34" charset="0"/>
              </a:rPr>
              <a:pPr/>
              <a:t>5</a:t>
            </a:fld>
            <a:endParaRPr lang="en-US" sz="1400" dirty="0">
              <a:solidFill>
                <a:schemeClr val="bg1"/>
              </a:solidFill>
              <a:latin typeface="Futura Lt BT" panose="020B0402020204020303"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576459" y="2294353"/>
            <a:ext cx="14658118" cy="7362593"/>
          </a:xfrm>
          <a:prstGeom prst="rect">
            <a:avLst/>
          </a:prstGeom>
        </p:spPr>
        <p:txBody>
          <a:bodyPr vert="horz" wrap="square" lIns="0" tIns="15240" rIns="0" bIns="0" rtlCol="0">
            <a:spAutoFit/>
          </a:bodyPr>
          <a:lstStyle/>
          <a:p>
            <a:pPr marL="342900" marR="14605" indent="-342900" algn="just">
              <a:lnSpc>
                <a:spcPct val="150000"/>
              </a:lnSpc>
              <a:spcBef>
                <a:spcPts val="120"/>
              </a:spcBef>
              <a:spcAft>
                <a:spcPts val="600"/>
              </a:spcAft>
              <a:buBlip>
                <a:blip r:embed="rId2"/>
              </a:buBlip>
              <a:tabLst>
                <a:tab pos="450215" algn="l"/>
                <a:tab pos="685800" algn="l"/>
              </a:tabLst>
            </a:pPr>
            <a:r>
              <a:rPr sz="2400" dirty="0">
                <a:latin typeface="Futura Lt BT Light"/>
                <a:ea typeface="+mn-ea"/>
                <a:cs typeface="+mn-cs"/>
              </a:rPr>
              <a:t>Atuação nacional e internacional</a:t>
            </a:r>
          </a:p>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Trabalhos regularmente auditados pelas </a:t>
            </a:r>
            <a:r>
              <a:rPr sz="2400" dirty="0" err="1">
                <a:latin typeface="Futura Lt BT Light"/>
                <a:ea typeface="+mn-ea"/>
                <a:cs typeface="+mn-cs"/>
              </a:rPr>
              <a:t>principais</a:t>
            </a:r>
            <a:r>
              <a:rPr sz="2400" dirty="0">
                <a:latin typeface="Futura Lt BT Light"/>
                <a:ea typeface="+mn-ea"/>
                <a:cs typeface="+mn-cs"/>
              </a:rPr>
              <a:t> </a:t>
            </a:r>
            <a:r>
              <a:rPr sz="2400" dirty="0" err="1">
                <a:latin typeface="Futura Lt BT Light"/>
                <a:ea typeface="+mn-ea"/>
                <a:cs typeface="+mn-cs"/>
              </a:rPr>
              <a:t>auditorias</a:t>
            </a:r>
            <a:r>
              <a:rPr lang="pt-BR" sz="2400" dirty="0">
                <a:latin typeface="Futura Lt BT Light"/>
                <a:ea typeface="+mn-ea"/>
                <a:cs typeface="+mn-cs"/>
              </a:rPr>
              <a:t>,</a:t>
            </a:r>
            <a:r>
              <a:rPr sz="2400" dirty="0">
                <a:latin typeface="Futura Lt BT Light"/>
                <a:ea typeface="+mn-ea"/>
                <a:cs typeface="+mn-cs"/>
              </a:rPr>
              <a:t> sem histórico de </a:t>
            </a:r>
            <a:r>
              <a:rPr sz="2400" dirty="0" err="1">
                <a:latin typeface="Futura Lt BT Light"/>
                <a:ea typeface="+mn-ea"/>
                <a:cs typeface="+mn-cs"/>
              </a:rPr>
              <a:t>ressalva</a:t>
            </a:r>
            <a:r>
              <a:rPr lang="pt-BR" sz="2400" dirty="0">
                <a:latin typeface="Futura Lt BT Light"/>
                <a:ea typeface="+mn-ea"/>
                <a:cs typeface="+mn-cs"/>
              </a:rPr>
              <a:t>s</a:t>
            </a:r>
            <a:r>
              <a:rPr sz="2400" dirty="0">
                <a:latin typeface="Futura Lt BT Light"/>
                <a:ea typeface="+mn-ea"/>
                <a:cs typeface="+mn-cs"/>
              </a:rPr>
              <a:t> </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Capacidade</a:t>
            </a:r>
            <a:r>
              <a:rPr sz="2400" dirty="0">
                <a:latin typeface="Futura Lt BT Light"/>
                <a:ea typeface="+mn-ea"/>
                <a:cs typeface="+mn-cs"/>
              </a:rPr>
              <a:t> e eficiência comprovada</a:t>
            </a:r>
          </a:p>
          <a:p>
            <a:pPr marL="342900" marR="14605" indent="-342900" algn="just">
              <a:lnSpc>
                <a:spcPct val="150000"/>
              </a:lnSpc>
              <a:spcBef>
                <a:spcPts val="5"/>
              </a:spcBef>
              <a:spcAft>
                <a:spcPts val="600"/>
              </a:spcAft>
              <a:buBlip>
                <a:blip r:embed="rId2"/>
              </a:buBlip>
              <a:tabLst>
                <a:tab pos="450215" algn="l"/>
                <a:tab pos="685800" algn="l"/>
              </a:tabLst>
            </a:pPr>
            <a:r>
              <a:rPr sz="2400" dirty="0">
                <a:latin typeface="Futura Lt BT Light"/>
                <a:ea typeface="+mn-ea"/>
                <a:cs typeface="+mn-cs"/>
              </a:rPr>
              <a:t>Habilitação para avaliação e consultoria econômico-financeira em grande parte dos administradores de fundo de </a:t>
            </a:r>
            <a:r>
              <a:rPr sz="2400" dirty="0" err="1">
                <a:latin typeface="Futura Lt BT Light"/>
                <a:ea typeface="+mn-ea"/>
                <a:cs typeface="+mn-cs"/>
              </a:rPr>
              <a:t>investimento</a:t>
            </a:r>
            <a:r>
              <a:rPr lang="pt-BR" sz="2400" dirty="0">
                <a:latin typeface="Futura Lt BT Light"/>
                <a:ea typeface="+mn-ea"/>
                <a:cs typeface="+mn-cs"/>
              </a:rPr>
              <a:t>s</a:t>
            </a:r>
            <a:endParaRP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Envolvimento direto e ativo dos sócios nos projetos</a:t>
            </a:r>
          </a:p>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Certificações no CREA, CORECON, CRC e </a:t>
            </a:r>
            <a:r>
              <a:rPr lang="pt-BR" sz="2400" dirty="0">
                <a:latin typeface="Futura Lt BT Light"/>
                <a:ea typeface="+mn-ea"/>
                <a:cs typeface="+mn-cs"/>
              </a:rPr>
              <a:t>trabalhos reconhecidos na </a:t>
            </a:r>
            <a:r>
              <a:rPr sz="2400" dirty="0">
                <a:latin typeface="Futura Lt BT Light"/>
                <a:ea typeface="+mn-ea"/>
                <a:cs typeface="+mn-cs"/>
              </a:rPr>
              <a:t>CVM</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Projetos</a:t>
            </a:r>
            <a:r>
              <a:rPr sz="2400" dirty="0">
                <a:latin typeface="Futura Lt BT Light"/>
                <a:ea typeface="+mn-ea"/>
                <a:cs typeface="+mn-cs"/>
              </a:rPr>
              <a:t> realizados em diferentes setores da economia</a:t>
            </a:r>
          </a:p>
          <a:p>
            <a:pPr marL="342900" marR="14605" indent="-342900" algn="just">
              <a:lnSpc>
                <a:spcPct val="150000"/>
              </a:lnSpc>
              <a:spcAft>
                <a:spcPts val="600"/>
              </a:spcAft>
              <a:buBlip>
                <a:blip r:embed="rId2"/>
              </a:buBlip>
              <a:tabLst>
                <a:tab pos="450215" algn="l"/>
                <a:tab pos="685800" algn="l"/>
              </a:tabLst>
            </a:pPr>
            <a:r>
              <a:rPr sz="2400" dirty="0">
                <a:latin typeface="Futura Lt BT Light"/>
                <a:ea typeface="+mn-ea"/>
                <a:cs typeface="+mn-cs"/>
              </a:rPr>
              <a:t>Equipe com mais de 20 anos de experiência em avaliação e fusões e </a:t>
            </a:r>
            <a:r>
              <a:rPr sz="2400" dirty="0" err="1">
                <a:latin typeface="Futura Lt BT Light"/>
                <a:ea typeface="+mn-ea"/>
                <a:cs typeface="+mn-cs"/>
              </a:rPr>
              <a:t>aquisições</a:t>
            </a:r>
            <a:r>
              <a:rPr sz="2400" dirty="0">
                <a:latin typeface="Futura Lt BT Light"/>
                <a:ea typeface="+mn-ea"/>
                <a:cs typeface="+mn-cs"/>
              </a:rPr>
              <a:t> </a:t>
            </a:r>
            <a:endParaRPr lang="pt-BR" sz="2400" dirty="0">
              <a:latin typeface="Futura Lt BT Light"/>
              <a:ea typeface="+mn-ea"/>
              <a:cs typeface="+mn-cs"/>
            </a:endParaRP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Serviços</a:t>
            </a:r>
            <a:r>
              <a:rPr sz="2400" dirty="0">
                <a:latin typeface="Futura Lt BT Light"/>
                <a:ea typeface="+mn-ea"/>
                <a:cs typeface="+mn-cs"/>
              </a:rPr>
              <a:t> personalizados</a:t>
            </a: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Agilidade</a:t>
            </a:r>
            <a:r>
              <a:rPr sz="2400" dirty="0">
                <a:latin typeface="Futura Lt BT Light"/>
                <a:ea typeface="+mn-ea"/>
                <a:cs typeface="+mn-cs"/>
              </a:rPr>
              <a:t> na tomada de decisão</a:t>
            </a:r>
          </a:p>
          <a:p>
            <a:pPr marL="342900" marR="14605" indent="-342900" algn="just">
              <a:lnSpc>
                <a:spcPct val="150000"/>
              </a:lnSpc>
              <a:spcAft>
                <a:spcPts val="600"/>
              </a:spcAft>
              <a:buBlip>
                <a:blip r:embed="rId2"/>
              </a:buBlip>
              <a:tabLst>
                <a:tab pos="450215" algn="l"/>
                <a:tab pos="685800" algn="l"/>
              </a:tabLst>
            </a:pPr>
            <a:r>
              <a:rPr sz="2400" dirty="0" err="1">
                <a:latin typeface="Futura Lt BT Light"/>
                <a:ea typeface="+mn-ea"/>
                <a:cs typeface="+mn-cs"/>
              </a:rPr>
              <a:t>Sólido</a:t>
            </a:r>
            <a:r>
              <a:rPr sz="2400" dirty="0">
                <a:latin typeface="Futura Lt BT Light"/>
                <a:ea typeface="+mn-ea"/>
                <a:cs typeface="+mn-cs"/>
              </a:rPr>
              <a:t> relacionamento com a indústria de investimentos no Brasil</a:t>
            </a:r>
          </a:p>
        </p:txBody>
      </p:sp>
      <p:sp>
        <p:nvSpPr>
          <p:cNvPr id="3" name="object 3"/>
          <p:cNvSpPr txBox="1">
            <a:spLocks noGrp="1"/>
          </p:cNvSpPr>
          <p:nvPr>
            <p:ph type="title"/>
          </p:nvPr>
        </p:nvSpPr>
        <p:spPr>
          <a:xfrm>
            <a:off x="670003" y="635022"/>
            <a:ext cx="12032338" cy="773930"/>
          </a:xfrm>
          <a:prstGeom prst="rect">
            <a:avLst/>
          </a:prstGeom>
        </p:spPr>
        <p:txBody>
          <a:bodyPr vert="horz" wrap="square" lIns="0" tIns="12065" rIns="0" bIns="0" rtlCol="0">
            <a:spAutoFit/>
          </a:bodyPr>
          <a:lstStyle/>
          <a:p>
            <a:pPr marL="12700">
              <a:lnSpc>
                <a:spcPct val="100000"/>
              </a:lnSpc>
              <a:spcBef>
                <a:spcPts val="95"/>
              </a:spcBef>
            </a:pPr>
            <a:r>
              <a:rPr spc="-10" dirty="0">
                <a:latin typeface="Futura Lt BT Light"/>
              </a:rPr>
              <a:t>NOSSOS</a:t>
            </a:r>
            <a:r>
              <a:rPr spc="-245" dirty="0">
                <a:latin typeface="Futura Lt BT Light"/>
              </a:rPr>
              <a:t> </a:t>
            </a:r>
            <a:r>
              <a:rPr spc="-10" dirty="0">
                <a:latin typeface="Futura Lt BT Light"/>
              </a:rPr>
              <a:t>DIFERENCIAIS</a:t>
            </a:r>
          </a:p>
        </p:txBody>
      </p:sp>
      <p:sp>
        <p:nvSpPr>
          <p:cNvPr id="4" name="object 4"/>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grpSp>
        <p:nvGrpSpPr>
          <p:cNvPr id="16" name="object 16"/>
          <p:cNvGrpSpPr/>
          <p:nvPr/>
        </p:nvGrpSpPr>
        <p:grpSpPr>
          <a:xfrm>
            <a:off x="7905518" y="0"/>
            <a:ext cx="12198985" cy="11308715"/>
            <a:chOff x="7905518" y="0"/>
            <a:chExt cx="12198985" cy="11308715"/>
          </a:xfrm>
        </p:grpSpPr>
        <p:sp>
          <p:nvSpPr>
            <p:cNvPr id="17" name="object 17"/>
            <p:cNvSpPr/>
            <p:nvPr/>
          </p:nvSpPr>
          <p:spPr>
            <a:xfrm>
              <a:off x="16093750" y="0"/>
              <a:ext cx="4010660" cy="11308715"/>
            </a:xfrm>
            <a:custGeom>
              <a:avLst/>
              <a:gdLst/>
              <a:ahLst/>
              <a:cxnLst/>
              <a:rect l="l" t="t" r="r" b="b"/>
              <a:pathLst>
                <a:path w="4010659" h="11308715">
                  <a:moveTo>
                    <a:pt x="4010349" y="0"/>
                  </a:moveTo>
                  <a:lnTo>
                    <a:pt x="0" y="0"/>
                  </a:lnTo>
                  <a:lnTo>
                    <a:pt x="0" y="11308556"/>
                  </a:lnTo>
                  <a:lnTo>
                    <a:pt x="4010349" y="11308556"/>
                  </a:lnTo>
                  <a:lnTo>
                    <a:pt x="4010349" y="0"/>
                  </a:lnTo>
                  <a:close/>
                </a:path>
              </a:pathLst>
            </a:custGeom>
            <a:solidFill>
              <a:srgbClr val="C69A78">
                <a:alpha val="89999"/>
              </a:srgbClr>
            </a:solidFill>
          </p:spPr>
          <p:txBody>
            <a:bodyPr wrap="square" lIns="0" tIns="0" rIns="0" bIns="0" rtlCol="0"/>
            <a:lstStyle/>
            <a:p>
              <a:endParaRPr/>
            </a:p>
          </p:txBody>
        </p:sp>
        <p:sp>
          <p:nvSpPr>
            <p:cNvPr id="18" name="object 18"/>
            <p:cNvSpPr/>
            <p:nvPr/>
          </p:nvSpPr>
          <p:spPr>
            <a:xfrm>
              <a:off x="7905518" y="937259"/>
              <a:ext cx="10701655" cy="440055"/>
            </a:xfrm>
            <a:custGeom>
              <a:avLst/>
              <a:gdLst/>
              <a:ahLst/>
              <a:cxnLst/>
              <a:rect l="l" t="t" r="r" b="b"/>
              <a:pathLst>
                <a:path w="10701655" h="440055">
                  <a:moveTo>
                    <a:pt x="10701244" y="0"/>
                  </a:moveTo>
                  <a:lnTo>
                    <a:pt x="0" y="0"/>
                  </a:lnTo>
                  <a:lnTo>
                    <a:pt x="0" y="439777"/>
                  </a:lnTo>
                  <a:lnTo>
                    <a:pt x="10701244" y="439777"/>
                  </a:lnTo>
                  <a:lnTo>
                    <a:pt x="10701244" y="0"/>
                  </a:lnTo>
                  <a:close/>
                </a:path>
              </a:pathLst>
            </a:custGeom>
            <a:solidFill>
              <a:srgbClr val="929286"/>
            </a:solidFill>
          </p:spPr>
          <p:txBody>
            <a:bodyPr wrap="square" lIns="0" tIns="0" rIns="0" bIns="0" rtlCol="0"/>
            <a:lstStyle/>
            <a:p>
              <a:endParaRPr/>
            </a:p>
          </p:txBody>
        </p:sp>
        <p:sp>
          <p:nvSpPr>
            <p:cNvPr id="19" name="object 19"/>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grpSp>
      <p:sp>
        <p:nvSpPr>
          <p:cNvPr id="22" name="object 24">
            <a:extLst>
              <a:ext uri="{FF2B5EF4-FFF2-40B4-BE49-F238E27FC236}">
                <a16:creationId xmlns:a16="http://schemas.microsoft.com/office/drawing/2014/main" id="{C365A084-D3CD-2BEE-347C-26DE2B75FB85}"/>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23" name="Espaço Reservado para Número de Slide 22">
            <a:extLst>
              <a:ext uri="{FF2B5EF4-FFF2-40B4-BE49-F238E27FC236}">
                <a16:creationId xmlns:a16="http://schemas.microsoft.com/office/drawing/2014/main" id="{8E2FD7B5-3876-E94C-64DF-BF0E7F6343F1}"/>
              </a:ext>
            </a:extLst>
          </p:cNvPr>
          <p:cNvSpPr>
            <a:spLocks noGrp="1"/>
          </p:cNvSpPr>
          <p:nvPr>
            <p:ph type="sldNum" sz="quarter" idx="7"/>
          </p:nvPr>
        </p:nvSpPr>
        <p:spPr>
          <a:xfrm>
            <a:off x="15005050" y="10988675"/>
            <a:ext cx="4623943" cy="215444"/>
          </a:xfrm>
        </p:spPr>
        <p:txBody>
          <a:bodyPr/>
          <a:lstStyle/>
          <a:p>
            <a:fld id="{B6F15528-21DE-4FAA-801E-634DDDAF4B2B}" type="slidenum">
              <a:rPr lang="en-US" sz="1400" smtClean="0">
                <a:solidFill>
                  <a:schemeClr val="bg1"/>
                </a:solidFill>
                <a:latin typeface="Futura Lt BT" panose="020B0402020204020303" pitchFamily="34" charset="0"/>
              </a:rPr>
              <a:pPr/>
              <a:t>6</a:t>
            </a:fld>
            <a:endParaRPr lang="en-US" sz="1400" dirty="0">
              <a:solidFill>
                <a:schemeClr val="bg1"/>
              </a:solidFill>
              <a:latin typeface="Futura Lt BT" panose="020B0402020204020303" pitchFamily="34"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object 3"/>
          <p:cNvPicPr/>
          <p:nvPr/>
        </p:nvPicPr>
        <p:blipFill>
          <a:blip r:embed="rId2" cstate="print"/>
          <a:stretch>
            <a:fillRect/>
          </a:stretch>
        </p:blipFill>
        <p:spPr>
          <a:xfrm>
            <a:off x="11216343" y="8983478"/>
            <a:ext cx="2194005" cy="652267"/>
          </a:xfrm>
          <a:prstGeom prst="rect">
            <a:avLst/>
          </a:prstGeom>
        </p:spPr>
      </p:pic>
      <p:sp>
        <p:nvSpPr>
          <p:cNvPr id="4" name="object 4"/>
          <p:cNvSpPr/>
          <p:nvPr/>
        </p:nvSpPr>
        <p:spPr>
          <a:xfrm>
            <a:off x="14154894" y="2432184"/>
            <a:ext cx="2512060" cy="912494"/>
          </a:xfrm>
          <a:custGeom>
            <a:avLst/>
            <a:gdLst/>
            <a:ahLst/>
            <a:cxnLst/>
            <a:rect l="l" t="t" r="r" b="b"/>
            <a:pathLst>
              <a:path w="2512059" h="912495">
                <a:moveTo>
                  <a:pt x="2055832" y="0"/>
                </a:moveTo>
                <a:lnTo>
                  <a:pt x="456069" y="0"/>
                </a:lnTo>
                <a:lnTo>
                  <a:pt x="409438" y="2354"/>
                </a:lnTo>
                <a:lnTo>
                  <a:pt x="364153" y="9265"/>
                </a:lnTo>
                <a:lnTo>
                  <a:pt x="320445" y="20504"/>
                </a:lnTo>
                <a:lnTo>
                  <a:pt x="278543" y="35840"/>
                </a:lnTo>
                <a:lnTo>
                  <a:pt x="238676" y="55046"/>
                </a:lnTo>
                <a:lnTo>
                  <a:pt x="201073" y="77890"/>
                </a:lnTo>
                <a:lnTo>
                  <a:pt x="165964" y="104146"/>
                </a:lnTo>
                <a:lnTo>
                  <a:pt x="133577" y="133582"/>
                </a:lnTo>
                <a:lnTo>
                  <a:pt x="104141" y="165970"/>
                </a:lnTo>
                <a:lnTo>
                  <a:pt x="77887" y="201080"/>
                </a:lnTo>
                <a:lnTo>
                  <a:pt x="55043" y="238684"/>
                </a:lnTo>
                <a:lnTo>
                  <a:pt x="35839" y="278552"/>
                </a:lnTo>
                <a:lnTo>
                  <a:pt x="20503" y="320455"/>
                </a:lnTo>
                <a:lnTo>
                  <a:pt x="9265" y="364163"/>
                </a:lnTo>
                <a:lnTo>
                  <a:pt x="2354" y="409448"/>
                </a:lnTo>
                <a:lnTo>
                  <a:pt x="0" y="456080"/>
                </a:lnTo>
                <a:lnTo>
                  <a:pt x="2354" y="502710"/>
                </a:lnTo>
                <a:lnTo>
                  <a:pt x="9265" y="547993"/>
                </a:lnTo>
                <a:lnTo>
                  <a:pt x="20503" y="591700"/>
                </a:lnTo>
                <a:lnTo>
                  <a:pt x="35839" y="633601"/>
                </a:lnTo>
                <a:lnTo>
                  <a:pt x="55043" y="673468"/>
                </a:lnTo>
                <a:lnTo>
                  <a:pt x="77887" y="711071"/>
                </a:lnTo>
                <a:lnTo>
                  <a:pt x="104141" y="746181"/>
                </a:lnTo>
                <a:lnTo>
                  <a:pt x="133577" y="778569"/>
                </a:lnTo>
                <a:lnTo>
                  <a:pt x="165964" y="808004"/>
                </a:lnTo>
                <a:lnTo>
                  <a:pt x="201073" y="834259"/>
                </a:lnTo>
                <a:lnTo>
                  <a:pt x="238676" y="857104"/>
                </a:lnTo>
                <a:lnTo>
                  <a:pt x="278543" y="876309"/>
                </a:lnTo>
                <a:lnTo>
                  <a:pt x="320445" y="891645"/>
                </a:lnTo>
                <a:lnTo>
                  <a:pt x="364153" y="902884"/>
                </a:lnTo>
                <a:lnTo>
                  <a:pt x="409438" y="909795"/>
                </a:lnTo>
                <a:lnTo>
                  <a:pt x="456069" y="912150"/>
                </a:lnTo>
                <a:lnTo>
                  <a:pt x="2055832" y="912150"/>
                </a:lnTo>
                <a:lnTo>
                  <a:pt x="2102464" y="909795"/>
                </a:lnTo>
                <a:lnTo>
                  <a:pt x="2147748" y="902884"/>
                </a:lnTo>
                <a:lnTo>
                  <a:pt x="2191456" y="891645"/>
                </a:lnTo>
                <a:lnTo>
                  <a:pt x="2233358" y="876309"/>
                </a:lnTo>
                <a:lnTo>
                  <a:pt x="2273225" y="857104"/>
                </a:lnTo>
                <a:lnTo>
                  <a:pt x="2310828" y="834259"/>
                </a:lnTo>
                <a:lnTo>
                  <a:pt x="2345938" y="808004"/>
                </a:lnTo>
                <a:lnTo>
                  <a:pt x="2378325" y="778569"/>
                </a:lnTo>
                <a:lnTo>
                  <a:pt x="2407760" y="746181"/>
                </a:lnTo>
                <a:lnTo>
                  <a:pt x="2434014" y="711071"/>
                </a:lnTo>
                <a:lnTo>
                  <a:pt x="2456858" y="673468"/>
                </a:lnTo>
                <a:lnTo>
                  <a:pt x="2476063" y="633601"/>
                </a:lnTo>
                <a:lnTo>
                  <a:pt x="2491399" y="591700"/>
                </a:lnTo>
                <a:lnTo>
                  <a:pt x="2502637" y="547993"/>
                </a:lnTo>
                <a:lnTo>
                  <a:pt x="2509548" y="502710"/>
                </a:lnTo>
                <a:lnTo>
                  <a:pt x="2511902" y="456080"/>
                </a:lnTo>
                <a:lnTo>
                  <a:pt x="2509548" y="409448"/>
                </a:lnTo>
                <a:lnTo>
                  <a:pt x="2502637" y="364163"/>
                </a:lnTo>
                <a:lnTo>
                  <a:pt x="2491399" y="320455"/>
                </a:lnTo>
                <a:lnTo>
                  <a:pt x="2476063" y="278552"/>
                </a:lnTo>
                <a:lnTo>
                  <a:pt x="2456858" y="238684"/>
                </a:lnTo>
                <a:lnTo>
                  <a:pt x="2434014" y="201080"/>
                </a:lnTo>
                <a:lnTo>
                  <a:pt x="2407760" y="165970"/>
                </a:lnTo>
                <a:lnTo>
                  <a:pt x="2378325" y="133582"/>
                </a:lnTo>
                <a:lnTo>
                  <a:pt x="2345938" y="104146"/>
                </a:lnTo>
                <a:lnTo>
                  <a:pt x="2310828" y="77890"/>
                </a:lnTo>
                <a:lnTo>
                  <a:pt x="2273225" y="55046"/>
                </a:lnTo>
                <a:lnTo>
                  <a:pt x="2233358" y="35840"/>
                </a:lnTo>
                <a:lnTo>
                  <a:pt x="2191456" y="20504"/>
                </a:lnTo>
                <a:lnTo>
                  <a:pt x="2147748" y="9265"/>
                </a:lnTo>
                <a:lnTo>
                  <a:pt x="2102464" y="2354"/>
                </a:lnTo>
                <a:lnTo>
                  <a:pt x="2055832" y="0"/>
                </a:lnTo>
                <a:close/>
              </a:path>
            </a:pathLst>
          </a:custGeom>
          <a:solidFill>
            <a:srgbClr val="D0A17C"/>
          </a:solidFill>
        </p:spPr>
        <p:txBody>
          <a:bodyPr wrap="square" lIns="0" tIns="0" rIns="0" bIns="0" rtlCol="0"/>
          <a:lstStyle/>
          <a:p>
            <a:endParaRPr>
              <a:latin typeface="Futura Lt BT Light"/>
            </a:endParaRPr>
          </a:p>
        </p:txBody>
      </p:sp>
      <p:sp>
        <p:nvSpPr>
          <p:cNvPr id="5" name="object 5"/>
          <p:cNvSpPr txBox="1"/>
          <p:nvPr/>
        </p:nvSpPr>
        <p:spPr>
          <a:xfrm>
            <a:off x="14545143" y="2497007"/>
            <a:ext cx="2121811" cy="703206"/>
          </a:xfrm>
          <a:prstGeom prst="rect">
            <a:avLst/>
          </a:prstGeom>
        </p:spPr>
        <p:txBody>
          <a:bodyPr vert="horz" wrap="square" lIns="0" tIns="12065" rIns="0" bIns="0" rtlCol="0">
            <a:spAutoFit/>
          </a:bodyPr>
          <a:lstStyle/>
          <a:p>
            <a:pPr marL="12700" marR="5080">
              <a:lnSpc>
                <a:spcPct val="100800"/>
              </a:lnSpc>
              <a:spcBef>
                <a:spcPts val="95"/>
              </a:spcBef>
            </a:pPr>
            <a:r>
              <a:rPr sz="2300" spc="-10" dirty="0">
                <a:solidFill>
                  <a:srgbClr val="FFFFFF"/>
                </a:solidFill>
                <a:latin typeface="Futura Lt BT Light"/>
                <a:cs typeface="Futura PT Book"/>
              </a:rPr>
              <a:t>SERVIÇOS FINANCEIROS</a:t>
            </a:r>
            <a:endParaRPr sz="2300" dirty="0">
              <a:latin typeface="Futura Lt BT Light"/>
              <a:cs typeface="Futura PT Book"/>
            </a:endParaRPr>
          </a:p>
        </p:txBody>
      </p:sp>
      <p:grpSp>
        <p:nvGrpSpPr>
          <p:cNvPr id="6" name="object 6"/>
          <p:cNvGrpSpPr/>
          <p:nvPr/>
        </p:nvGrpSpPr>
        <p:grpSpPr>
          <a:xfrm>
            <a:off x="11317405" y="2323206"/>
            <a:ext cx="1996439" cy="3027045"/>
            <a:chOff x="11317405" y="2323206"/>
            <a:chExt cx="1996439" cy="3027045"/>
          </a:xfrm>
        </p:grpSpPr>
        <p:pic>
          <p:nvPicPr>
            <p:cNvPr id="7" name="object 7"/>
            <p:cNvPicPr/>
            <p:nvPr/>
          </p:nvPicPr>
          <p:blipFill>
            <a:blip r:embed="rId3" cstate="print"/>
            <a:stretch>
              <a:fillRect/>
            </a:stretch>
          </p:blipFill>
          <p:spPr>
            <a:xfrm>
              <a:off x="11742704" y="2323206"/>
              <a:ext cx="1265338" cy="1223981"/>
            </a:xfrm>
            <a:prstGeom prst="rect">
              <a:avLst/>
            </a:prstGeom>
          </p:spPr>
        </p:pic>
        <p:pic>
          <p:nvPicPr>
            <p:cNvPr id="8" name="object 8"/>
            <p:cNvPicPr/>
            <p:nvPr/>
          </p:nvPicPr>
          <p:blipFill>
            <a:blip r:embed="rId4" cstate="print"/>
            <a:stretch>
              <a:fillRect/>
            </a:stretch>
          </p:blipFill>
          <p:spPr>
            <a:xfrm>
              <a:off x="11317405" y="3348484"/>
              <a:ext cx="1996021" cy="2001394"/>
            </a:xfrm>
            <a:prstGeom prst="rect">
              <a:avLst/>
            </a:prstGeom>
          </p:spPr>
        </p:pic>
      </p:grpSp>
      <p:pic>
        <p:nvPicPr>
          <p:cNvPr id="9" name="object 9"/>
          <p:cNvPicPr/>
          <p:nvPr/>
        </p:nvPicPr>
        <p:blipFill>
          <a:blip r:embed="rId5" cstate="print"/>
          <a:stretch>
            <a:fillRect/>
          </a:stretch>
        </p:blipFill>
        <p:spPr>
          <a:xfrm>
            <a:off x="1372620" y="2366711"/>
            <a:ext cx="1382611" cy="894482"/>
          </a:xfrm>
          <a:prstGeom prst="rect">
            <a:avLst/>
          </a:prstGeom>
        </p:spPr>
      </p:pic>
      <p:pic>
        <p:nvPicPr>
          <p:cNvPr id="11" name="object 11"/>
          <p:cNvPicPr/>
          <p:nvPr/>
        </p:nvPicPr>
        <p:blipFill>
          <a:blip r:embed="rId6" cstate="print"/>
          <a:stretch>
            <a:fillRect/>
          </a:stretch>
        </p:blipFill>
        <p:spPr>
          <a:xfrm>
            <a:off x="7907297" y="2713234"/>
            <a:ext cx="2343983" cy="352231"/>
          </a:xfrm>
          <a:prstGeom prst="rect">
            <a:avLst/>
          </a:prstGeom>
        </p:spPr>
      </p:pic>
      <p:pic>
        <p:nvPicPr>
          <p:cNvPr id="12" name="object 12"/>
          <p:cNvPicPr/>
          <p:nvPr/>
        </p:nvPicPr>
        <p:blipFill>
          <a:blip r:embed="rId7" cstate="print"/>
          <a:stretch>
            <a:fillRect/>
          </a:stretch>
        </p:blipFill>
        <p:spPr>
          <a:xfrm>
            <a:off x="1261713" y="4020384"/>
            <a:ext cx="1795389" cy="725727"/>
          </a:xfrm>
          <a:prstGeom prst="rect">
            <a:avLst/>
          </a:prstGeom>
        </p:spPr>
      </p:pic>
      <p:pic>
        <p:nvPicPr>
          <p:cNvPr id="13" name="object 13"/>
          <p:cNvPicPr/>
          <p:nvPr/>
        </p:nvPicPr>
        <p:blipFill>
          <a:blip r:embed="rId8" cstate="print"/>
          <a:stretch>
            <a:fillRect/>
          </a:stretch>
        </p:blipFill>
        <p:spPr>
          <a:xfrm>
            <a:off x="8123456" y="4049816"/>
            <a:ext cx="2177974" cy="504958"/>
          </a:xfrm>
          <a:prstGeom prst="rect">
            <a:avLst/>
          </a:prstGeom>
        </p:spPr>
      </p:pic>
      <p:sp>
        <p:nvSpPr>
          <p:cNvPr id="14" name="object 14"/>
          <p:cNvSpPr/>
          <p:nvPr/>
        </p:nvSpPr>
        <p:spPr>
          <a:xfrm>
            <a:off x="14154894" y="3963184"/>
            <a:ext cx="2512060" cy="912494"/>
          </a:xfrm>
          <a:custGeom>
            <a:avLst/>
            <a:gdLst/>
            <a:ahLst/>
            <a:cxnLst/>
            <a:rect l="l" t="t" r="r" b="b"/>
            <a:pathLst>
              <a:path w="2512059" h="912495">
                <a:moveTo>
                  <a:pt x="2055832" y="0"/>
                </a:moveTo>
                <a:lnTo>
                  <a:pt x="456069" y="0"/>
                </a:lnTo>
                <a:lnTo>
                  <a:pt x="409438" y="2354"/>
                </a:lnTo>
                <a:lnTo>
                  <a:pt x="364153" y="9265"/>
                </a:lnTo>
                <a:lnTo>
                  <a:pt x="320445" y="20504"/>
                </a:lnTo>
                <a:lnTo>
                  <a:pt x="278543" y="35840"/>
                </a:lnTo>
                <a:lnTo>
                  <a:pt x="238676" y="55046"/>
                </a:lnTo>
                <a:lnTo>
                  <a:pt x="201073" y="77890"/>
                </a:lnTo>
                <a:lnTo>
                  <a:pt x="165964" y="104146"/>
                </a:lnTo>
                <a:lnTo>
                  <a:pt x="133577" y="133582"/>
                </a:lnTo>
                <a:lnTo>
                  <a:pt x="104141" y="165970"/>
                </a:lnTo>
                <a:lnTo>
                  <a:pt x="77887" y="201080"/>
                </a:lnTo>
                <a:lnTo>
                  <a:pt x="55043" y="238684"/>
                </a:lnTo>
                <a:lnTo>
                  <a:pt x="35839" y="278552"/>
                </a:lnTo>
                <a:lnTo>
                  <a:pt x="20503" y="320455"/>
                </a:lnTo>
                <a:lnTo>
                  <a:pt x="9265" y="364163"/>
                </a:lnTo>
                <a:lnTo>
                  <a:pt x="2354" y="409448"/>
                </a:lnTo>
                <a:lnTo>
                  <a:pt x="0" y="456080"/>
                </a:lnTo>
                <a:lnTo>
                  <a:pt x="2354" y="502710"/>
                </a:lnTo>
                <a:lnTo>
                  <a:pt x="9265" y="547993"/>
                </a:lnTo>
                <a:lnTo>
                  <a:pt x="20503" y="591700"/>
                </a:lnTo>
                <a:lnTo>
                  <a:pt x="35839" y="633601"/>
                </a:lnTo>
                <a:lnTo>
                  <a:pt x="55043" y="673468"/>
                </a:lnTo>
                <a:lnTo>
                  <a:pt x="77887" y="711071"/>
                </a:lnTo>
                <a:lnTo>
                  <a:pt x="104141" y="746181"/>
                </a:lnTo>
                <a:lnTo>
                  <a:pt x="133577" y="778569"/>
                </a:lnTo>
                <a:lnTo>
                  <a:pt x="165964" y="808004"/>
                </a:lnTo>
                <a:lnTo>
                  <a:pt x="201073" y="834259"/>
                </a:lnTo>
                <a:lnTo>
                  <a:pt x="238676" y="857104"/>
                </a:lnTo>
                <a:lnTo>
                  <a:pt x="278543" y="876309"/>
                </a:lnTo>
                <a:lnTo>
                  <a:pt x="320445" y="891645"/>
                </a:lnTo>
                <a:lnTo>
                  <a:pt x="364153" y="902884"/>
                </a:lnTo>
                <a:lnTo>
                  <a:pt x="409438" y="909795"/>
                </a:lnTo>
                <a:lnTo>
                  <a:pt x="456069" y="912150"/>
                </a:lnTo>
                <a:lnTo>
                  <a:pt x="2055832" y="912150"/>
                </a:lnTo>
                <a:lnTo>
                  <a:pt x="2102464" y="909795"/>
                </a:lnTo>
                <a:lnTo>
                  <a:pt x="2147748" y="902884"/>
                </a:lnTo>
                <a:lnTo>
                  <a:pt x="2191456" y="891645"/>
                </a:lnTo>
                <a:lnTo>
                  <a:pt x="2233358" y="876309"/>
                </a:lnTo>
                <a:lnTo>
                  <a:pt x="2273225" y="857104"/>
                </a:lnTo>
                <a:lnTo>
                  <a:pt x="2310828" y="834259"/>
                </a:lnTo>
                <a:lnTo>
                  <a:pt x="2345938" y="808004"/>
                </a:lnTo>
                <a:lnTo>
                  <a:pt x="2378325" y="778569"/>
                </a:lnTo>
                <a:lnTo>
                  <a:pt x="2407760" y="746181"/>
                </a:lnTo>
                <a:lnTo>
                  <a:pt x="2434014" y="711071"/>
                </a:lnTo>
                <a:lnTo>
                  <a:pt x="2456858" y="673468"/>
                </a:lnTo>
                <a:lnTo>
                  <a:pt x="2476063" y="633601"/>
                </a:lnTo>
                <a:lnTo>
                  <a:pt x="2491399" y="591700"/>
                </a:lnTo>
                <a:lnTo>
                  <a:pt x="2502637" y="547993"/>
                </a:lnTo>
                <a:lnTo>
                  <a:pt x="2509548" y="502710"/>
                </a:lnTo>
                <a:lnTo>
                  <a:pt x="2511902" y="456080"/>
                </a:lnTo>
                <a:lnTo>
                  <a:pt x="2509548" y="409448"/>
                </a:lnTo>
                <a:lnTo>
                  <a:pt x="2502637" y="364163"/>
                </a:lnTo>
                <a:lnTo>
                  <a:pt x="2491399" y="320455"/>
                </a:lnTo>
                <a:lnTo>
                  <a:pt x="2476063" y="278552"/>
                </a:lnTo>
                <a:lnTo>
                  <a:pt x="2456858" y="238684"/>
                </a:lnTo>
                <a:lnTo>
                  <a:pt x="2434014" y="201080"/>
                </a:lnTo>
                <a:lnTo>
                  <a:pt x="2407760" y="165970"/>
                </a:lnTo>
                <a:lnTo>
                  <a:pt x="2378325" y="133582"/>
                </a:lnTo>
                <a:lnTo>
                  <a:pt x="2345938" y="104146"/>
                </a:lnTo>
                <a:lnTo>
                  <a:pt x="2310828" y="77890"/>
                </a:lnTo>
                <a:lnTo>
                  <a:pt x="2273225" y="55046"/>
                </a:lnTo>
                <a:lnTo>
                  <a:pt x="2233358" y="35840"/>
                </a:lnTo>
                <a:lnTo>
                  <a:pt x="2191456" y="20504"/>
                </a:lnTo>
                <a:lnTo>
                  <a:pt x="2147748" y="9265"/>
                </a:lnTo>
                <a:lnTo>
                  <a:pt x="2102464" y="2354"/>
                </a:lnTo>
                <a:lnTo>
                  <a:pt x="2055832" y="0"/>
                </a:lnTo>
                <a:close/>
              </a:path>
            </a:pathLst>
          </a:custGeom>
          <a:solidFill>
            <a:srgbClr val="D0A17C"/>
          </a:solidFill>
        </p:spPr>
        <p:txBody>
          <a:bodyPr wrap="square" lIns="0" tIns="0" rIns="0" bIns="0" rtlCol="0"/>
          <a:lstStyle/>
          <a:p>
            <a:endParaRPr>
              <a:latin typeface="Futura Lt BT Light"/>
            </a:endParaRPr>
          </a:p>
        </p:txBody>
      </p:sp>
      <p:sp>
        <p:nvSpPr>
          <p:cNvPr id="15" name="object 15"/>
          <p:cNvSpPr txBox="1"/>
          <p:nvPr/>
        </p:nvSpPr>
        <p:spPr>
          <a:xfrm>
            <a:off x="14846243" y="4224078"/>
            <a:ext cx="1556553" cy="368690"/>
          </a:xfrm>
          <a:prstGeom prst="rect">
            <a:avLst/>
          </a:prstGeom>
        </p:spPr>
        <p:txBody>
          <a:bodyPr vert="horz" wrap="square" lIns="0" tIns="14604" rIns="0" bIns="0" rtlCol="0">
            <a:spAutoFit/>
          </a:bodyPr>
          <a:lstStyle/>
          <a:p>
            <a:pPr marL="12700">
              <a:lnSpc>
                <a:spcPct val="100000"/>
              </a:lnSpc>
              <a:spcBef>
                <a:spcPts val="114"/>
              </a:spcBef>
            </a:pPr>
            <a:r>
              <a:rPr sz="2300" spc="-10" dirty="0">
                <a:solidFill>
                  <a:srgbClr val="FFFFFF"/>
                </a:solidFill>
                <a:latin typeface="Futura Lt BT Light"/>
                <a:cs typeface="Futura PT Book"/>
              </a:rPr>
              <a:t>ENERGIA</a:t>
            </a:r>
            <a:endParaRPr sz="2300" dirty="0">
              <a:latin typeface="Futura Lt BT Light"/>
              <a:cs typeface="Futura PT Book"/>
            </a:endParaRPr>
          </a:p>
        </p:txBody>
      </p:sp>
      <p:pic>
        <p:nvPicPr>
          <p:cNvPr id="16" name="object 16"/>
          <p:cNvPicPr/>
          <p:nvPr/>
        </p:nvPicPr>
        <p:blipFill>
          <a:blip r:embed="rId9" cstate="print"/>
          <a:stretch>
            <a:fillRect/>
          </a:stretch>
        </p:blipFill>
        <p:spPr>
          <a:xfrm>
            <a:off x="4061261" y="4026654"/>
            <a:ext cx="2795591" cy="713186"/>
          </a:xfrm>
          <a:prstGeom prst="rect">
            <a:avLst/>
          </a:prstGeom>
        </p:spPr>
      </p:pic>
      <p:pic>
        <p:nvPicPr>
          <p:cNvPr id="17" name="object 17"/>
          <p:cNvPicPr/>
          <p:nvPr/>
        </p:nvPicPr>
        <p:blipFill>
          <a:blip r:embed="rId10" cstate="print"/>
          <a:stretch>
            <a:fillRect/>
          </a:stretch>
        </p:blipFill>
        <p:spPr>
          <a:xfrm>
            <a:off x="1667470" y="5418949"/>
            <a:ext cx="1021992" cy="1016830"/>
          </a:xfrm>
          <a:prstGeom prst="rect">
            <a:avLst/>
          </a:prstGeom>
        </p:spPr>
      </p:pic>
      <p:pic>
        <p:nvPicPr>
          <p:cNvPr id="18" name="object 18"/>
          <p:cNvPicPr/>
          <p:nvPr/>
        </p:nvPicPr>
        <p:blipFill>
          <a:blip r:embed="rId11" cstate="print"/>
          <a:stretch>
            <a:fillRect/>
          </a:stretch>
        </p:blipFill>
        <p:spPr>
          <a:xfrm>
            <a:off x="4341683" y="5597808"/>
            <a:ext cx="1720351" cy="644912"/>
          </a:xfrm>
          <a:prstGeom prst="rect">
            <a:avLst/>
          </a:prstGeom>
        </p:spPr>
      </p:pic>
      <p:sp>
        <p:nvSpPr>
          <p:cNvPr id="19" name="object 19"/>
          <p:cNvSpPr/>
          <p:nvPr/>
        </p:nvSpPr>
        <p:spPr>
          <a:xfrm>
            <a:off x="14154894" y="5587309"/>
            <a:ext cx="2512060" cy="912494"/>
          </a:xfrm>
          <a:custGeom>
            <a:avLst/>
            <a:gdLst/>
            <a:ahLst/>
            <a:cxnLst/>
            <a:rect l="l" t="t" r="r" b="b"/>
            <a:pathLst>
              <a:path w="2512059" h="912495">
                <a:moveTo>
                  <a:pt x="2055832" y="0"/>
                </a:moveTo>
                <a:lnTo>
                  <a:pt x="456069" y="0"/>
                </a:lnTo>
                <a:lnTo>
                  <a:pt x="409438" y="2354"/>
                </a:lnTo>
                <a:lnTo>
                  <a:pt x="364153" y="9265"/>
                </a:lnTo>
                <a:lnTo>
                  <a:pt x="320445" y="20504"/>
                </a:lnTo>
                <a:lnTo>
                  <a:pt x="278543" y="35840"/>
                </a:lnTo>
                <a:lnTo>
                  <a:pt x="238676" y="55046"/>
                </a:lnTo>
                <a:lnTo>
                  <a:pt x="201073" y="77890"/>
                </a:lnTo>
                <a:lnTo>
                  <a:pt x="165964" y="104146"/>
                </a:lnTo>
                <a:lnTo>
                  <a:pt x="133577" y="133582"/>
                </a:lnTo>
                <a:lnTo>
                  <a:pt x="104141" y="165970"/>
                </a:lnTo>
                <a:lnTo>
                  <a:pt x="77887" y="201080"/>
                </a:lnTo>
                <a:lnTo>
                  <a:pt x="55043" y="238684"/>
                </a:lnTo>
                <a:lnTo>
                  <a:pt x="35839" y="278552"/>
                </a:lnTo>
                <a:lnTo>
                  <a:pt x="20503" y="320455"/>
                </a:lnTo>
                <a:lnTo>
                  <a:pt x="9265" y="364163"/>
                </a:lnTo>
                <a:lnTo>
                  <a:pt x="2354" y="409448"/>
                </a:lnTo>
                <a:lnTo>
                  <a:pt x="0" y="456080"/>
                </a:lnTo>
                <a:lnTo>
                  <a:pt x="2354" y="502710"/>
                </a:lnTo>
                <a:lnTo>
                  <a:pt x="9265" y="547993"/>
                </a:lnTo>
                <a:lnTo>
                  <a:pt x="20503" y="591700"/>
                </a:lnTo>
                <a:lnTo>
                  <a:pt x="35839" y="633601"/>
                </a:lnTo>
                <a:lnTo>
                  <a:pt x="55043" y="673468"/>
                </a:lnTo>
                <a:lnTo>
                  <a:pt x="77887" y="711071"/>
                </a:lnTo>
                <a:lnTo>
                  <a:pt x="104141" y="746181"/>
                </a:lnTo>
                <a:lnTo>
                  <a:pt x="133577" y="778569"/>
                </a:lnTo>
                <a:lnTo>
                  <a:pt x="165964" y="808004"/>
                </a:lnTo>
                <a:lnTo>
                  <a:pt x="201073" y="834259"/>
                </a:lnTo>
                <a:lnTo>
                  <a:pt x="238676" y="857104"/>
                </a:lnTo>
                <a:lnTo>
                  <a:pt x="278543" y="876309"/>
                </a:lnTo>
                <a:lnTo>
                  <a:pt x="320445" y="891645"/>
                </a:lnTo>
                <a:lnTo>
                  <a:pt x="364153" y="902884"/>
                </a:lnTo>
                <a:lnTo>
                  <a:pt x="409438" y="909795"/>
                </a:lnTo>
                <a:lnTo>
                  <a:pt x="456069" y="912150"/>
                </a:lnTo>
                <a:lnTo>
                  <a:pt x="2055832" y="912150"/>
                </a:lnTo>
                <a:lnTo>
                  <a:pt x="2102464" y="909795"/>
                </a:lnTo>
                <a:lnTo>
                  <a:pt x="2147748" y="902884"/>
                </a:lnTo>
                <a:lnTo>
                  <a:pt x="2191456" y="891645"/>
                </a:lnTo>
                <a:lnTo>
                  <a:pt x="2233358" y="876309"/>
                </a:lnTo>
                <a:lnTo>
                  <a:pt x="2273225" y="857104"/>
                </a:lnTo>
                <a:lnTo>
                  <a:pt x="2310828" y="834259"/>
                </a:lnTo>
                <a:lnTo>
                  <a:pt x="2345938" y="808004"/>
                </a:lnTo>
                <a:lnTo>
                  <a:pt x="2378325" y="778569"/>
                </a:lnTo>
                <a:lnTo>
                  <a:pt x="2407760" y="746181"/>
                </a:lnTo>
                <a:lnTo>
                  <a:pt x="2434014" y="711071"/>
                </a:lnTo>
                <a:lnTo>
                  <a:pt x="2456858" y="673468"/>
                </a:lnTo>
                <a:lnTo>
                  <a:pt x="2476063" y="633601"/>
                </a:lnTo>
                <a:lnTo>
                  <a:pt x="2491399" y="591700"/>
                </a:lnTo>
                <a:lnTo>
                  <a:pt x="2502637" y="547993"/>
                </a:lnTo>
                <a:lnTo>
                  <a:pt x="2509548" y="502710"/>
                </a:lnTo>
                <a:lnTo>
                  <a:pt x="2511902" y="456080"/>
                </a:lnTo>
                <a:lnTo>
                  <a:pt x="2509548" y="409448"/>
                </a:lnTo>
                <a:lnTo>
                  <a:pt x="2502637" y="364163"/>
                </a:lnTo>
                <a:lnTo>
                  <a:pt x="2491399" y="320455"/>
                </a:lnTo>
                <a:lnTo>
                  <a:pt x="2476063" y="278552"/>
                </a:lnTo>
                <a:lnTo>
                  <a:pt x="2456858" y="238684"/>
                </a:lnTo>
                <a:lnTo>
                  <a:pt x="2434014" y="201080"/>
                </a:lnTo>
                <a:lnTo>
                  <a:pt x="2407760" y="165970"/>
                </a:lnTo>
                <a:lnTo>
                  <a:pt x="2378325" y="133582"/>
                </a:lnTo>
                <a:lnTo>
                  <a:pt x="2345938" y="104146"/>
                </a:lnTo>
                <a:lnTo>
                  <a:pt x="2310828" y="77890"/>
                </a:lnTo>
                <a:lnTo>
                  <a:pt x="2273225" y="55046"/>
                </a:lnTo>
                <a:lnTo>
                  <a:pt x="2233358" y="35840"/>
                </a:lnTo>
                <a:lnTo>
                  <a:pt x="2191456" y="20504"/>
                </a:lnTo>
                <a:lnTo>
                  <a:pt x="2147748" y="9265"/>
                </a:lnTo>
                <a:lnTo>
                  <a:pt x="2102464" y="2354"/>
                </a:lnTo>
                <a:lnTo>
                  <a:pt x="2055832" y="0"/>
                </a:lnTo>
                <a:close/>
              </a:path>
            </a:pathLst>
          </a:custGeom>
          <a:solidFill>
            <a:srgbClr val="D0A17C"/>
          </a:solidFill>
        </p:spPr>
        <p:txBody>
          <a:bodyPr wrap="square" lIns="0" tIns="0" rIns="0" bIns="0" rtlCol="0"/>
          <a:lstStyle/>
          <a:p>
            <a:endParaRPr>
              <a:latin typeface="Futura Lt BT Light"/>
            </a:endParaRPr>
          </a:p>
        </p:txBody>
      </p:sp>
      <p:sp>
        <p:nvSpPr>
          <p:cNvPr id="20" name="object 20"/>
          <p:cNvSpPr txBox="1"/>
          <p:nvPr/>
        </p:nvSpPr>
        <p:spPr>
          <a:xfrm>
            <a:off x="14846262" y="5849463"/>
            <a:ext cx="1820692" cy="368690"/>
          </a:xfrm>
          <a:prstGeom prst="rect">
            <a:avLst/>
          </a:prstGeom>
        </p:spPr>
        <p:txBody>
          <a:bodyPr vert="horz" wrap="square" lIns="0" tIns="14604" rIns="0" bIns="0" rtlCol="0">
            <a:spAutoFit/>
          </a:bodyPr>
          <a:lstStyle/>
          <a:p>
            <a:pPr marL="12700">
              <a:lnSpc>
                <a:spcPct val="100000"/>
              </a:lnSpc>
              <a:spcBef>
                <a:spcPts val="114"/>
              </a:spcBef>
            </a:pPr>
            <a:r>
              <a:rPr sz="2300" spc="-10" dirty="0">
                <a:solidFill>
                  <a:srgbClr val="FFFFFF"/>
                </a:solidFill>
                <a:latin typeface="Futura Lt BT Light"/>
                <a:cs typeface="Futura PT Book"/>
              </a:rPr>
              <a:t>TELECOM</a:t>
            </a:r>
            <a:endParaRPr sz="2300" dirty="0">
              <a:latin typeface="Futura Lt BT Light"/>
              <a:cs typeface="Futura PT Book"/>
            </a:endParaRPr>
          </a:p>
        </p:txBody>
      </p:sp>
      <p:pic>
        <p:nvPicPr>
          <p:cNvPr id="21" name="object 21"/>
          <p:cNvPicPr/>
          <p:nvPr/>
        </p:nvPicPr>
        <p:blipFill>
          <a:blip r:embed="rId12" cstate="print"/>
          <a:stretch>
            <a:fillRect/>
          </a:stretch>
        </p:blipFill>
        <p:spPr>
          <a:xfrm>
            <a:off x="7991088" y="5754942"/>
            <a:ext cx="2258251" cy="497410"/>
          </a:xfrm>
          <a:prstGeom prst="rect">
            <a:avLst/>
          </a:prstGeom>
        </p:spPr>
      </p:pic>
      <p:pic>
        <p:nvPicPr>
          <p:cNvPr id="22" name="object 22"/>
          <p:cNvPicPr/>
          <p:nvPr/>
        </p:nvPicPr>
        <p:blipFill>
          <a:blip r:embed="rId13" cstate="print"/>
          <a:stretch>
            <a:fillRect/>
          </a:stretch>
        </p:blipFill>
        <p:spPr>
          <a:xfrm>
            <a:off x="11427495" y="5658689"/>
            <a:ext cx="2086564" cy="638298"/>
          </a:xfrm>
          <a:prstGeom prst="rect">
            <a:avLst/>
          </a:prstGeom>
        </p:spPr>
      </p:pic>
      <p:pic>
        <p:nvPicPr>
          <p:cNvPr id="23" name="object 23"/>
          <p:cNvPicPr/>
          <p:nvPr/>
        </p:nvPicPr>
        <p:blipFill>
          <a:blip r:embed="rId14" cstate="print"/>
          <a:stretch>
            <a:fillRect/>
          </a:stretch>
        </p:blipFill>
        <p:spPr>
          <a:xfrm>
            <a:off x="940725" y="7256308"/>
            <a:ext cx="2640138" cy="762421"/>
          </a:xfrm>
          <a:prstGeom prst="rect">
            <a:avLst/>
          </a:prstGeom>
        </p:spPr>
      </p:pic>
      <p:pic>
        <p:nvPicPr>
          <p:cNvPr id="24" name="object 24"/>
          <p:cNvPicPr/>
          <p:nvPr/>
        </p:nvPicPr>
        <p:blipFill>
          <a:blip r:embed="rId15" cstate="print"/>
          <a:stretch>
            <a:fillRect/>
          </a:stretch>
        </p:blipFill>
        <p:spPr>
          <a:xfrm>
            <a:off x="7803701" y="7287857"/>
            <a:ext cx="2379783" cy="656216"/>
          </a:xfrm>
          <a:prstGeom prst="rect">
            <a:avLst/>
          </a:prstGeom>
        </p:spPr>
      </p:pic>
      <p:pic>
        <p:nvPicPr>
          <p:cNvPr id="25" name="object 25"/>
          <p:cNvPicPr/>
          <p:nvPr/>
        </p:nvPicPr>
        <p:blipFill>
          <a:blip r:embed="rId16" cstate="print"/>
          <a:stretch>
            <a:fillRect/>
          </a:stretch>
        </p:blipFill>
        <p:spPr>
          <a:xfrm>
            <a:off x="11330970" y="7293946"/>
            <a:ext cx="2095081" cy="498319"/>
          </a:xfrm>
          <a:prstGeom prst="rect">
            <a:avLst/>
          </a:prstGeom>
        </p:spPr>
      </p:pic>
      <p:sp>
        <p:nvSpPr>
          <p:cNvPr id="26" name="object 26"/>
          <p:cNvSpPr/>
          <p:nvPr/>
        </p:nvSpPr>
        <p:spPr>
          <a:xfrm>
            <a:off x="14154894" y="7251494"/>
            <a:ext cx="2512060" cy="912494"/>
          </a:xfrm>
          <a:custGeom>
            <a:avLst/>
            <a:gdLst/>
            <a:ahLst/>
            <a:cxnLst/>
            <a:rect l="l" t="t" r="r" b="b"/>
            <a:pathLst>
              <a:path w="2512059" h="912495">
                <a:moveTo>
                  <a:pt x="2055832" y="0"/>
                </a:moveTo>
                <a:lnTo>
                  <a:pt x="456069" y="0"/>
                </a:lnTo>
                <a:lnTo>
                  <a:pt x="409438" y="2354"/>
                </a:lnTo>
                <a:lnTo>
                  <a:pt x="364153" y="9265"/>
                </a:lnTo>
                <a:lnTo>
                  <a:pt x="320445" y="20504"/>
                </a:lnTo>
                <a:lnTo>
                  <a:pt x="278543" y="35840"/>
                </a:lnTo>
                <a:lnTo>
                  <a:pt x="238676" y="55046"/>
                </a:lnTo>
                <a:lnTo>
                  <a:pt x="201073" y="77890"/>
                </a:lnTo>
                <a:lnTo>
                  <a:pt x="165964" y="104146"/>
                </a:lnTo>
                <a:lnTo>
                  <a:pt x="133577" y="133582"/>
                </a:lnTo>
                <a:lnTo>
                  <a:pt x="104141" y="165970"/>
                </a:lnTo>
                <a:lnTo>
                  <a:pt x="77887" y="201080"/>
                </a:lnTo>
                <a:lnTo>
                  <a:pt x="55043" y="238684"/>
                </a:lnTo>
                <a:lnTo>
                  <a:pt x="35839" y="278552"/>
                </a:lnTo>
                <a:lnTo>
                  <a:pt x="20503" y="320455"/>
                </a:lnTo>
                <a:lnTo>
                  <a:pt x="9265" y="364163"/>
                </a:lnTo>
                <a:lnTo>
                  <a:pt x="2354" y="409448"/>
                </a:lnTo>
                <a:lnTo>
                  <a:pt x="0" y="456080"/>
                </a:lnTo>
                <a:lnTo>
                  <a:pt x="2354" y="502710"/>
                </a:lnTo>
                <a:lnTo>
                  <a:pt x="9265" y="547993"/>
                </a:lnTo>
                <a:lnTo>
                  <a:pt x="20503" y="591700"/>
                </a:lnTo>
                <a:lnTo>
                  <a:pt x="35839" y="633601"/>
                </a:lnTo>
                <a:lnTo>
                  <a:pt x="55043" y="673468"/>
                </a:lnTo>
                <a:lnTo>
                  <a:pt x="77887" y="711071"/>
                </a:lnTo>
                <a:lnTo>
                  <a:pt x="104141" y="746181"/>
                </a:lnTo>
                <a:lnTo>
                  <a:pt x="133577" y="778569"/>
                </a:lnTo>
                <a:lnTo>
                  <a:pt x="165964" y="808004"/>
                </a:lnTo>
                <a:lnTo>
                  <a:pt x="201073" y="834259"/>
                </a:lnTo>
                <a:lnTo>
                  <a:pt x="238676" y="857104"/>
                </a:lnTo>
                <a:lnTo>
                  <a:pt x="278543" y="876309"/>
                </a:lnTo>
                <a:lnTo>
                  <a:pt x="320445" y="891645"/>
                </a:lnTo>
                <a:lnTo>
                  <a:pt x="364153" y="902884"/>
                </a:lnTo>
                <a:lnTo>
                  <a:pt x="409438" y="909795"/>
                </a:lnTo>
                <a:lnTo>
                  <a:pt x="456069" y="912150"/>
                </a:lnTo>
                <a:lnTo>
                  <a:pt x="2055832" y="912150"/>
                </a:lnTo>
                <a:lnTo>
                  <a:pt x="2102464" y="909795"/>
                </a:lnTo>
                <a:lnTo>
                  <a:pt x="2147748" y="902884"/>
                </a:lnTo>
                <a:lnTo>
                  <a:pt x="2191456" y="891645"/>
                </a:lnTo>
                <a:lnTo>
                  <a:pt x="2233358" y="876309"/>
                </a:lnTo>
                <a:lnTo>
                  <a:pt x="2273225" y="857104"/>
                </a:lnTo>
                <a:lnTo>
                  <a:pt x="2310828" y="834259"/>
                </a:lnTo>
                <a:lnTo>
                  <a:pt x="2345938" y="808004"/>
                </a:lnTo>
                <a:lnTo>
                  <a:pt x="2378325" y="778569"/>
                </a:lnTo>
                <a:lnTo>
                  <a:pt x="2407760" y="746181"/>
                </a:lnTo>
                <a:lnTo>
                  <a:pt x="2434014" y="711071"/>
                </a:lnTo>
                <a:lnTo>
                  <a:pt x="2456858" y="673468"/>
                </a:lnTo>
                <a:lnTo>
                  <a:pt x="2476063" y="633601"/>
                </a:lnTo>
                <a:lnTo>
                  <a:pt x="2491399" y="591700"/>
                </a:lnTo>
                <a:lnTo>
                  <a:pt x="2502637" y="547993"/>
                </a:lnTo>
                <a:lnTo>
                  <a:pt x="2509548" y="502710"/>
                </a:lnTo>
                <a:lnTo>
                  <a:pt x="2511902" y="456080"/>
                </a:lnTo>
                <a:lnTo>
                  <a:pt x="2509548" y="409448"/>
                </a:lnTo>
                <a:lnTo>
                  <a:pt x="2502637" y="364163"/>
                </a:lnTo>
                <a:lnTo>
                  <a:pt x="2491399" y="320455"/>
                </a:lnTo>
                <a:lnTo>
                  <a:pt x="2476063" y="278552"/>
                </a:lnTo>
                <a:lnTo>
                  <a:pt x="2456858" y="238684"/>
                </a:lnTo>
                <a:lnTo>
                  <a:pt x="2434014" y="201080"/>
                </a:lnTo>
                <a:lnTo>
                  <a:pt x="2407760" y="165970"/>
                </a:lnTo>
                <a:lnTo>
                  <a:pt x="2378325" y="133582"/>
                </a:lnTo>
                <a:lnTo>
                  <a:pt x="2345938" y="104146"/>
                </a:lnTo>
                <a:lnTo>
                  <a:pt x="2310828" y="77890"/>
                </a:lnTo>
                <a:lnTo>
                  <a:pt x="2273225" y="55046"/>
                </a:lnTo>
                <a:lnTo>
                  <a:pt x="2233358" y="35840"/>
                </a:lnTo>
                <a:lnTo>
                  <a:pt x="2191456" y="20504"/>
                </a:lnTo>
                <a:lnTo>
                  <a:pt x="2147748" y="9265"/>
                </a:lnTo>
                <a:lnTo>
                  <a:pt x="2102464" y="2354"/>
                </a:lnTo>
                <a:lnTo>
                  <a:pt x="2055832" y="0"/>
                </a:lnTo>
                <a:close/>
              </a:path>
            </a:pathLst>
          </a:custGeom>
          <a:solidFill>
            <a:srgbClr val="D0A17C"/>
          </a:solidFill>
        </p:spPr>
        <p:txBody>
          <a:bodyPr wrap="square" lIns="0" tIns="0" rIns="0" bIns="0" rtlCol="0"/>
          <a:lstStyle/>
          <a:p>
            <a:endParaRPr>
              <a:latin typeface="Futura Lt BT Light"/>
            </a:endParaRPr>
          </a:p>
        </p:txBody>
      </p:sp>
      <p:sp>
        <p:nvSpPr>
          <p:cNvPr id="27" name="object 27"/>
          <p:cNvSpPr txBox="1"/>
          <p:nvPr/>
        </p:nvSpPr>
        <p:spPr>
          <a:xfrm>
            <a:off x="14973377" y="7492298"/>
            <a:ext cx="1499907" cy="368690"/>
          </a:xfrm>
          <a:prstGeom prst="rect">
            <a:avLst/>
          </a:prstGeom>
        </p:spPr>
        <p:txBody>
          <a:bodyPr vert="horz" wrap="square" lIns="0" tIns="14604" rIns="0" bIns="0" rtlCol="0">
            <a:spAutoFit/>
          </a:bodyPr>
          <a:lstStyle/>
          <a:p>
            <a:pPr marL="12700">
              <a:lnSpc>
                <a:spcPct val="100000"/>
              </a:lnSpc>
              <a:spcBef>
                <a:spcPts val="114"/>
              </a:spcBef>
            </a:pPr>
            <a:r>
              <a:rPr sz="2300" spc="-10" dirty="0">
                <a:solidFill>
                  <a:srgbClr val="FFFFFF"/>
                </a:solidFill>
                <a:latin typeface="Futura Lt BT Light"/>
                <a:cs typeface="Futura PT Book"/>
              </a:rPr>
              <a:t>SAÚDE</a:t>
            </a:r>
            <a:endParaRPr sz="2300" dirty="0">
              <a:latin typeface="Futura Lt BT Light"/>
              <a:cs typeface="Futura PT Book"/>
            </a:endParaRPr>
          </a:p>
        </p:txBody>
      </p:sp>
      <p:pic>
        <p:nvPicPr>
          <p:cNvPr id="28" name="object 28"/>
          <p:cNvPicPr/>
          <p:nvPr/>
        </p:nvPicPr>
        <p:blipFill>
          <a:blip r:embed="rId17" cstate="print"/>
          <a:stretch>
            <a:fillRect/>
          </a:stretch>
        </p:blipFill>
        <p:spPr>
          <a:xfrm>
            <a:off x="4507097" y="7225382"/>
            <a:ext cx="1664893" cy="426952"/>
          </a:xfrm>
          <a:prstGeom prst="rect">
            <a:avLst/>
          </a:prstGeom>
        </p:spPr>
      </p:pic>
      <p:sp>
        <p:nvSpPr>
          <p:cNvPr id="29" name="object 29"/>
          <p:cNvSpPr/>
          <p:nvPr/>
        </p:nvSpPr>
        <p:spPr>
          <a:xfrm>
            <a:off x="14154894" y="8743815"/>
            <a:ext cx="2512060" cy="912494"/>
          </a:xfrm>
          <a:custGeom>
            <a:avLst/>
            <a:gdLst/>
            <a:ahLst/>
            <a:cxnLst/>
            <a:rect l="l" t="t" r="r" b="b"/>
            <a:pathLst>
              <a:path w="2512059" h="912495">
                <a:moveTo>
                  <a:pt x="2055832" y="0"/>
                </a:moveTo>
                <a:lnTo>
                  <a:pt x="456069" y="0"/>
                </a:lnTo>
                <a:lnTo>
                  <a:pt x="409438" y="2354"/>
                </a:lnTo>
                <a:lnTo>
                  <a:pt x="364153" y="9265"/>
                </a:lnTo>
                <a:lnTo>
                  <a:pt x="320445" y="20504"/>
                </a:lnTo>
                <a:lnTo>
                  <a:pt x="278543" y="35840"/>
                </a:lnTo>
                <a:lnTo>
                  <a:pt x="238676" y="55046"/>
                </a:lnTo>
                <a:lnTo>
                  <a:pt x="201073" y="77890"/>
                </a:lnTo>
                <a:lnTo>
                  <a:pt x="165964" y="104146"/>
                </a:lnTo>
                <a:lnTo>
                  <a:pt x="133577" y="133582"/>
                </a:lnTo>
                <a:lnTo>
                  <a:pt x="104141" y="165970"/>
                </a:lnTo>
                <a:lnTo>
                  <a:pt x="77887" y="201080"/>
                </a:lnTo>
                <a:lnTo>
                  <a:pt x="55043" y="238684"/>
                </a:lnTo>
                <a:lnTo>
                  <a:pt x="35839" y="278552"/>
                </a:lnTo>
                <a:lnTo>
                  <a:pt x="20503" y="320455"/>
                </a:lnTo>
                <a:lnTo>
                  <a:pt x="9265" y="364163"/>
                </a:lnTo>
                <a:lnTo>
                  <a:pt x="2354" y="409448"/>
                </a:lnTo>
                <a:lnTo>
                  <a:pt x="0" y="456080"/>
                </a:lnTo>
                <a:lnTo>
                  <a:pt x="2354" y="502710"/>
                </a:lnTo>
                <a:lnTo>
                  <a:pt x="9265" y="547993"/>
                </a:lnTo>
                <a:lnTo>
                  <a:pt x="20503" y="591700"/>
                </a:lnTo>
                <a:lnTo>
                  <a:pt x="35839" y="633601"/>
                </a:lnTo>
                <a:lnTo>
                  <a:pt x="55043" y="673468"/>
                </a:lnTo>
                <a:lnTo>
                  <a:pt x="77887" y="711071"/>
                </a:lnTo>
                <a:lnTo>
                  <a:pt x="104141" y="746181"/>
                </a:lnTo>
                <a:lnTo>
                  <a:pt x="133577" y="778569"/>
                </a:lnTo>
                <a:lnTo>
                  <a:pt x="165964" y="808004"/>
                </a:lnTo>
                <a:lnTo>
                  <a:pt x="201073" y="834259"/>
                </a:lnTo>
                <a:lnTo>
                  <a:pt x="238676" y="857104"/>
                </a:lnTo>
                <a:lnTo>
                  <a:pt x="278543" y="876309"/>
                </a:lnTo>
                <a:lnTo>
                  <a:pt x="320445" y="891645"/>
                </a:lnTo>
                <a:lnTo>
                  <a:pt x="364153" y="902884"/>
                </a:lnTo>
                <a:lnTo>
                  <a:pt x="409438" y="909795"/>
                </a:lnTo>
                <a:lnTo>
                  <a:pt x="456069" y="912150"/>
                </a:lnTo>
                <a:lnTo>
                  <a:pt x="2055832" y="912150"/>
                </a:lnTo>
                <a:lnTo>
                  <a:pt x="2102464" y="909795"/>
                </a:lnTo>
                <a:lnTo>
                  <a:pt x="2147748" y="902884"/>
                </a:lnTo>
                <a:lnTo>
                  <a:pt x="2191456" y="891645"/>
                </a:lnTo>
                <a:lnTo>
                  <a:pt x="2233358" y="876309"/>
                </a:lnTo>
                <a:lnTo>
                  <a:pt x="2273225" y="857104"/>
                </a:lnTo>
                <a:lnTo>
                  <a:pt x="2310828" y="834259"/>
                </a:lnTo>
                <a:lnTo>
                  <a:pt x="2345938" y="808004"/>
                </a:lnTo>
                <a:lnTo>
                  <a:pt x="2378325" y="778569"/>
                </a:lnTo>
                <a:lnTo>
                  <a:pt x="2407760" y="746181"/>
                </a:lnTo>
                <a:lnTo>
                  <a:pt x="2434014" y="711071"/>
                </a:lnTo>
                <a:lnTo>
                  <a:pt x="2456858" y="673468"/>
                </a:lnTo>
                <a:lnTo>
                  <a:pt x="2476063" y="633601"/>
                </a:lnTo>
                <a:lnTo>
                  <a:pt x="2491399" y="591700"/>
                </a:lnTo>
                <a:lnTo>
                  <a:pt x="2502637" y="547993"/>
                </a:lnTo>
                <a:lnTo>
                  <a:pt x="2509548" y="502710"/>
                </a:lnTo>
                <a:lnTo>
                  <a:pt x="2511902" y="456080"/>
                </a:lnTo>
                <a:lnTo>
                  <a:pt x="2509548" y="409448"/>
                </a:lnTo>
                <a:lnTo>
                  <a:pt x="2502637" y="364163"/>
                </a:lnTo>
                <a:lnTo>
                  <a:pt x="2491399" y="320455"/>
                </a:lnTo>
                <a:lnTo>
                  <a:pt x="2476063" y="278552"/>
                </a:lnTo>
                <a:lnTo>
                  <a:pt x="2456858" y="238684"/>
                </a:lnTo>
                <a:lnTo>
                  <a:pt x="2434014" y="201080"/>
                </a:lnTo>
                <a:lnTo>
                  <a:pt x="2407760" y="165970"/>
                </a:lnTo>
                <a:lnTo>
                  <a:pt x="2378325" y="133582"/>
                </a:lnTo>
                <a:lnTo>
                  <a:pt x="2345938" y="104146"/>
                </a:lnTo>
                <a:lnTo>
                  <a:pt x="2310828" y="77890"/>
                </a:lnTo>
                <a:lnTo>
                  <a:pt x="2273225" y="55046"/>
                </a:lnTo>
                <a:lnTo>
                  <a:pt x="2233358" y="35840"/>
                </a:lnTo>
                <a:lnTo>
                  <a:pt x="2191456" y="20504"/>
                </a:lnTo>
                <a:lnTo>
                  <a:pt x="2147748" y="9265"/>
                </a:lnTo>
                <a:lnTo>
                  <a:pt x="2102464" y="2354"/>
                </a:lnTo>
                <a:lnTo>
                  <a:pt x="2055832" y="0"/>
                </a:lnTo>
                <a:close/>
              </a:path>
            </a:pathLst>
          </a:custGeom>
          <a:solidFill>
            <a:srgbClr val="D0A17C"/>
          </a:solidFill>
        </p:spPr>
        <p:txBody>
          <a:bodyPr wrap="square" lIns="0" tIns="0" rIns="0" bIns="0" rtlCol="0"/>
          <a:lstStyle/>
          <a:p>
            <a:endParaRPr>
              <a:latin typeface="Futura Lt BT Light"/>
            </a:endParaRPr>
          </a:p>
        </p:txBody>
      </p:sp>
      <p:sp>
        <p:nvSpPr>
          <p:cNvPr id="30" name="object 30"/>
          <p:cNvSpPr txBox="1"/>
          <p:nvPr/>
        </p:nvSpPr>
        <p:spPr>
          <a:xfrm>
            <a:off x="14846252" y="8839086"/>
            <a:ext cx="1956445" cy="703206"/>
          </a:xfrm>
          <a:prstGeom prst="rect">
            <a:avLst/>
          </a:prstGeom>
        </p:spPr>
        <p:txBody>
          <a:bodyPr vert="horz" wrap="square" lIns="0" tIns="12065" rIns="0" bIns="0" rtlCol="0">
            <a:spAutoFit/>
          </a:bodyPr>
          <a:lstStyle/>
          <a:p>
            <a:pPr marL="12700" marR="5080">
              <a:lnSpc>
                <a:spcPct val="100800"/>
              </a:lnSpc>
              <a:spcBef>
                <a:spcPts val="95"/>
              </a:spcBef>
            </a:pPr>
            <a:r>
              <a:rPr sz="2300" spc="-10" dirty="0">
                <a:solidFill>
                  <a:srgbClr val="FFFFFF"/>
                </a:solidFill>
                <a:latin typeface="Futura Lt BT Light"/>
                <a:cs typeface="Futura PT Book"/>
              </a:rPr>
              <a:t>DEMAIS SETORES</a:t>
            </a:r>
            <a:endParaRPr sz="2300" dirty="0">
              <a:latin typeface="Futura Lt BT Light"/>
              <a:cs typeface="Futura PT Book"/>
            </a:endParaRPr>
          </a:p>
        </p:txBody>
      </p:sp>
      <p:pic>
        <p:nvPicPr>
          <p:cNvPr id="32" name="object 32"/>
          <p:cNvPicPr/>
          <p:nvPr/>
        </p:nvPicPr>
        <p:blipFill>
          <a:blip r:embed="rId18" cstate="print"/>
          <a:stretch>
            <a:fillRect/>
          </a:stretch>
        </p:blipFill>
        <p:spPr>
          <a:xfrm>
            <a:off x="7497950" y="9002705"/>
            <a:ext cx="2551566" cy="636336"/>
          </a:xfrm>
          <a:prstGeom prst="rect">
            <a:avLst/>
          </a:prstGeom>
        </p:spPr>
      </p:pic>
      <p:sp>
        <p:nvSpPr>
          <p:cNvPr id="33" name="object 33"/>
          <p:cNvSpPr txBox="1">
            <a:spLocks noGrp="1"/>
          </p:cNvSpPr>
          <p:nvPr>
            <p:ph type="title"/>
          </p:nvPr>
        </p:nvSpPr>
        <p:spPr>
          <a:xfrm>
            <a:off x="670003" y="635022"/>
            <a:ext cx="10242550" cy="773930"/>
          </a:xfrm>
          <a:prstGeom prst="rect">
            <a:avLst/>
          </a:prstGeom>
        </p:spPr>
        <p:txBody>
          <a:bodyPr vert="horz" wrap="square" lIns="0" tIns="12065" rIns="0" bIns="0" rtlCol="0">
            <a:spAutoFit/>
          </a:bodyPr>
          <a:lstStyle/>
          <a:p>
            <a:pPr marL="12700">
              <a:lnSpc>
                <a:spcPct val="100000"/>
              </a:lnSpc>
              <a:spcBef>
                <a:spcPts val="95"/>
              </a:spcBef>
            </a:pPr>
            <a:r>
              <a:rPr spc="-10" dirty="0">
                <a:latin typeface="Futura Lt BT Light"/>
              </a:rPr>
              <a:t>NOSSOS</a:t>
            </a:r>
            <a:r>
              <a:rPr spc="-245" dirty="0">
                <a:latin typeface="Futura Lt BT Light"/>
              </a:rPr>
              <a:t> </a:t>
            </a:r>
            <a:r>
              <a:rPr lang="pt-BR" spc="-245" dirty="0">
                <a:latin typeface="Futura Lt BT Light"/>
              </a:rPr>
              <a:t>PRINCIPAIS </a:t>
            </a:r>
            <a:r>
              <a:rPr spc="-10" dirty="0">
                <a:latin typeface="Futura Lt BT Light"/>
              </a:rPr>
              <a:t>CLIENTES</a:t>
            </a:r>
          </a:p>
        </p:txBody>
      </p:sp>
      <p:sp>
        <p:nvSpPr>
          <p:cNvPr id="34" name="object 34"/>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35" name="object 35"/>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solidFill>
        </p:spPr>
        <p:txBody>
          <a:bodyPr wrap="square" lIns="0" tIns="0" rIns="0" bIns="0" rtlCol="0"/>
          <a:lstStyle/>
          <a:p>
            <a:endParaRPr/>
          </a:p>
        </p:txBody>
      </p:sp>
      <p:sp>
        <p:nvSpPr>
          <p:cNvPr id="36" name="object 36"/>
          <p:cNvSpPr/>
          <p:nvPr/>
        </p:nvSpPr>
        <p:spPr>
          <a:xfrm>
            <a:off x="19297842" y="2638663"/>
            <a:ext cx="94615" cy="6042025"/>
          </a:xfrm>
          <a:custGeom>
            <a:avLst/>
            <a:gdLst/>
            <a:ahLst/>
            <a:cxnLst/>
            <a:rect l="l" t="t" r="r" b="b"/>
            <a:pathLst>
              <a:path w="94615" h="6042025">
                <a:moveTo>
                  <a:pt x="94237" y="0"/>
                </a:moveTo>
                <a:lnTo>
                  <a:pt x="0" y="0"/>
                </a:lnTo>
                <a:lnTo>
                  <a:pt x="0" y="6041700"/>
                </a:lnTo>
                <a:lnTo>
                  <a:pt x="94237" y="6041700"/>
                </a:lnTo>
                <a:lnTo>
                  <a:pt x="94237" y="0"/>
                </a:lnTo>
                <a:close/>
              </a:path>
            </a:pathLst>
          </a:custGeom>
          <a:solidFill>
            <a:srgbClr val="C69A78">
              <a:alpha val="89999"/>
            </a:srgbClr>
          </a:solidFill>
        </p:spPr>
        <p:txBody>
          <a:bodyPr wrap="square" lIns="0" tIns="0" rIns="0" bIns="0" rtlCol="0"/>
          <a:lstStyle/>
          <a:p>
            <a:endParaRPr/>
          </a:p>
        </p:txBody>
      </p:sp>
      <p:sp>
        <p:nvSpPr>
          <p:cNvPr id="37" name="object 37"/>
          <p:cNvSpPr/>
          <p:nvPr/>
        </p:nvSpPr>
        <p:spPr>
          <a:xfrm>
            <a:off x="17274336" y="1502984"/>
            <a:ext cx="1788795" cy="1167130"/>
          </a:xfrm>
          <a:custGeom>
            <a:avLst/>
            <a:gdLst/>
            <a:ahLst/>
            <a:cxnLst/>
            <a:rect l="l" t="t" r="r" b="b"/>
            <a:pathLst>
              <a:path w="1788794" h="1167130">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a:p>
        </p:txBody>
      </p:sp>
      <p:sp>
        <p:nvSpPr>
          <p:cNvPr id="38" name="object 38"/>
          <p:cNvSpPr/>
          <p:nvPr/>
        </p:nvSpPr>
        <p:spPr>
          <a:xfrm>
            <a:off x="17274336" y="175466"/>
            <a:ext cx="1788795" cy="1167130"/>
          </a:xfrm>
          <a:custGeom>
            <a:avLst/>
            <a:gdLst/>
            <a:ahLst/>
            <a:cxnLst/>
            <a:rect l="l" t="t" r="r" b="b"/>
            <a:pathLst>
              <a:path w="1788794" h="1167130">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a:p>
        </p:txBody>
      </p:sp>
      <p:sp>
        <p:nvSpPr>
          <p:cNvPr id="39" name="object 39"/>
          <p:cNvSpPr/>
          <p:nvPr/>
        </p:nvSpPr>
        <p:spPr>
          <a:xfrm>
            <a:off x="16198459" y="10942075"/>
            <a:ext cx="3811904" cy="367030"/>
          </a:xfrm>
          <a:custGeom>
            <a:avLst/>
            <a:gdLst/>
            <a:ahLst/>
            <a:cxnLst/>
            <a:rect l="l" t="t" r="r" b="b"/>
            <a:pathLst>
              <a:path w="3811905" h="367029">
                <a:moveTo>
                  <a:pt x="3544813" y="0"/>
                </a:moveTo>
                <a:lnTo>
                  <a:pt x="266588" y="0"/>
                </a:lnTo>
                <a:lnTo>
                  <a:pt x="218669" y="4295"/>
                </a:lnTo>
                <a:lnTo>
                  <a:pt x="173568" y="16678"/>
                </a:lnTo>
                <a:lnTo>
                  <a:pt x="132037" y="36397"/>
                </a:lnTo>
                <a:lnTo>
                  <a:pt x="94829" y="62698"/>
                </a:lnTo>
                <a:lnTo>
                  <a:pt x="62698" y="94829"/>
                </a:lnTo>
                <a:lnTo>
                  <a:pt x="36397" y="132037"/>
                </a:lnTo>
                <a:lnTo>
                  <a:pt x="16678" y="173568"/>
                </a:lnTo>
                <a:lnTo>
                  <a:pt x="4295" y="218669"/>
                </a:lnTo>
                <a:lnTo>
                  <a:pt x="1" y="266576"/>
                </a:lnTo>
                <a:lnTo>
                  <a:pt x="0" y="366480"/>
                </a:lnTo>
                <a:lnTo>
                  <a:pt x="3811401" y="366480"/>
                </a:lnTo>
                <a:lnTo>
                  <a:pt x="3811401" y="266576"/>
                </a:lnTo>
                <a:lnTo>
                  <a:pt x="3807107" y="218669"/>
                </a:lnTo>
                <a:lnTo>
                  <a:pt x="3794723" y="173568"/>
                </a:lnTo>
                <a:lnTo>
                  <a:pt x="3775004" y="132037"/>
                </a:lnTo>
                <a:lnTo>
                  <a:pt x="3748703" y="94829"/>
                </a:lnTo>
                <a:lnTo>
                  <a:pt x="3716572" y="62698"/>
                </a:lnTo>
                <a:lnTo>
                  <a:pt x="3679365" y="36397"/>
                </a:lnTo>
                <a:lnTo>
                  <a:pt x="3637834" y="16678"/>
                </a:lnTo>
                <a:lnTo>
                  <a:pt x="3592732" y="4295"/>
                </a:lnTo>
                <a:lnTo>
                  <a:pt x="3544813" y="0"/>
                </a:lnTo>
                <a:close/>
              </a:path>
            </a:pathLst>
          </a:custGeom>
          <a:solidFill>
            <a:srgbClr val="006969">
              <a:alpha val="89999"/>
            </a:srgbClr>
          </a:solidFill>
        </p:spPr>
        <p:txBody>
          <a:bodyPr wrap="square" lIns="0" tIns="0" rIns="0" bIns="0" rtlCol="0"/>
          <a:lstStyle/>
          <a:p>
            <a:endParaRPr/>
          </a:p>
        </p:txBody>
      </p:sp>
      <p:pic>
        <p:nvPicPr>
          <p:cNvPr id="2052" name="Picture 4" descr="Botafogo Logo PNG Transparent &amp; SVG Vector - Freebie Supply">
            <a:extLst>
              <a:ext uri="{FF2B5EF4-FFF2-40B4-BE49-F238E27FC236}">
                <a16:creationId xmlns:a16="http://schemas.microsoft.com/office/drawing/2014/main" id="{F9607AD1-49B9-E755-DBE0-F127ACE946BC}"/>
              </a:ext>
            </a:extLst>
          </p:cNvPr>
          <p:cNvPicPr>
            <a:picLocks noChangeAspect="1" noChangeArrowheads="1"/>
          </p:cNvPicPr>
          <p:nvPr/>
        </p:nvPicPr>
        <p:blipFill>
          <a:blip r:embed="rId19" cstate="print">
            <a:extLst>
              <a:ext uri="{28A0092B-C50C-407E-A947-70E740481C1C}">
                <a14:useLocalDpi xmlns:a14="http://schemas.microsoft.com/office/drawing/2010/main" val="0"/>
              </a:ext>
            </a:extLst>
          </a:blip>
          <a:srcRect/>
          <a:stretch>
            <a:fillRect/>
          </a:stretch>
        </p:blipFill>
        <p:spPr bwMode="auto">
          <a:xfrm>
            <a:off x="1429811" y="8581515"/>
            <a:ext cx="1511188" cy="1681878"/>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4">
            <a:extLst>
              <a:ext uri="{FF2B5EF4-FFF2-40B4-BE49-F238E27FC236}">
                <a16:creationId xmlns:a16="http://schemas.microsoft.com/office/drawing/2014/main" id="{F49019DD-586F-4092-1452-DD9D6523B0D9}"/>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40" name="Espaço Reservado para Número de Slide 39">
            <a:extLst>
              <a:ext uri="{FF2B5EF4-FFF2-40B4-BE49-F238E27FC236}">
                <a16:creationId xmlns:a16="http://schemas.microsoft.com/office/drawing/2014/main" id="{CF391081-F211-A754-1EFB-8E2EA52B4041}"/>
              </a:ext>
            </a:extLst>
          </p:cNvPr>
          <p:cNvSpPr>
            <a:spLocks noGrp="1"/>
          </p:cNvSpPr>
          <p:nvPr>
            <p:ph type="sldNum" sz="quarter" idx="7"/>
          </p:nvPr>
        </p:nvSpPr>
        <p:spPr>
          <a:xfrm>
            <a:off x="15029307" y="10988675"/>
            <a:ext cx="4623943" cy="215444"/>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7</a:t>
            </a:fld>
            <a:endParaRPr lang="en-US" sz="1400" dirty="0">
              <a:solidFill>
                <a:schemeClr val="bg1"/>
              </a:solidFill>
              <a:latin typeface="Futura Lt BT" panose="020B0402020204020303" pitchFamily="34" charset="0"/>
            </a:endParaRPr>
          </a:p>
        </p:txBody>
      </p:sp>
      <p:pic>
        <p:nvPicPr>
          <p:cNvPr id="2050" name="Picture 2" descr="Direct One - Endeavor Brasil">
            <a:extLst>
              <a:ext uri="{FF2B5EF4-FFF2-40B4-BE49-F238E27FC236}">
                <a16:creationId xmlns:a16="http://schemas.microsoft.com/office/drawing/2014/main" id="{B17C7B7B-2C97-457D-597D-544FF7DE4D7B}"/>
              </a:ext>
            </a:extLst>
          </p:cNvPr>
          <p:cNvPicPr>
            <a:picLocks noChangeAspect="1" noChangeArrowheads="1"/>
          </p:cNvPicPr>
          <p:nvPr/>
        </p:nvPicPr>
        <p:blipFill rotWithShape="1">
          <a:blip r:embed="rId20">
            <a:extLst>
              <a:ext uri="{28A0092B-C50C-407E-A947-70E740481C1C}">
                <a14:useLocalDpi xmlns:a14="http://schemas.microsoft.com/office/drawing/2010/main" val="0"/>
              </a:ext>
            </a:extLst>
          </a:blip>
          <a:srcRect r="46305"/>
          <a:stretch/>
        </p:blipFill>
        <p:spPr bwMode="auto">
          <a:xfrm>
            <a:off x="4246655" y="2310821"/>
            <a:ext cx="1996021" cy="1187468"/>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KISABOR - Seu dia com mais sabor | Jundiaí SP">
            <a:extLst>
              <a:ext uri="{FF2B5EF4-FFF2-40B4-BE49-F238E27FC236}">
                <a16:creationId xmlns:a16="http://schemas.microsoft.com/office/drawing/2014/main" id="{FD5A49D5-C38F-F815-D88C-5F6B699B574E}"/>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4176257" y="8238048"/>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10447714" y="5244593"/>
            <a:ext cx="10424736" cy="1401666"/>
          </a:xfrm>
          <a:prstGeom prst="rect">
            <a:avLst/>
          </a:prstGeom>
        </p:spPr>
        <p:txBody>
          <a:bodyPr vert="horz" wrap="square" lIns="0" tIns="217170" rIns="0" bIns="0" rtlCol="0">
            <a:spAutoFit/>
          </a:bodyPr>
          <a:lstStyle/>
          <a:p>
            <a:pPr marL="253365">
              <a:lnSpc>
                <a:spcPct val="100000"/>
              </a:lnSpc>
              <a:spcBef>
                <a:spcPts val="1710"/>
              </a:spcBef>
            </a:pPr>
            <a:r>
              <a:rPr sz="4800" dirty="0">
                <a:solidFill>
                  <a:srgbClr val="F3FFCC"/>
                </a:solidFill>
                <a:latin typeface="Futura Lt BT Light"/>
              </a:rPr>
              <a:t>ENTENDIMENTO</a:t>
            </a:r>
            <a:r>
              <a:rPr sz="4800" spc="-95" dirty="0">
                <a:solidFill>
                  <a:srgbClr val="F3FFCC"/>
                </a:solidFill>
                <a:latin typeface="Futura Lt BT Light"/>
              </a:rPr>
              <a:t> </a:t>
            </a:r>
            <a:r>
              <a:rPr sz="4800" dirty="0">
                <a:solidFill>
                  <a:srgbClr val="F3FFCC"/>
                </a:solidFill>
                <a:latin typeface="Futura Lt BT Light"/>
              </a:rPr>
              <a:t>DA</a:t>
            </a:r>
            <a:r>
              <a:rPr sz="4800" spc="-95" dirty="0">
                <a:solidFill>
                  <a:srgbClr val="F3FFCC"/>
                </a:solidFill>
                <a:latin typeface="Futura Lt BT Light"/>
              </a:rPr>
              <a:t> </a:t>
            </a:r>
            <a:r>
              <a:rPr sz="4800" spc="-10" dirty="0">
                <a:solidFill>
                  <a:srgbClr val="F3FFCC"/>
                </a:solidFill>
                <a:latin typeface="Futura Lt BT Light"/>
              </a:rPr>
              <a:t>SITUAÇÃO</a:t>
            </a:r>
            <a:endParaRPr sz="4800" dirty="0">
              <a:latin typeface="Futura Lt BT Light"/>
            </a:endParaRPr>
          </a:p>
          <a:p>
            <a:pPr marL="12700">
              <a:lnSpc>
                <a:spcPct val="100000"/>
              </a:lnSpc>
              <a:spcBef>
                <a:spcPts val="700"/>
              </a:spcBef>
            </a:pPr>
            <a:r>
              <a:rPr sz="2000" dirty="0">
                <a:solidFill>
                  <a:srgbClr val="F3FFCC"/>
                </a:solidFill>
                <a:latin typeface="Futura Lt BT Light"/>
              </a:rPr>
              <a:t>ALINHAMENTO</a:t>
            </a:r>
            <a:r>
              <a:rPr sz="2000" spc="-40" dirty="0">
                <a:solidFill>
                  <a:srgbClr val="F3FFCC"/>
                </a:solidFill>
                <a:latin typeface="Futura Lt BT Light"/>
              </a:rPr>
              <a:t> </a:t>
            </a:r>
            <a:r>
              <a:rPr sz="2000" dirty="0">
                <a:solidFill>
                  <a:srgbClr val="F3FFCC"/>
                </a:solidFill>
                <a:latin typeface="Futura Lt BT Light"/>
              </a:rPr>
              <a:t>DO</a:t>
            </a:r>
            <a:r>
              <a:rPr sz="2000" spc="-35" dirty="0">
                <a:solidFill>
                  <a:srgbClr val="F3FFCC"/>
                </a:solidFill>
                <a:latin typeface="Futura Lt BT Light"/>
              </a:rPr>
              <a:t> </a:t>
            </a:r>
            <a:r>
              <a:rPr sz="2000" dirty="0">
                <a:solidFill>
                  <a:srgbClr val="F3FFCC"/>
                </a:solidFill>
                <a:latin typeface="Futura Lt BT Light"/>
              </a:rPr>
              <a:t>CONTEXTO</a:t>
            </a:r>
            <a:r>
              <a:rPr sz="2000" spc="-35" dirty="0">
                <a:solidFill>
                  <a:srgbClr val="F3FFCC"/>
                </a:solidFill>
                <a:latin typeface="Futura Lt BT Light"/>
              </a:rPr>
              <a:t> </a:t>
            </a:r>
            <a:r>
              <a:rPr sz="2000" dirty="0">
                <a:solidFill>
                  <a:srgbClr val="F3FFCC"/>
                </a:solidFill>
                <a:latin typeface="Futura Lt BT Light"/>
              </a:rPr>
              <a:t>ORGANIZACIONAL,</a:t>
            </a:r>
            <a:r>
              <a:rPr sz="2000" spc="-40" dirty="0">
                <a:solidFill>
                  <a:srgbClr val="F3FFCC"/>
                </a:solidFill>
                <a:latin typeface="Futura Lt BT Light"/>
              </a:rPr>
              <a:t> </a:t>
            </a:r>
            <a:r>
              <a:rPr sz="2000" dirty="0">
                <a:solidFill>
                  <a:srgbClr val="F3FFCC"/>
                </a:solidFill>
                <a:latin typeface="Futura Lt BT Light"/>
              </a:rPr>
              <a:t>OBJETIVOS</a:t>
            </a:r>
            <a:r>
              <a:rPr sz="2000" spc="-35" dirty="0">
                <a:solidFill>
                  <a:srgbClr val="F3FFCC"/>
                </a:solidFill>
                <a:latin typeface="Futura Lt BT Light"/>
              </a:rPr>
              <a:t> </a:t>
            </a:r>
            <a:r>
              <a:rPr sz="2000" dirty="0">
                <a:solidFill>
                  <a:srgbClr val="F3FFCC"/>
                </a:solidFill>
                <a:latin typeface="Futura Lt BT Light"/>
              </a:rPr>
              <a:t>E</a:t>
            </a:r>
            <a:r>
              <a:rPr sz="2000" spc="-35" dirty="0">
                <a:solidFill>
                  <a:srgbClr val="F3FFCC"/>
                </a:solidFill>
                <a:latin typeface="Futura Lt BT Light"/>
              </a:rPr>
              <a:t> </a:t>
            </a:r>
            <a:r>
              <a:rPr sz="2000" spc="-10" dirty="0">
                <a:solidFill>
                  <a:srgbClr val="F3FFCC"/>
                </a:solidFill>
                <a:latin typeface="Futura Lt BT Light"/>
              </a:rPr>
              <a:t>DESAFIOS</a:t>
            </a:r>
            <a:endParaRPr sz="2000" dirty="0">
              <a:latin typeface="Futura Lt BT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1" name="Retângulo 50">
            <a:extLst>
              <a:ext uri="{FF2B5EF4-FFF2-40B4-BE49-F238E27FC236}">
                <a16:creationId xmlns:a16="http://schemas.microsoft.com/office/drawing/2014/main" id="{BEA0431D-9E49-37D7-D1A6-3BC29D9AABDF}"/>
              </a:ext>
            </a:extLst>
          </p:cNvPr>
          <p:cNvSpPr/>
          <p:nvPr/>
        </p:nvSpPr>
        <p:spPr>
          <a:xfrm>
            <a:off x="1" y="0"/>
            <a:ext cx="9594850" cy="11309350"/>
          </a:xfrm>
          <a:prstGeom prst="rect">
            <a:avLst/>
          </a:prstGeom>
          <a:solidFill>
            <a:srgbClr val="D9D9D9">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419" dirty="0"/>
          </a:p>
        </p:txBody>
      </p:sp>
      <p:sp>
        <p:nvSpPr>
          <p:cNvPr id="38" name="object 2">
            <a:extLst>
              <a:ext uri="{FF2B5EF4-FFF2-40B4-BE49-F238E27FC236}">
                <a16:creationId xmlns:a16="http://schemas.microsoft.com/office/drawing/2014/main" id="{1A26B2C2-F167-ED9C-86FA-73B389206303}"/>
              </a:ext>
            </a:extLst>
          </p:cNvPr>
          <p:cNvSpPr txBox="1">
            <a:spLocks/>
          </p:cNvSpPr>
          <p:nvPr/>
        </p:nvSpPr>
        <p:spPr>
          <a:xfrm>
            <a:off x="670003" y="743432"/>
            <a:ext cx="6105447" cy="773930"/>
          </a:xfrm>
          <a:prstGeom prst="rect">
            <a:avLst/>
          </a:prstGeom>
        </p:spPr>
        <p:txBody>
          <a:bodyPr vert="horz" wrap="square" lIns="0" tIns="12065" rIns="0" bIns="0" rtlCol="0">
            <a:spAutoFit/>
          </a:bodyPr>
          <a:lstStyle>
            <a:lvl1pPr>
              <a:defRPr sz="4950" b="0" i="0">
                <a:solidFill>
                  <a:srgbClr val="006969"/>
                </a:solidFill>
                <a:latin typeface="Futura PT Book"/>
                <a:ea typeface="+mj-ea"/>
                <a:cs typeface="Futura PT Book"/>
              </a:defRPr>
            </a:lvl1pPr>
          </a:lstStyle>
          <a:p>
            <a:pPr marL="158750">
              <a:spcBef>
                <a:spcPts val="95"/>
              </a:spcBef>
            </a:pPr>
            <a:r>
              <a:t>{{NOME_CLIENTE}}</a:t>
            </a:r>
            <a:endParaRPr lang="es-419" spc="-10" dirty="0">
              <a:latin typeface="Futura Lt BT Light"/>
            </a:endParaRPr>
          </a:p>
        </p:txBody>
      </p:sp>
      <p:sp>
        <p:nvSpPr>
          <p:cNvPr id="39" name="object 4">
            <a:extLst>
              <a:ext uri="{FF2B5EF4-FFF2-40B4-BE49-F238E27FC236}">
                <a16:creationId xmlns:a16="http://schemas.microsoft.com/office/drawing/2014/main" id="{C54FBAE7-1D78-F5CE-47B3-2097A10C0D6B}"/>
              </a:ext>
            </a:extLst>
          </p:cNvPr>
          <p:cNvSpPr txBox="1"/>
          <p:nvPr/>
        </p:nvSpPr>
        <p:spPr>
          <a:xfrm>
            <a:off x="453767" y="1794767"/>
            <a:ext cx="8561964" cy="499176"/>
          </a:xfrm>
          <a:prstGeom prst="rect">
            <a:avLst/>
          </a:prstGeom>
        </p:spPr>
        <p:txBody>
          <a:bodyPr vert="horz" wrap="square" lIns="0" tIns="15240" rIns="0" bIns="0" rtlCol="0">
            <a:spAutoFit/>
          </a:bodyPr>
          <a:lstStyle/>
          <a:p>
            <a:pPr marL="12700" marR="5080" algn="just">
              <a:lnSpc>
                <a:spcPct val="150000"/>
              </a:lnSpc>
              <a:spcBef>
                <a:spcPts val="600"/>
              </a:spcBef>
              <a:spcAft>
                <a:spcPts val="600"/>
              </a:spcAft>
            </a:pPr>
            <a:r>
              <a:rPr sz="2400" dirty="0">
                <a:latin typeface="Futura Lt BT Light"/>
                <a:ea typeface="Calibri" panose="020F0502020204030204" pitchFamily="34" charset="0"/>
              </a:rPr>
              <a:t>{{TEXTO_CONTEXTO}}</a:t>
            </a:r>
          </a:p>
        </p:txBody>
      </p:sp>
      <p:sp>
        <p:nvSpPr>
          <p:cNvPr id="40" name="object 3">
            <a:extLst>
              <a:ext uri="{FF2B5EF4-FFF2-40B4-BE49-F238E27FC236}">
                <a16:creationId xmlns:a16="http://schemas.microsoft.com/office/drawing/2014/main" id="{4819328C-93B4-25AF-8719-A054D748EC74}"/>
              </a:ext>
            </a:extLst>
          </p:cNvPr>
          <p:cNvSpPr/>
          <p:nvPr/>
        </p:nvSpPr>
        <p:spPr>
          <a:xfrm>
            <a:off x="492130" y="743432"/>
            <a:ext cx="45719"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44" name="object 8">
            <a:extLst>
              <a:ext uri="{FF2B5EF4-FFF2-40B4-BE49-F238E27FC236}">
                <a16:creationId xmlns:a16="http://schemas.microsoft.com/office/drawing/2014/main" id="{A5CC9DF5-448A-B5D0-BD56-167833EE01C5}"/>
              </a:ext>
            </a:extLst>
          </p:cNvPr>
          <p:cNvSpPr/>
          <p:nvPr/>
        </p:nvSpPr>
        <p:spPr>
          <a:xfrm>
            <a:off x="8764130" y="10596536"/>
            <a:ext cx="10460990" cy="94615"/>
          </a:xfrm>
          <a:custGeom>
            <a:avLst/>
            <a:gdLst/>
            <a:ahLst/>
            <a:cxnLst/>
            <a:rect l="l" t="t" r="r" b="b"/>
            <a:pathLst>
              <a:path w="10460990" h="94615">
                <a:moveTo>
                  <a:pt x="10460414" y="0"/>
                </a:moveTo>
                <a:lnTo>
                  <a:pt x="0" y="0"/>
                </a:lnTo>
                <a:lnTo>
                  <a:pt x="0" y="94237"/>
                </a:lnTo>
                <a:lnTo>
                  <a:pt x="10460414" y="94237"/>
                </a:lnTo>
                <a:lnTo>
                  <a:pt x="10460414" y="0"/>
                </a:lnTo>
                <a:close/>
              </a:path>
            </a:pathLst>
          </a:custGeom>
          <a:solidFill>
            <a:srgbClr val="006969"/>
          </a:solidFill>
        </p:spPr>
        <p:txBody>
          <a:bodyPr wrap="square" lIns="0" tIns="0" rIns="0" bIns="0" rtlCol="0"/>
          <a:lstStyle/>
          <a:p>
            <a:endParaRPr/>
          </a:p>
        </p:txBody>
      </p:sp>
      <p:sp>
        <p:nvSpPr>
          <p:cNvPr id="45" name="object 9">
            <a:extLst>
              <a:ext uri="{FF2B5EF4-FFF2-40B4-BE49-F238E27FC236}">
                <a16:creationId xmlns:a16="http://schemas.microsoft.com/office/drawing/2014/main" id="{329AAA0C-041E-9079-F82F-6DB65E2F45F9}"/>
              </a:ext>
            </a:extLst>
          </p:cNvPr>
          <p:cNvSpPr/>
          <p:nvPr/>
        </p:nvSpPr>
        <p:spPr>
          <a:xfrm>
            <a:off x="10879249" y="10366177"/>
            <a:ext cx="6042025" cy="94615"/>
          </a:xfrm>
          <a:custGeom>
            <a:avLst/>
            <a:gdLst/>
            <a:ahLst/>
            <a:cxnLst/>
            <a:rect l="l" t="t" r="r" b="b"/>
            <a:pathLst>
              <a:path w="6042025" h="94615">
                <a:moveTo>
                  <a:pt x="6041700" y="0"/>
                </a:moveTo>
                <a:lnTo>
                  <a:pt x="0" y="0"/>
                </a:lnTo>
                <a:lnTo>
                  <a:pt x="0" y="94237"/>
                </a:lnTo>
                <a:lnTo>
                  <a:pt x="6041700" y="94237"/>
                </a:lnTo>
                <a:lnTo>
                  <a:pt x="6041700" y="0"/>
                </a:lnTo>
                <a:close/>
              </a:path>
            </a:pathLst>
          </a:custGeom>
          <a:solidFill>
            <a:srgbClr val="C69A78">
              <a:alpha val="89999"/>
            </a:srgbClr>
          </a:solidFill>
        </p:spPr>
        <p:txBody>
          <a:bodyPr wrap="square" lIns="0" tIns="0" rIns="0" bIns="0" rtlCol="0"/>
          <a:lstStyle/>
          <a:p>
            <a:endParaRPr/>
          </a:p>
        </p:txBody>
      </p:sp>
      <p:sp>
        <p:nvSpPr>
          <p:cNvPr id="46" name="object 10">
            <a:extLst>
              <a:ext uri="{FF2B5EF4-FFF2-40B4-BE49-F238E27FC236}">
                <a16:creationId xmlns:a16="http://schemas.microsoft.com/office/drawing/2014/main" id="{D29F4ECD-5755-136F-4FF6-4D9BD827CCE2}"/>
              </a:ext>
            </a:extLst>
          </p:cNvPr>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sp>
        <p:nvSpPr>
          <p:cNvPr id="49" name="object 13">
            <a:extLst>
              <a:ext uri="{FF2B5EF4-FFF2-40B4-BE49-F238E27FC236}">
                <a16:creationId xmlns:a16="http://schemas.microsoft.com/office/drawing/2014/main" id="{70C00E7C-945D-65FE-0FED-E2B096DCF1AB}"/>
              </a:ext>
            </a:extLst>
          </p:cNvPr>
          <p:cNvSpPr/>
          <p:nvPr/>
        </p:nvSpPr>
        <p:spPr>
          <a:xfrm>
            <a:off x="17127745" y="9167672"/>
            <a:ext cx="1788795" cy="1167130"/>
          </a:xfrm>
          <a:custGeom>
            <a:avLst/>
            <a:gdLst/>
            <a:ahLst/>
            <a:cxnLst/>
            <a:rect l="l" t="t" r="r" b="b"/>
            <a:pathLst>
              <a:path w="1788794" h="1167129">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a:p>
        </p:txBody>
      </p:sp>
      <p:sp>
        <p:nvSpPr>
          <p:cNvPr id="50" name="object 14">
            <a:extLst>
              <a:ext uri="{FF2B5EF4-FFF2-40B4-BE49-F238E27FC236}">
                <a16:creationId xmlns:a16="http://schemas.microsoft.com/office/drawing/2014/main" id="{09A9F2E4-F2D7-A5D4-2E74-1A6D32204B2C}"/>
              </a:ext>
            </a:extLst>
          </p:cNvPr>
          <p:cNvSpPr/>
          <p:nvPr/>
        </p:nvSpPr>
        <p:spPr>
          <a:xfrm>
            <a:off x="17127745" y="7840154"/>
            <a:ext cx="1788795" cy="1167130"/>
          </a:xfrm>
          <a:custGeom>
            <a:avLst/>
            <a:gdLst/>
            <a:ahLst/>
            <a:cxnLst/>
            <a:rect l="l" t="t" r="r" b="b"/>
            <a:pathLst>
              <a:path w="1788794" h="1167129">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a:p>
        </p:txBody>
      </p:sp>
      <p:sp>
        <p:nvSpPr>
          <p:cNvPr id="2" name="object 24">
            <a:extLst>
              <a:ext uri="{FF2B5EF4-FFF2-40B4-BE49-F238E27FC236}">
                <a16:creationId xmlns:a16="http://schemas.microsoft.com/office/drawing/2014/main" id="{1FB25479-5568-48DB-388E-6C9E776D0A60}"/>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4" name="Espaço Reservado para Número de Slide 3">
            <a:extLst>
              <a:ext uri="{FF2B5EF4-FFF2-40B4-BE49-F238E27FC236}">
                <a16:creationId xmlns:a16="http://schemas.microsoft.com/office/drawing/2014/main" id="{B238637F-D6D8-34DF-4044-065FDC40CD45}"/>
              </a:ext>
            </a:extLst>
          </p:cNvPr>
          <p:cNvSpPr>
            <a:spLocks noGrp="1"/>
          </p:cNvSpPr>
          <p:nvPr>
            <p:ph type="sldNum" sz="quarter" idx="7"/>
          </p:nvPr>
        </p:nvSpPr>
        <p:spPr>
          <a:xfrm>
            <a:off x="15005050" y="10988675"/>
            <a:ext cx="4623943" cy="565467"/>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9</a:t>
            </a:fld>
            <a:endParaRPr lang="en-US" sz="1400" dirty="0">
              <a:solidFill>
                <a:schemeClr val="bg1"/>
              </a:solidFill>
              <a:latin typeface="Futura Lt BT" panose="020B0402020204020303" pitchFamily="34" charset="0"/>
            </a:endParaRPr>
          </a:p>
        </p:txBody>
      </p:sp>
      <p:sp>
        <p:nvSpPr>
          <p:cNvPr id="11" name="CaixaDeTexto 10">
            <a:extLst>
              <a:ext uri="{FF2B5EF4-FFF2-40B4-BE49-F238E27FC236}">
                <a16:creationId xmlns:a16="http://schemas.microsoft.com/office/drawing/2014/main" id="{1948649F-2DE0-2112-4AEF-381EB4DAB3CD}"/>
              </a:ext>
            </a:extLst>
          </p:cNvPr>
          <p:cNvSpPr txBox="1"/>
          <p:nvPr/>
        </p:nvSpPr>
        <p:spPr>
          <a:xfrm>
            <a:off x="10214154" y="1794767"/>
            <a:ext cx="9366258" cy="576120"/>
          </a:xfrm>
          <a:prstGeom prst="rect">
            <a:avLst/>
          </a:prstGeom>
          <a:noFill/>
        </p:spPr>
        <p:txBody>
          <a:bodyPr wrap="square" rtlCol="0">
            <a:spAutoFit/>
          </a:bodyPr>
          <a:lstStyle/>
          <a:p>
            <a:pPr marL="12700" marR="5080" algn="just">
              <a:lnSpc>
                <a:spcPct val="150000"/>
              </a:lnSpc>
              <a:spcBef>
                <a:spcPts val="600"/>
              </a:spcBef>
              <a:spcAft>
                <a:spcPts val="600"/>
              </a:spcAft>
            </a:pPr>
            <a:r>
              <a:rPr sz="2400" dirty="0">
                <a:latin typeface="Futura Lt BT Light"/>
                <a:ea typeface="Calibri" panose="020F0502020204030204" pitchFamily="34" charset="0"/>
              </a:rPr>
              <a:t>{{TEXTO_SITUACAO}}</a:t>
            </a:r>
          </a:p>
        </p:txBody>
      </p:sp>
      <p:sp>
        <p:nvSpPr>
          <p:cNvPr id="8" name="object 2">
            <a:extLst>
              <a:ext uri="{FF2B5EF4-FFF2-40B4-BE49-F238E27FC236}">
                <a16:creationId xmlns:a16="http://schemas.microsoft.com/office/drawing/2014/main" id="{44A665DC-2352-AAE5-AFE0-49804BA536A3}"/>
              </a:ext>
            </a:extLst>
          </p:cNvPr>
          <p:cNvSpPr txBox="1">
            <a:spLocks/>
          </p:cNvSpPr>
          <p:nvPr/>
        </p:nvSpPr>
        <p:spPr>
          <a:xfrm>
            <a:off x="10306123" y="743432"/>
            <a:ext cx="5156127" cy="773930"/>
          </a:xfrm>
          <a:prstGeom prst="rect">
            <a:avLst/>
          </a:prstGeom>
        </p:spPr>
        <p:txBody>
          <a:bodyPr vert="horz" wrap="square" lIns="0" tIns="12065" rIns="0" bIns="0" rtlCol="0">
            <a:spAutoFit/>
          </a:bodyPr>
          <a:lstStyle>
            <a:lvl1pPr>
              <a:defRPr sz="4950" b="0" i="0">
                <a:solidFill>
                  <a:srgbClr val="006969"/>
                </a:solidFill>
                <a:latin typeface="Futura PT Book"/>
                <a:ea typeface="+mj-ea"/>
                <a:cs typeface="Futura PT Book"/>
              </a:defRPr>
            </a:lvl1pPr>
          </a:lstStyle>
          <a:p>
            <a:pPr marL="158750">
              <a:spcBef>
                <a:spcPts val="95"/>
              </a:spcBef>
            </a:pPr>
            <a:r>
              <a:rPr lang="es-419" dirty="0">
                <a:latin typeface="Futura Lt BT Light"/>
              </a:rPr>
              <a:t>SITUAÇÃO</a:t>
            </a:r>
            <a:endParaRPr lang="es-419" spc="-10" dirty="0">
              <a:latin typeface="Futura Lt BT Light"/>
            </a:endParaRPr>
          </a:p>
        </p:txBody>
      </p:sp>
      <p:sp>
        <p:nvSpPr>
          <p:cNvPr id="9" name="object 3">
            <a:extLst>
              <a:ext uri="{FF2B5EF4-FFF2-40B4-BE49-F238E27FC236}">
                <a16:creationId xmlns:a16="http://schemas.microsoft.com/office/drawing/2014/main" id="{9C1C3069-2859-FF0A-016F-7D824D67C807}"/>
              </a:ext>
            </a:extLst>
          </p:cNvPr>
          <p:cNvSpPr/>
          <p:nvPr/>
        </p:nvSpPr>
        <p:spPr>
          <a:xfrm>
            <a:off x="10306123" y="743432"/>
            <a:ext cx="45719"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42138" y="0"/>
            <a:ext cx="20061961" cy="11308556"/>
          </a:xfrm>
          <a:prstGeom prst="rect">
            <a:avLst/>
          </a:prstGeom>
        </p:spPr>
      </p:pic>
      <p:sp>
        <p:nvSpPr>
          <p:cNvPr id="3" name="object 3"/>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060606">
              <a:alpha val="69999"/>
            </a:srgbClr>
          </a:solidFill>
        </p:spPr>
        <p:txBody>
          <a:bodyPr wrap="square" lIns="0" tIns="0" rIns="0" bIns="0" rtlCol="0"/>
          <a:lstStyle/>
          <a:p>
            <a:endParaRPr/>
          </a:p>
        </p:txBody>
      </p:sp>
      <p:sp>
        <p:nvSpPr>
          <p:cNvPr id="4" name="object 4"/>
          <p:cNvSpPr/>
          <p:nvPr/>
        </p:nvSpPr>
        <p:spPr>
          <a:xfrm>
            <a:off x="9800749" y="4910845"/>
            <a:ext cx="10303510" cy="1550035"/>
          </a:xfrm>
          <a:custGeom>
            <a:avLst/>
            <a:gdLst/>
            <a:ahLst/>
            <a:cxnLst/>
            <a:rect l="l" t="t" r="r" b="b"/>
            <a:pathLst>
              <a:path w="10303510" h="1550035">
                <a:moveTo>
                  <a:pt x="0" y="1549691"/>
                </a:moveTo>
                <a:lnTo>
                  <a:pt x="10303351" y="1549691"/>
                </a:lnTo>
                <a:lnTo>
                  <a:pt x="10303351" y="0"/>
                </a:lnTo>
                <a:lnTo>
                  <a:pt x="0" y="0"/>
                </a:lnTo>
                <a:lnTo>
                  <a:pt x="0" y="1549691"/>
                </a:lnTo>
                <a:close/>
              </a:path>
            </a:pathLst>
          </a:custGeom>
          <a:solidFill>
            <a:srgbClr val="090706">
              <a:alpha val="64999"/>
            </a:srgbClr>
          </a:solidFill>
        </p:spPr>
        <p:txBody>
          <a:bodyPr wrap="square" lIns="0" tIns="0" rIns="0" bIns="0" rtlCol="0"/>
          <a:lstStyle/>
          <a:p>
            <a:endParaRPr/>
          </a:p>
        </p:txBody>
      </p:sp>
      <p:sp>
        <p:nvSpPr>
          <p:cNvPr id="5" name="object 5"/>
          <p:cNvSpPr txBox="1">
            <a:spLocks noGrp="1"/>
          </p:cNvSpPr>
          <p:nvPr>
            <p:ph type="title"/>
          </p:nvPr>
        </p:nvSpPr>
        <p:spPr>
          <a:xfrm>
            <a:off x="10751370" y="5175664"/>
            <a:ext cx="7835080" cy="837409"/>
          </a:xfrm>
          <a:prstGeom prst="rect">
            <a:avLst/>
          </a:prstGeom>
        </p:spPr>
        <p:txBody>
          <a:bodyPr vert="horz" wrap="square" lIns="0" tIns="13970" rIns="0" bIns="0" rtlCol="0">
            <a:spAutoFit/>
          </a:bodyPr>
          <a:lstStyle/>
          <a:p>
            <a:pPr marL="12700">
              <a:lnSpc>
                <a:spcPct val="100000"/>
              </a:lnSpc>
              <a:spcBef>
                <a:spcPts val="110"/>
              </a:spcBef>
            </a:pPr>
            <a:r>
              <a:rPr sz="5350" dirty="0">
                <a:solidFill>
                  <a:srgbClr val="F3FFCC"/>
                </a:solidFill>
                <a:latin typeface="Futura Lt BT Light"/>
              </a:rPr>
              <a:t>ESCOPO DO </a:t>
            </a:r>
            <a:r>
              <a:rPr sz="5350" spc="-10" dirty="0">
                <a:solidFill>
                  <a:srgbClr val="F3FFCC"/>
                </a:solidFill>
                <a:latin typeface="Futura Lt BT Light"/>
              </a:rPr>
              <a:t>PROJETO</a:t>
            </a:r>
            <a:endParaRPr sz="5350" dirty="0">
              <a:latin typeface="Futura Lt BT Light"/>
            </a:endParaRPr>
          </a:p>
        </p:txBody>
      </p:sp>
      <p:sp>
        <p:nvSpPr>
          <p:cNvPr id="6" name="object 6"/>
          <p:cNvSpPr/>
          <p:nvPr/>
        </p:nvSpPr>
        <p:spPr>
          <a:xfrm>
            <a:off x="10397589" y="5308738"/>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8" name="Espaço Reservado para Número de Slide 7">
            <a:extLst>
              <a:ext uri="{FF2B5EF4-FFF2-40B4-BE49-F238E27FC236}">
                <a16:creationId xmlns:a16="http://schemas.microsoft.com/office/drawing/2014/main" id="{2FF926AA-9D2F-06AE-5FAC-6A69346BD347}"/>
              </a:ext>
            </a:extLst>
          </p:cNvPr>
          <p:cNvSpPr>
            <a:spLocks noGrp="1"/>
          </p:cNvSpPr>
          <p:nvPr>
            <p:ph type="sldNum" sz="quarter" idx="7"/>
          </p:nvPr>
        </p:nvSpPr>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10</a:t>
            </a:fld>
            <a:endParaRPr lang="en-US" sz="1400" dirty="0">
              <a:solidFill>
                <a:schemeClr val="bg1"/>
              </a:solidFill>
              <a:latin typeface="Futura Lt BT" panose="020B0402020204020303" pitchFamily="3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object 7"/>
          <p:cNvSpPr txBox="1">
            <a:spLocks noGrp="1"/>
          </p:cNvSpPr>
          <p:nvPr>
            <p:ph type="title"/>
          </p:nvPr>
        </p:nvSpPr>
        <p:spPr>
          <a:xfrm>
            <a:off x="670003" y="635022"/>
            <a:ext cx="10242550" cy="773930"/>
          </a:xfrm>
          <a:prstGeom prst="rect">
            <a:avLst/>
          </a:prstGeom>
        </p:spPr>
        <p:txBody>
          <a:bodyPr vert="horz" wrap="square" lIns="0" tIns="12065" rIns="0" bIns="0" rtlCol="0">
            <a:spAutoFit/>
          </a:bodyPr>
          <a:lstStyle/>
          <a:p>
            <a:pPr marL="12700">
              <a:lnSpc>
                <a:spcPct val="100000"/>
              </a:lnSpc>
              <a:spcBef>
                <a:spcPts val="95"/>
              </a:spcBef>
            </a:pPr>
            <a:r>
              <a:rPr dirty="0">
                <a:latin typeface="Futura Lt BT Light"/>
              </a:rPr>
              <a:t>ESCOPO</a:t>
            </a:r>
            <a:r>
              <a:rPr spc="-135" dirty="0">
                <a:latin typeface="Futura Lt BT Light"/>
              </a:rPr>
              <a:t> </a:t>
            </a:r>
            <a:r>
              <a:rPr dirty="0">
                <a:latin typeface="Futura Lt BT Light"/>
              </a:rPr>
              <a:t>DO</a:t>
            </a:r>
            <a:r>
              <a:rPr spc="-130" dirty="0">
                <a:latin typeface="Futura Lt BT Light"/>
              </a:rPr>
              <a:t> </a:t>
            </a:r>
            <a:r>
              <a:rPr spc="-10" dirty="0">
                <a:latin typeface="Futura Lt BT Light"/>
              </a:rPr>
              <a:t>PROJETO</a:t>
            </a:r>
          </a:p>
        </p:txBody>
      </p:sp>
      <p:sp>
        <p:nvSpPr>
          <p:cNvPr id="8" name="object 8"/>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10" name="object 10"/>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solidFill>
        </p:spPr>
        <p:txBody>
          <a:bodyPr wrap="square" lIns="0" tIns="0" rIns="0" bIns="0" rtlCol="0"/>
          <a:lstStyle/>
          <a:p>
            <a:endParaRPr/>
          </a:p>
        </p:txBody>
      </p:sp>
      <p:sp>
        <p:nvSpPr>
          <p:cNvPr id="11" name="object 11"/>
          <p:cNvSpPr/>
          <p:nvPr/>
        </p:nvSpPr>
        <p:spPr>
          <a:xfrm>
            <a:off x="19297842" y="2638663"/>
            <a:ext cx="94615" cy="6042025"/>
          </a:xfrm>
          <a:custGeom>
            <a:avLst/>
            <a:gdLst/>
            <a:ahLst/>
            <a:cxnLst/>
            <a:rect l="l" t="t" r="r" b="b"/>
            <a:pathLst>
              <a:path w="94615" h="6042025">
                <a:moveTo>
                  <a:pt x="94237" y="0"/>
                </a:moveTo>
                <a:lnTo>
                  <a:pt x="0" y="0"/>
                </a:lnTo>
                <a:lnTo>
                  <a:pt x="0" y="6041700"/>
                </a:lnTo>
                <a:lnTo>
                  <a:pt x="94237" y="6041700"/>
                </a:lnTo>
                <a:lnTo>
                  <a:pt x="94237" y="0"/>
                </a:lnTo>
                <a:close/>
              </a:path>
            </a:pathLst>
          </a:custGeom>
          <a:solidFill>
            <a:srgbClr val="C69A78">
              <a:alpha val="89999"/>
            </a:srgbClr>
          </a:solidFill>
        </p:spPr>
        <p:txBody>
          <a:bodyPr wrap="square" lIns="0" tIns="0" rIns="0" bIns="0" rtlCol="0"/>
          <a:lstStyle/>
          <a:p>
            <a:endParaRPr/>
          </a:p>
        </p:txBody>
      </p:sp>
      <p:sp>
        <p:nvSpPr>
          <p:cNvPr id="12" name="object 12"/>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sp>
        <p:nvSpPr>
          <p:cNvPr id="15" name="object 15"/>
          <p:cNvSpPr/>
          <p:nvPr/>
        </p:nvSpPr>
        <p:spPr>
          <a:xfrm>
            <a:off x="17274336" y="1502984"/>
            <a:ext cx="1788795" cy="1167130"/>
          </a:xfrm>
          <a:custGeom>
            <a:avLst/>
            <a:gdLst/>
            <a:ahLst/>
            <a:cxnLst/>
            <a:rect l="l" t="t" r="r" b="b"/>
            <a:pathLst>
              <a:path w="1788794" h="1167130">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a:p>
        </p:txBody>
      </p:sp>
      <p:sp>
        <p:nvSpPr>
          <p:cNvPr id="16" name="object 16"/>
          <p:cNvSpPr/>
          <p:nvPr/>
        </p:nvSpPr>
        <p:spPr>
          <a:xfrm>
            <a:off x="17274336" y="175466"/>
            <a:ext cx="1788795" cy="1167130"/>
          </a:xfrm>
          <a:custGeom>
            <a:avLst/>
            <a:gdLst/>
            <a:ahLst/>
            <a:cxnLst/>
            <a:rect l="l" t="t" r="r" b="b"/>
            <a:pathLst>
              <a:path w="1788794" h="1167130">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a:p>
        </p:txBody>
      </p:sp>
      <p:sp>
        <p:nvSpPr>
          <p:cNvPr id="18" name="CaixaDeTexto 17">
            <a:extLst>
              <a:ext uri="{FF2B5EF4-FFF2-40B4-BE49-F238E27FC236}">
                <a16:creationId xmlns:a16="http://schemas.microsoft.com/office/drawing/2014/main" id="{80D2D3B6-CD76-EDFE-9F63-0EE8D0B8EF3C}"/>
              </a:ext>
            </a:extLst>
          </p:cNvPr>
          <p:cNvSpPr txBox="1"/>
          <p:nvPr/>
        </p:nvSpPr>
        <p:spPr>
          <a:xfrm>
            <a:off x="540183" y="1843997"/>
            <a:ext cx="16368785" cy="1838004"/>
          </a:xfrm>
          <a:prstGeom prst="rect">
            <a:avLst/>
          </a:prstGeom>
          <a:noFill/>
        </p:spPr>
        <p:txBody>
          <a:bodyPr wrap="square">
            <a:spAutoFit/>
          </a:bodyPr>
          <a:lstStyle/>
          <a:p>
            <a:pPr marL="12700" marR="5080" algn="just">
              <a:lnSpc>
                <a:spcPct val="150000"/>
              </a:lnSpc>
              <a:spcAft>
                <a:spcPts val="60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sz="2400" dirty="0">
                <a:latin typeface="Futura Lt BT Light"/>
                <a:ea typeface="Calibri" panose="020F0502020204030204" pitchFamily="34" charset="0"/>
              </a:rPr>
              <a:t>{{TEXTO_ESCOPO}}</a:t>
            </a:r>
            <a:endParaRPr lang="pt-BR" sz="2400" dirty="0">
              <a:latin typeface="Futura Lt BT Light"/>
              <a:ea typeface="Calibri" panose="020F0502020204030204" pitchFamily="34" charset="0"/>
            </a:endParaRPr>
          </a:p>
          <a:p>
            <a:pPr marL="342900" marR="13970" lvl="0" indent="-342900" algn="just">
              <a:lnSpc>
                <a:spcPct val="150000"/>
              </a:lnSpc>
              <a:spcAft>
                <a:spcPts val="600"/>
              </a:spcAft>
              <a:buFont typeface="Symbol" panose="05050102010706020507" pitchFamily="18" charset="2"/>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lang="pt-BR" sz="2400" dirty="0">
              <a:latin typeface="Futura Lt BT Light"/>
              <a:ea typeface="Calibri" panose="020F0502020204030204" pitchFamily="34" charset="0"/>
            </a:endParaRPr>
          </a:p>
          <a:p>
            <a:pPr marL="12700" marR="5080" algn="just">
              <a:lnSpc>
                <a:spcPct val="150000"/>
              </a:lnSpc>
              <a:spcAft>
                <a:spcPts val="60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sz="2400" dirty="0">
              <a:latin typeface="Futura Lt BT Light"/>
              <a:ea typeface="Calibri" panose="020F0502020204030204" pitchFamily="34" charset="0"/>
            </a:endParaRPr>
          </a:p>
        </p:txBody>
      </p:sp>
      <p:sp>
        <p:nvSpPr>
          <p:cNvPr id="2" name="object 24">
            <a:extLst>
              <a:ext uri="{FF2B5EF4-FFF2-40B4-BE49-F238E27FC236}">
                <a16:creationId xmlns:a16="http://schemas.microsoft.com/office/drawing/2014/main" id="{DEE5BEEC-23FC-41D6-66B1-5EE93326416B}"/>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4" name="Espaço Reservado para Número de Slide 3">
            <a:extLst>
              <a:ext uri="{FF2B5EF4-FFF2-40B4-BE49-F238E27FC236}">
                <a16:creationId xmlns:a16="http://schemas.microsoft.com/office/drawing/2014/main" id="{FF7EFFB4-6F32-13BE-99D9-C2A6CAB0BCFF}"/>
              </a:ext>
            </a:extLst>
          </p:cNvPr>
          <p:cNvSpPr>
            <a:spLocks noGrp="1"/>
          </p:cNvSpPr>
          <p:nvPr>
            <p:ph type="sldNum" sz="quarter" idx="7"/>
          </p:nvPr>
        </p:nvSpPr>
        <p:spPr>
          <a:xfrm>
            <a:off x="15029307" y="11000843"/>
            <a:ext cx="4623943" cy="565467"/>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11</a:t>
            </a:fld>
            <a:endParaRPr lang="en-US" sz="1400" dirty="0">
              <a:solidFill>
                <a:schemeClr val="bg1"/>
              </a:solidFill>
              <a:latin typeface="Futura Lt BT" panose="020B0402020204020303" pitchFamily="34"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object 16"/>
          <p:cNvSpPr txBox="1"/>
          <p:nvPr/>
        </p:nvSpPr>
        <p:spPr>
          <a:xfrm>
            <a:off x="575951" y="2073275"/>
            <a:ext cx="16562642" cy="2976777"/>
          </a:xfrm>
          <a:prstGeom prst="rect">
            <a:avLst/>
          </a:prstGeom>
        </p:spPr>
        <p:txBody>
          <a:bodyPr vert="horz" wrap="square" lIns="0" tIns="15240" rIns="0" bIns="0" rtlCol="0">
            <a:spAutoFit/>
          </a:bodyPr>
          <a:lstStyle/>
          <a:p>
            <a:pPr marL="12700" algn="just">
              <a:lnSpc>
                <a:spcPct val="100000"/>
              </a:lnSpc>
              <a:spcBef>
                <a:spcPts val="120"/>
              </a:spcBef>
            </a:pPr>
            <a:r>
              <a:rPr sz="2400" dirty="0">
                <a:latin typeface="Futura Lt BT Light"/>
                <a:ea typeface="Calibri" panose="020F0502020204030204" pitchFamily="34" charset="0"/>
              </a:rPr>
              <a:t>A documentação necessária para elaboração do presente trabalho consiste </a:t>
            </a:r>
            <a:r>
              <a:rPr sz="2400" dirty="0" err="1">
                <a:latin typeface="Futura Lt BT Light"/>
                <a:ea typeface="Calibri" panose="020F0502020204030204" pitchFamily="34" charset="0"/>
              </a:rPr>
              <a:t>em</a:t>
            </a:r>
            <a:r>
              <a:rPr sz="2400" dirty="0">
                <a:latin typeface="Futura Lt BT Light"/>
                <a:ea typeface="Calibri" panose="020F0502020204030204" pitchFamily="34" charset="0"/>
              </a:rPr>
              <a:t>:</a:t>
            </a:r>
            <a:endParaRPr lang="pt-BR" sz="2400" dirty="0">
              <a:latin typeface="Futura Lt BT Light"/>
              <a:ea typeface="Calibri" panose="020F0502020204030204" pitchFamily="34" charset="0"/>
            </a:endParaRPr>
          </a:p>
          <a:p>
            <a:pPr algn="just">
              <a:lnSpc>
                <a:spcPct val="100000"/>
              </a:lnSpc>
              <a:spcBef>
                <a:spcPts val="20"/>
              </a:spcBef>
            </a:pPr>
            <a:endParaRPr lang="pt-BR" sz="2400" dirty="0">
              <a:latin typeface="Futura Lt BT Light"/>
              <a:cs typeface="Futura PT Book"/>
            </a:endParaRPr>
          </a:p>
          <a:p>
            <a:pPr marL="342900" marR="13970" lvl="0" indent="-342900" algn="just">
              <a:lnSpc>
                <a:spcPct val="150000"/>
              </a:lnSpc>
              <a:spcAft>
                <a:spcPts val="600"/>
              </a:spcAft>
              <a:buFont typeface="Symbol" panose="05050102010706020507" pitchFamily="18" charset="2"/>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pt-BR" sz="2400" dirty="0">
                <a:latin typeface="Futura Lt BT Light"/>
                <a:ea typeface="Calibri" panose="020F0502020204030204" pitchFamily="34" charset="0"/>
              </a:rPr>
              <a:t>{{DOCUMENTAÇÃO NECESSÁRIA}}</a:t>
            </a:r>
          </a:p>
          <a:p>
            <a:pPr marL="12700" marR="5080" algn="just">
              <a:lnSpc>
                <a:spcPct val="150000"/>
              </a:lnSpc>
            </a:pPr>
            <a:r>
              <a:rPr sz="2400" dirty="0">
                <a:latin typeface="Futura Lt BT Light"/>
                <a:ea typeface="Calibri" panose="020F0502020204030204" pitchFamily="34" charset="0"/>
              </a:rPr>
              <a:t>Caso os documentos necessários para execução do serviço, conforme descritos na cláusula acima, não sejam fornecidos pelo cliente de forma satisfatória e sua obtenção ou elaboração resulte em horas adicionais de trabalho, a referida quantidade de horas será apurada e cobrada conforme valor dos honorários </a:t>
            </a:r>
            <a:r>
              <a:rPr sz="2400" dirty="0" err="1">
                <a:latin typeface="Futura Lt BT Light"/>
                <a:ea typeface="Calibri" panose="020F0502020204030204" pitchFamily="34" charset="0"/>
              </a:rPr>
              <a:t>vigentes</a:t>
            </a:r>
            <a:r>
              <a:rPr sz="2400" dirty="0">
                <a:latin typeface="Futura Lt BT Light"/>
                <a:ea typeface="Calibri" panose="020F0502020204030204" pitchFamily="34" charset="0"/>
              </a:rPr>
              <a:t>.</a:t>
            </a:r>
          </a:p>
        </p:txBody>
      </p:sp>
      <p:sp>
        <p:nvSpPr>
          <p:cNvPr id="14" name="object 14"/>
          <p:cNvSpPr txBox="1">
            <a:spLocks noGrp="1"/>
          </p:cNvSpPr>
          <p:nvPr>
            <p:ph type="title"/>
          </p:nvPr>
        </p:nvSpPr>
        <p:spPr>
          <a:xfrm>
            <a:off x="670002" y="635022"/>
            <a:ext cx="11591847" cy="773930"/>
          </a:xfrm>
          <a:prstGeom prst="rect">
            <a:avLst/>
          </a:prstGeom>
        </p:spPr>
        <p:txBody>
          <a:bodyPr vert="horz" wrap="square" lIns="0" tIns="12065" rIns="0" bIns="0" rtlCol="0">
            <a:spAutoFit/>
          </a:bodyPr>
          <a:lstStyle/>
          <a:p>
            <a:pPr marL="12700">
              <a:lnSpc>
                <a:spcPct val="100000"/>
              </a:lnSpc>
              <a:spcBef>
                <a:spcPts val="95"/>
              </a:spcBef>
            </a:pPr>
            <a:r>
              <a:rPr spc="-55" dirty="0">
                <a:latin typeface="Futura Lt BT Light"/>
              </a:rPr>
              <a:t>DOCUMENTAÇÃO</a:t>
            </a:r>
            <a:r>
              <a:rPr spc="-170" dirty="0">
                <a:latin typeface="Futura Lt BT Light"/>
              </a:rPr>
              <a:t> </a:t>
            </a:r>
            <a:r>
              <a:rPr spc="-10" dirty="0">
                <a:latin typeface="Futura Lt BT Light"/>
              </a:rPr>
              <a:t>NECESSÁRIA</a:t>
            </a:r>
          </a:p>
        </p:txBody>
      </p:sp>
      <p:sp>
        <p:nvSpPr>
          <p:cNvPr id="15" name="object 15"/>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17" name="object 17"/>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solidFill>
        </p:spPr>
        <p:txBody>
          <a:bodyPr wrap="square" lIns="0" tIns="0" rIns="0" bIns="0" rtlCol="0"/>
          <a:lstStyle/>
          <a:p>
            <a:endParaRPr/>
          </a:p>
        </p:txBody>
      </p:sp>
      <p:sp>
        <p:nvSpPr>
          <p:cNvPr id="18" name="object 18"/>
          <p:cNvSpPr/>
          <p:nvPr/>
        </p:nvSpPr>
        <p:spPr>
          <a:xfrm>
            <a:off x="19297842" y="2638663"/>
            <a:ext cx="94615" cy="6042025"/>
          </a:xfrm>
          <a:custGeom>
            <a:avLst/>
            <a:gdLst/>
            <a:ahLst/>
            <a:cxnLst/>
            <a:rect l="l" t="t" r="r" b="b"/>
            <a:pathLst>
              <a:path w="94615" h="6042025">
                <a:moveTo>
                  <a:pt x="94237" y="0"/>
                </a:moveTo>
                <a:lnTo>
                  <a:pt x="0" y="0"/>
                </a:lnTo>
                <a:lnTo>
                  <a:pt x="0" y="6041700"/>
                </a:lnTo>
                <a:lnTo>
                  <a:pt x="94237" y="6041700"/>
                </a:lnTo>
                <a:lnTo>
                  <a:pt x="94237" y="0"/>
                </a:lnTo>
                <a:close/>
              </a:path>
            </a:pathLst>
          </a:custGeom>
          <a:solidFill>
            <a:srgbClr val="C69A78">
              <a:alpha val="89999"/>
            </a:srgbClr>
          </a:solidFill>
        </p:spPr>
        <p:txBody>
          <a:bodyPr wrap="square" lIns="0" tIns="0" rIns="0" bIns="0" rtlCol="0"/>
          <a:lstStyle/>
          <a:p>
            <a:endParaRPr/>
          </a:p>
        </p:txBody>
      </p:sp>
      <p:sp>
        <p:nvSpPr>
          <p:cNvPr id="19" name="object 19"/>
          <p:cNvSpPr/>
          <p:nvPr/>
        </p:nvSpPr>
        <p:spPr>
          <a:xfrm>
            <a:off x="17274336" y="1502984"/>
            <a:ext cx="1788795" cy="1167130"/>
          </a:xfrm>
          <a:custGeom>
            <a:avLst/>
            <a:gdLst/>
            <a:ahLst/>
            <a:cxnLst/>
            <a:rect l="l" t="t" r="r" b="b"/>
            <a:pathLst>
              <a:path w="1788794" h="1167130">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a:p>
        </p:txBody>
      </p:sp>
      <p:sp>
        <p:nvSpPr>
          <p:cNvPr id="20" name="object 20"/>
          <p:cNvSpPr/>
          <p:nvPr/>
        </p:nvSpPr>
        <p:spPr>
          <a:xfrm>
            <a:off x="17274336" y="175466"/>
            <a:ext cx="1788795" cy="1167130"/>
          </a:xfrm>
          <a:custGeom>
            <a:avLst/>
            <a:gdLst/>
            <a:ahLst/>
            <a:cxnLst/>
            <a:rect l="l" t="t" r="r" b="b"/>
            <a:pathLst>
              <a:path w="1788794" h="1167130">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a:p>
        </p:txBody>
      </p:sp>
      <p:sp>
        <p:nvSpPr>
          <p:cNvPr id="21" name="object 21"/>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sp>
        <p:nvSpPr>
          <p:cNvPr id="2" name="object 24">
            <a:extLst>
              <a:ext uri="{FF2B5EF4-FFF2-40B4-BE49-F238E27FC236}">
                <a16:creationId xmlns:a16="http://schemas.microsoft.com/office/drawing/2014/main" id="{9AAF2A26-A844-589E-2820-102BDD065FC3}"/>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4" name="Espaço Reservado para Número de Slide 3">
            <a:extLst>
              <a:ext uri="{FF2B5EF4-FFF2-40B4-BE49-F238E27FC236}">
                <a16:creationId xmlns:a16="http://schemas.microsoft.com/office/drawing/2014/main" id="{A270C42F-3CF4-ADEA-1F5D-5323D33F8983}"/>
              </a:ext>
            </a:extLst>
          </p:cNvPr>
          <p:cNvSpPr>
            <a:spLocks noGrp="1"/>
          </p:cNvSpPr>
          <p:nvPr>
            <p:ph type="sldNum" sz="quarter" idx="7"/>
          </p:nvPr>
        </p:nvSpPr>
        <p:spPr>
          <a:xfrm>
            <a:off x="14998873" y="10988675"/>
            <a:ext cx="4623943" cy="565467"/>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12</a:t>
            </a:fld>
            <a:endParaRPr lang="en-US" sz="1400" dirty="0">
              <a:solidFill>
                <a:schemeClr val="bg1"/>
              </a:solidFill>
              <a:latin typeface="Futura Lt BT" panose="020B0402020204020303" pitchFamily="34" charset="0"/>
            </a:endParaRPr>
          </a:p>
        </p:txBody>
      </p:sp>
    </p:spTree>
    <p:extLst>
      <p:ext uri="{BB962C8B-B14F-4D97-AF65-F5344CB8AC3E}">
        <p14:creationId xmlns:p14="http://schemas.microsoft.com/office/powerpoint/2010/main" val="4367839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060606">
              <a:alpha val="69999"/>
            </a:srgbClr>
          </a:solidFill>
        </p:spPr>
        <p:txBody>
          <a:bodyPr wrap="square" lIns="0" tIns="0" rIns="0" bIns="0" rtlCol="0"/>
          <a:lstStyle/>
          <a:p>
            <a:endParaRPr/>
          </a:p>
        </p:txBody>
      </p:sp>
      <p:sp>
        <p:nvSpPr>
          <p:cNvPr id="3" name="object 3"/>
          <p:cNvSpPr/>
          <p:nvPr/>
        </p:nvSpPr>
        <p:spPr>
          <a:xfrm>
            <a:off x="9737923" y="5183088"/>
            <a:ext cx="10366375" cy="1550035"/>
          </a:xfrm>
          <a:custGeom>
            <a:avLst/>
            <a:gdLst/>
            <a:ahLst/>
            <a:cxnLst/>
            <a:rect l="l" t="t" r="r" b="b"/>
            <a:pathLst>
              <a:path w="10366375" h="1550034">
                <a:moveTo>
                  <a:pt x="0" y="1549691"/>
                </a:moveTo>
                <a:lnTo>
                  <a:pt x="10366176" y="1549691"/>
                </a:lnTo>
                <a:lnTo>
                  <a:pt x="10366176" y="0"/>
                </a:lnTo>
                <a:lnTo>
                  <a:pt x="0" y="0"/>
                </a:lnTo>
                <a:lnTo>
                  <a:pt x="0" y="1549691"/>
                </a:lnTo>
                <a:close/>
              </a:path>
            </a:pathLst>
          </a:custGeom>
          <a:solidFill>
            <a:srgbClr val="090706">
              <a:alpha val="64999"/>
            </a:srgbClr>
          </a:solidFill>
        </p:spPr>
        <p:txBody>
          <a:bodyPr wrap="square" lIns="0" tIns="0" rIns="0" bIns="0" rtlCol="0"/>
          <a:lstStyle/>
          <a:p>
            <a:endParaRPr/>
          </a:p>
        </p:txBody>
      </p:sp>
      <p:sp>
        <p:nvSpPr>
          <p:cNvPr id="4" name="object 4"/>
          <p:cNvSpPr txBox="1">
            <a:spLocks noGrp="1"/>
          </p:cNvSpPr>
          <p:nvPr>
            <p:ph type="title"/>
          </p:nvPr>
        </p:nvSpPr>
        <p:spPr>
          <a:xfrm>
            <a:off x="10688545" y="5447907"/>
            <a:ext cx="5307105" cy="837409"/>
          </a:xfrm>
          <a:prstGeom prst="rect">
            <a:avLst/>
          </a:prstGeom>
        </p:spPr>
        <p:txBody>
          <a:bodyPr vert="horz" wrap="square" lIns="0" tIns="13970" rIns="0" bIns="0" rtlCol="0">
            <a:spAutoFit/>
          </a:bodyPr>
          <a:lstStyle/>
          <a:p>
            <a:pPr marL="12700">
              <a:lnSpc>
                <a:spcPct val="100000"/>
              </a:lnSpc>
              <a:spcBef>
                <a:spcPts val="110"/>
              </a:spcBef>
            </a:pPr>
            <a:r>
              <a:rPr sz="5350" spc="-25" dirty="0">
                <a:solidFill>
                  <a:srgbClr val="F3FFCC"/>
                </a:solidFill>
                <a:latin typeface="Futura Lt BT Light"/>
              </a:rPr>
              <a:t>INVESTIMENTO</a:t>
            </a:r>
            <a:endParaRPr sz="5350" dirty="0">
              <a:latin typeface="Futura Lt BT Light"/>
            </a:endParaRPr>
          </a:p>
        </p:txBody>
      </p:sp>
      <p:sp>
        <p:nvSpPr>
          <p:cNvPr id="5" name="object 5"/>
          <p:cNvSpPr/>
          <p:nvPr/>
        </p:nvSpPr>
        <p:spPr>
          <a:xfrm>
            <a:off x="10334763" y="5580981"/>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7" name="Espaço Reservado para Número de Slide 6">
            <a:extLst>
              <a:ext uri="{FF2B5EF4-FFF2-40B4-BE49-F238E27FC236}">
                <a16:creationId xmlns:a16="http://schemas.microsoft.com/office/drawing/2014/main" id="{F0CD3811-1097-E140-2269-38527C4B05AB}"/>
              </a:ext>
            </a:extLst>
          </p:cNvPr>
          <p:cNvSpPr>
            <a:spLocks noGrp="1"/>
          </p:cNvSpPr>
          <p:nvPr>
            <p:ph type="sldNum" sz="quarter" idx="7"/>
          </p:nvPr>
        </p:nvSpPr>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13</a:t>
            </a:fld>
            <a:endParaRPr lang="en-US" sz="1400" dirty="0">
              <a:solidFill>
                <a:schemeClr val="bg1"/>
              </a:solidFill>
              <a:latin typeface="Futura Lt BT" panose="020B0402020204020303"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5323" y="4658137"/>
            <a:ext cx="8479155" cy="1296670"/>
          </a:xfrm>
          <a:custGeom>
            <a:avLst/>
            <a:gdLst/>
            <a:ahLst/>
            <a:cxnLst/>
            <a:rect l="l" t="t" r="r" b="b"/>
            <a:pathLst>
              <a:path w="8479155" h="1296670">
                <a:moveTo>
                  <a:pt x="8478558" y="623506"/>
                </a:moveTo>
                <a:lnTo>
                  <a:pt x="8473059" y="575081"/>
                </a:lnTo>
                <a:lnTo>
                  <a:pt x="8462048" y="528510"/>
                </a:lnTo>
                <a:lnTo>
                  <a:pt x="8445525" y="485051"/>
                </a:lnTo>
                <a:lnTo>
                  <a:pt x="8423491" y="445947"/>
                </a:lnTo>
                <a:lnTo>
                  <a:pt x="8395957" y="412445"/>
                </a:lnTo>
                <a:lnTo>
                  <a:pt x="7014426" y="412445"/>
                </a:lnTo>
                <a:lnTo>
                  <a:pt x="7022249" y="398576"/>
                </a:lnTo>
                <a:lnTo>
                  <a:pt x="7038772" y="355117"/>
                </a:lnTo>
                <a:lnTo>
                  <a:pt x="7049783" y="308559"/>
                </a:lnTo>
                <a:lnTo>
                  <a:pt x="7055282" y="260121"/>
                </a:lnTo>
                <a:lnTo>
                  <a:pt x="7055282" y="211061"/>
                </a:lnTo>
                <a:lnTo>
                  <a:pt x="7049783" y="162623"/>
                </a:lnTo>
                <a:lnTo>
                  <a:pt x="7038772" y="116065"/>
                </a:lnTo>
                <a:lnTo>
                  <a:pt x="7022249" y="72605"/>
                </a:lnTo>
                <a:lnTo>
                  <a:pt x="7000214" y="33502"/>
                </a:lnTo>
                <a:lnTo>
                  <a:pt x="6972681" y="0"/>
                </a:lnTo>
                <a:lnTo>
                  <a:pt x="82600" y="0"/>
                </a:lnTo>
                <a:lnTo>
                  <a:pt x="55067" y="33502"/>
                </a:lnTo>
                <a:lnTo>
                  <a:pt x="33032" y="72605"/>
                </a:lnTo>
                <a:lnTo>
                  <a:pt x="16510" y="116065"/>
                </a:lnTo>
                <a:lnTo>
                  <a:pt x="5499" y="162623"/>
                </a:lnTo>
                <a:lnTo>
                  <a:pt x="0" y="211061"/>
                </a:lnTo>
                <a:lnTo>
                  <a:pt x="0" y="260121"/>
                </a:lnTo>
                <a:lnTo>
                  <a:pt x="5499" y="308559"/>
                </a:lnTo>
                <a:lnTo>
                  <a:pt x="16510" y="355117"/>
                </a:lnTo>
                <a:lnTo>
                  <a:pt x="33032" y="398576"/>
                </a:lnTo>
                <a:lnTo>
                  <a:pt x="55067" y="437680"/>
                </a:lnTo>
                <a:lnTo>
                  <a:pt x="58458" y="441820"/>
                </a:lnTo>
                <a:lnTo>
                  <a:pt x="55067" y="445947"/>
                </a:lnTo>
                <a:lnTo>
                  <a:pt x="33032" y="485051"/>
                </a:lnTo>
                <a:lnTo>
                  <a:pt x="16510" y="528510"/>
                </a:lnTo>
                <a:lnTo>
                  <a:pt x="5499" y="575081"/>
                </a:lnTo>
                <a:lnTo>
                  <a:pt x="0" y="623506"/>
                </a:lnTo>
                <a:lnTo>
                  <a:pt x="0" y="672566"/>
                </a:lnTo>
                <a:lnTo>
                  <a:pt x="5499" y="721004"/>
                </a:lnTo>
                <a:lnTo>
                  <a:pt x="16510" y="767575"/>
                </a:lnTo>
                <a:lnTo>
                  <a:pt x="33032" y="811034"/>
                </a:lnTo>
                <a:lnTo>
                  <a:pt x="55067" y="850125"/>
                </a:lnTo>
                <a:lnTo>
                  <a:pt x="58458" y="854265"/>
                </a:lnTo>
                <a:lnTo>
                  <a:pt x="55067" y="858393"/>
                </a:lnTo>
                <a:lnTo>
                  <a:pt x="33032" y="897496"/>
                </a:lnTo>
                <a:lnTo>
                  <a:pt x="16510" y="940955"/>
                </a:lnTo>
                <a:lnTo>
                  <a:pt x="5499" y="987526"/>
                </a:lnTo>
                <a:lnTo>
                  <a:pt x="0" y="1035964"/>
                </a:lnTo>
                <a:lnTo>
                  <a:pt x="0" y="1085011"/>
                </a:lnTo>
                <a:lnTo>
                  <a:pt x="5499" y="1133449"/>
                </a:lnTo>
                <a:lnTo>
                  <a:pt x="16510" y="1180020"/>
                </a:lnTo>
                <a:lnTo>
                  <a:pt x="33032" y="1223479"/>
                </a:lnTo>
                <a:lnTo>
                  <a:pt x="55067" y="1262583"/>
                </a:lnTo>
                <a:lnTo>
                  <a:pt x="82600" y="1296085"/>
                </a:lnTo>
                <a:lnTo>
                  <a:pt x="7341425" y="1296085"/>
                </a:lnTo>
                <a:lnTo>
                  <a:pt x="7368959" y="1262583"/>
                </a:lnTo>
                <a:lnTo>
                  <a:pt x="7390993" y="1223479"/>
                </a:lnTo>
                <a:lnTo>
                  <a:pt x="7407516" y="1180020"/>
                </a:lnTo>
                <a:lnTo>
                  <a:pt x="7418527" y="1133449"/>
                </a:lnTo>
                <a:lnTo>
                  <a:pt x="7424039" y="1085011"/>
                </a:lnTo>
                <a:lnTo>
                  <a:pt x="7424039" y="1035964"/>
                </a:lnTo>
                <a:lnTo>
                  <a:pt x="7418527" y="987526"/>
                </a:lnTo>
                <a:lnTo>
                  <a:pt x="7407516" y="940955"/>
                </a:lnTo>
                <a:lnTo>
                  <a:pt x="7390993" y="897496"/>
                </a:lnTo>
                <a:lnTo>
                  <a:pt x="7383183" y="883640"/>
                </a:lnTo>
                <a:lnTo>
                  <a:pt x="8395957" y="883640"/>
                </a:lnTo>
                <a:lnTo>
                  <a:pt x="8423491" y="850125"/>
                </a:lnTo>
                <a:lnTo>
                  <a:pt x="8445525" y="811034"/>
                </a:lnTo>
                <a:lnTo>
                  <a:pt x="8462048" y="767575"/>
                </a:lnTo>
                <a:lnTo>
                  <a:pt x="8473059" y="721004"/>
                </a:lnTo>
                <a:lnTo>
                  <a:pt x="8478558" y="672566"/>
                </a:lnTo>
                <a:lnTo>
                  <a:pt x="8478558" y="623506"/>
                </a:lnTo>
                <a:close/>
              </a:path>
            </a:pathLst>
          </a:custGeom>
          <a:solidFill>
            <a:srgbClr val="FBF485">
              <a:alpha val="39999"/>
            </a:srgbClr>
          </a:solidFill>
        </p:spPr>
        <p:txBody>
          <a:bodyPr wrap="square" lIns="0" tIns="0" rIns="0" bIns="0" rtlCol="0"/>
          <a:lstStyle/>
          <a:p>
            <a:endParaRPr lang="pt-BR" noProof="0" dirty="0"/>
          </a:p>
        </p:txBody>
      </p:sp>
      <p:grpSp>
        <p:nvGrpSpPr>
          <p:cNvPr id="3" name="object 3"/>
          <p:cNvGrpSpPr/>
          <p:nvPr/>
        </p:nvGrpSpPr>
        <p:grpSpPr>
          <a:xfrm>
            <a:off x="0" y="1768474"/>
            <a:ext cx="15958185" cy="9249013"/>
            <a:chOff x="0" y="2617721"/>
            <a:chExt cx="15958185" cy="6240780"/>
          </a:xfrm>
        </p:grpSpPr>
        <p:sp>
          <p:nvSpPr>
            <p:cNvPr id="4" name="object 4"/>
            <p:cNvSpPr/>
            <p:nvPr/>
          </p:nvSpPr>
          <p:spPr>
            <a:xfrm>
              <a:off x="3566274" y="3420789"/>
              <a:ext cx="5960745" cy="471805"/>
            </a:xfrm>
            <a:custGeom>
              <a:avLst/>
              <a:gdLst/>
              <a:ahLst/>
              <a:cxnLst/>
              <a:rect l="l" t="t" r="r" b="b"/>
              <a:pathLst>
                <a:path w="5960745" h="471804">
                  <a:moveTo>
                    <a:pt x="1624317" y="211061"/>
                  </a:moveTo>
                  <a:lnTo>
                    <a:pt x="1618805" y="162623"/>
                  </a:lnTo>
                  <a:lnTo>
                    <a:pt x="1607794" y="116065"/>
                  </a:lnTo>
                  <a:lnTo>
                    <a:pt x="1591271" y="72605"/>
                  </a:lnTo>
                  <a:lnTo>
                    <a:pt x="1569250" y="33502"/>
                  </a:lnTo>
                  <a:lnTo>
                    <a:pt x="1541716" y="0"/>
                  </a:lnTo>
                  <a:lnTo>
                    <a:pt x="82613" y="0"/>
                  </a:lnTo>
                  <a:lnTo>
                    <a:pt x="55079" y="33502"/>
                  </a:lnTo>
                  <a:lnTo>
                    <a:pt x="33045" y="72605"/>
                  </a:lnTo>
                  <a:lnTo>
                    <a:pt x="16522" y="116065"/>
                  </a:lnTo>
                  <a:lnTo>
                    <a:pt x="5511" y="162623"/>
                  </a:lnTo>
                  <a:lnTo>
                    <a:pt x="0" y="211061"/>
                  </a:lnTo>
                  <a:lnTo>
                    <a:pt x="0" y="260121"/>
                  </a:lnTo>
                  <a:lnTo>
                    <a:pt x="5511" y="308559"/>
                  </a:lnTo>
                  <a:lnTo>
                    <a:pt x="16522" y="355130"/>
                  </a:lnTo>
                  <a:lnTo>
                    <a:pt x="33045" y="398576"/>
                  </a:lnTo>
                  <a:lnTo>
                    <a:pt x="55079" y="437680"/>
                  </a:lnTo>
                  <a:lnTo>
                    <a:pt x="82613" y="471195"/>
                  </a:lnTo>
                  <a:lnTo>
                    <a:pt x="1541716" y="471195"/>
                  </a:lnTo>
                  <a:lnTo>
                    <a:pt x="1569250" y="437680"/>
                  </a:lnTo>
                  <a:lnTo>
                    <a:pt x="1591271" y="398576"/>
                  </a:lnTo>
                  <a:lnTo>
                    <a:pt x="1607794" y="355130"/>
                  </a:lnTo>
                  <a:lnTo>
                    <a:pt x="1618805" y="308559"/>
                  </a:lnTo>
                  <a:lnTo>
                    <a:pt x="1624317" y="260121"/>
                  </a:lnTo>
                  <a:lnTo>
                    <a:pt x="1624317" y="211061"/>
                  </a:lnTo>
                  <a:close/>
                </a:path>
                <a:path w="5960745" h="471804">
                  <a:moveTo>
                    <a:pt x="5960224" y="211061"/>
                  </a:moveTo>
                  <a:lnTo>
                    <a:pt x="5954725" y="162623"/>
                  </a:lnTo>
                  <a:lnTo>
                    <a:pt x="5943701" y="116065"/>
                  </a:lnTo>
                  <a:lnTo>
                    <a:pt x="5927179" y="72605"/>
                  </a:lnTo>
                  <a:lnTo>
                    <a:pt x="5905157" y="33502"/>
                  </a:lnTo>
                  <a:lnTo>
                    <a:pt x="5877623" y="0"/>
                  </a:lnTo>
                  <a:lnTo>
                    <a:pt x="1707261" y="0"/>
                  </a:lnTo>
                  <a:lnTo>
                    <a:pt x="1679727" y="33502"/>
                  </a:lnTo>
                  <a:lnTo>
                    <a:pt x="1657692" y="72605"/>
                  </a:lnTo>
                  <a:lnTo>
                    <a:pt x="1641170" y="116065"/>
                  </a:lnTo>
                  <a:lnTo>
                    <a:pt x="1630159" y="162623"/>
                  </a:lnTo>
                  <a:lnTo>
                    <a:pt x="1624647" y="211061"/>
                  </a:lnTo>
                  <a:lnTo>
                    <a:pt x="1624647" y="260121"/>
                  </a:lnTo>
                  <a:lnTo>
                    <a:pt x="1630159" y="308559"/>
                  </a:lnTo>
                  <a:lnTo>
                    <a:pt x="1641170" y="355130"/>
                  </a:lnTo>
                  <a:lnTo>
                    <a:pt x="1657692" y="398576"/>
                  </a:lnTo>
                  <a:lnTo>
                    <a:pt x="1679727" y="437680"/>
                  </a:lnTo>
                  <a:lnTo>
                    <a:pt x="1707261" y="471195"/>
                  </a:lnTo>
                  <a:lnTo>
                    <a:pt x="5877623" y="471195"/>
                  </a:lnTo>
                  <a:lnTo>
                    <a:pt x="5905157" y="437680"/>
                  </a:lnTo>
                  <a:lnTo>
                    <a:pt x="5927179" y="398576"/>
                  </a:lnTo>
                  <a:lnTo>
                    <a:pt x="5943701" y="355130"/>
                  </a:lnTo>
                  <a:lnTo>
                    <a:pt x="5954725" y="308559"/>
                  </a:lnTo>
                  <a:lnTo>
                    <a:pt x="5960224" y="260121"/>
                  </a:lnTo>
                  <a:lnTo>
                    <a:pt x="5960224" y="211061"/>
                  </a:lnTo>
                  <a:close/>
                </a:path>
              </a:pathLst>
            </a:custGeom>
            <a:solidFill>
              <a:srgbClr val="FBF485">
                <a:alpha val="39999"/>
              </a:srgbClr>
            </a:solidFill>
          </p:spPr>
          <p:txBody>
            <a:bodyPr wrap="square" lIns="0" tIns="0" rIns="0" bIns="0" rtlCol="0"/>
            <a:lstStyle/>
            <a:p>
              <a:endParaRPr lang="pt-BR" noProof="0" dirty="0"/>
            </a:p>
          </p:txBody>
        </p:sp>
        <p:sp>
          <p:nvSpPr>
            <p:cNvPr id="5" name="object 5"/>
            <p:cNvSpPr/>
            <p:nvPr/>
          </p:nvSpPr>
          <p:spPr>
            <a:xfrm>
              <a:off x="0" y="2617721"/>
              <a:ext cx="15958185" cy="6240780"/>
            </a:xfrm>
            <a:custGeom>
              <a:avLst/>
              <a:gdLst/>
              <a:ahLst/>
              <a:cxnLst/>
              <a:rect l="l" t="t" r="r" b="b"/>
              <a:pathLst>
                <a:path w="15958185" h="6240780">
                  <a:moveTo>
                    <a:pt x="15957629" y="0"/>
                  </a:moveTo>
                  <a:lnTo>
                    <a:pt x="0" y="0"/>
                  </a:lnTo>
                  <a:lnTo>
                    <a:pt x="0" y="6240647"/>
                  </a:lnTo>
                  <a:lnTo>
                    <a:pt x="15957629" y="6240647"/>
                  </a:lnTo>
                  <a:lnTo>
                    <a:pt x="15957629" y="0"/>
                  </a:lnTo>
                  <a:close/>
                </a:path>
              </a:pathLst>
            </a:custGeom>
            <a:solidFill>
              <a:srgbClr val="006969"/>
            </a:solidFill>
          </p:spPr>
          <p:txBody>
            <a:bodyPr wrap="square" lIns="0" tIns="0" rIns="0" bIns="0" rtlCol="0"/>
            <a:lstStyle/>
            <a:p>
              <a:endParaRPr lang="pt-BR" noProof="0" dirty="0"/>
            </a:p>
          </p:txBody>
        </p:sp>
      </p:grpSp>
      <p:sp>
        <p:nvSpPr>
          <p:cNvPr id="6" name="object 6"/>
          <p:cNvSpPr txBox="1"/>
          <p:nvPr/>
        </p:nvSpPr>
        <p:spPr>
          <a:xfrm>
            <a:off x="542681" y="1905331"/>
            <a:ext cx="15271821" cy="8261621"/>
          </a:xfrm>
          <a:prstGeom prst="rect">
            <a:avLst/>
          </a:prstGeom>
        </p:spPr>
        <p:txBody>
          <a:bodyPr vert="horz" wrap="square" lIns="0" tIns="12065" rIns="0" bIns="0" rtlCol="0">
            <a:spAutoFit/>
          </a:bodyPr>
          <a:lstStyle/>
          <a:p>
            <a:pPr marL="12700" marR="290830" algn="just">
              <a:lnSpc>
                <a:spcPct val="110500"/>
              </a:lnSpc>
              <a:spcBef>
                <a:spcPts val="600"/>
              </a:spcBef>
              <a:spcAft>
                <a:spcPts val="600"/>
              </a:spcAft>
            </a:pPr>
            <a:r>
              <a:rPr lang="pt-BR" sz="2400" dirty="0">
                <a:solidFill>
                  <a:schemeClr val="bg1"/>
                </a:solidFill>
                <a:latin typeface="Futura Lt BT Light"/>
              </a:rPr>
              <a:t>Em função da abrangência dos serviços técnicos e considerando a complexidade do trabalho, o valor para atuação da </a:t>
            </a:r>
            <a:r>
              <a:rPr lang="pt-BR" sz="2400" dirty="0" err="1">
                <a:solidFill>
                  <a:schemeClr val="bg1"/>
                </a:solidFill>
                <a:latin typeface="Futura Lt BT Light"/>
              </a:rPr>
              <a:t>Meden</a:t>
            </a:r>
            <a:r>
              <a:rPr lang="pt-BR" sz="2400" dirty="0">
                <a:solidFill>
                  <a:schemeClr val="bg1"/>
                </a:solidFill>
                <a:latin typeface="Futura Lt BT Light"/>
              </a:rPr>
              <a:t> Consultoria, foi orçado em: {{VALOR_PROPOSTA}} ({{VALOR_PROPOSTA_EXTENSO}}). O valor deverá ser pago da seguinte forma:</a:t>
            </a:r>
          </a:p>
          <a:p>
            <a:pPr marL="12700" marR="290830" algn="just">
              <a:lnSpc>
                <a:spcPct val="110500"/>
              </a:lnSpc>
              <a:spcBef>
                <a:spcPts val="600"/>
              </a:spcBef>
              <a:spcAft>
                <a:spcPts val="600"/>
              </a:spcAft>
            </a:pPr>
            <a:endParaRPr lang="pt-BR" sz="2400" b="1" spc="-15" noProof="0" dirty="0">
              <a:solidFill>
                <a:schemeClr val="bg1"/>
              </a:solidFill>
              <a:latin typeface="Futura Lt BT Light"/>
              <a:cs typeface="Futura PT Book"/>
            </a:endParaRPr>
          </a:p>
          <a:p>
            <a:pPr marL="342900" marR="13970" indent="-342900" algn="just">
              <a:lnSpc>
                <a:spcPct val="150000"/>
              </a:lnSpc>
              <a:spcBef>
                <a:spcPts val="600"/>
              </a:spcBef>
              <a:spcAft>
                <a:spcPts val="600"/>
              </a:spcAft>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pt-BR" sz="2400" b="1" dirty="0">
                <a:solidFill>
                  <a:schemeClr val="bg1"/>
                </a:solidFill>
                <a:latin typeface="Futura Lt BT Light"/>
                <a:ea typeface="Calibri" panose="020F0502020204030204" pitchFamily="34" charset="0"/>
              </a:rPr>
              <a:t>{{CONDIÇÃO DE PAGAMENTO 1}} no aceite da proposta; </a:t>
            </a:r>
          </a:p>
          <a:p>
            <a:pPr marL="342900" marR="13970" indent="-342900" algn="just">
              <a:lnSpc>
                <a:spcPct val="150000"/>
              </a:lnSpc>
              <a:spcBef>
                <a:spcPts val="600"/>
              </a:spcBef>
              <a:spcAft>
                <a:spcPts val="600"/>
              </a:spcAft>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pt-BR" sz="2400" b="1" dirty="0">
                <a:solidFill>
                  <a:schemeClr val="bg1"/>
                </a:solidFill>
                <a:latin typeface="Futura Lt BT Light"/>
                <a:cs typeface="Futura PT Heavy"/>
              </a:rPr>
              <a:t>{{CONDIÇÃO DE PAGAMENTO 2}} </a:t>
            </a:r>
            <a:r>
              <a:rPr lang="pt-BR" sz="2400" b="1" spc="-50" dirty="0">
                <a:solidFill>
                  <a:schemeClr val="bg1"/>
                </a:solidFill>
                <a:latin typeface="Futura Lt BT Light"/>
                <a:cs typeface="Futura PT Heavy"/>
              </a:rPr>
              <a:t>na entrega da minuta; e</a:t>
            </a:r>
          </a:p>
          <a:p>
            <a:pPr marL="342900" marR="13970" indent="-342900" algn="just">
              <a:lnSpc>
                <a:spcPct val="150000"/>
              </a:lnSpc>
              <a:spcBef>
                <a:spcPts val="600"/>
              </a:spcBef>
              <a:spcAft>
                <a:spcPts val="600"/>
              </a:spcAft>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pt-BR" sz="2400" b="1" dirty="0">
                <a:solidFill>
                  <a:schemeClr val="bg1"/>
                </a:solidFill>
                <a:latin typeface="Futura Lt BT Light"/>
                <a:cs typeface="Futura PT Heavy"/>
              </a:rPr>
              <a:t>{{CONDIÇÃO DE PAGAMENTO 3}} </a:t>
            </a:r>
            <a:r>
              <a:rPr lang="pt-BR" sz="2400" b="1" spc="-50" noProof="0" dirty="0">
                <a:solidFill>
                  <a:schemeClr val="bg1"/>
                </a:solidFill>
                <a:latin typeface="Futura Lt BT Light"/>
                <a:cs typeface="Futura PT Heavy"/>
              </a:rPr>
              <a:t>na entrega da versão final</a:t>
            </a:r>
            <a:r>
              <a:rPr lang="pt-BR" sz="2400" b="1" spc="-10" noProof="0" dirty="0">
                <a:solidFill>
                  <a:schemeClr val="bg1"/>
                </a:solidFill>
                <a:latin typeface="Futura Lt BT Light"/>
                <a:cs typeface="Futura PT Heavy"/>
              </a:rPr>
              <a:t>.</a:t>
            </a:r>
            <a:endParaRPr lang="pt-BR" sz="2400" noProof="0" dirty="0">
              <a:solidFill>
                <a:schemeClr val="bg1"/>
              </a:solidFill>
              <a:latin typeface="Futura Lt BT Light"/>
              <a:cs typeface="Futura PT Heavy"/>
            </a:endParaRPr>
          </a:p>
          <a:p>
            <a:pPr algn="just">
              <a:lnSpc>
                <a:spcPct val="100000"/>
              </a:lnSpc>
              <a:spcBef>
                <a:spcPts val="600"/>
              </a:spcBef>
              <a:spcAft>
                <a:spcPts val="600"/>
              </a:spcAft>
            </a:pPr>
            <a:endParaRPr lang="pt-BR" sz="2400" noProof="0" dirty="0">
              <a:solidFill>
                <a:schemeClr val="bg1"/>
              </a:solidFill>
              <a:latin typeface="Futura Lt BT Light"/>
              <a:cs typeface="Futura PT Heavy"/>
            </a:endParaRPr>
          </a:p>
          <a:p>
            <a:pPr marL="12700" algn="just">
              <a:lnSpc>
                <a:spcPct val="100000"/>
              </a:lnSpc>
              <a:spcBef>
                <a:spcPts val="600"/>
              </a:spcBef>
              <a:spcAft>
                <a:spcPts val="600"/>
              </a:spcAft>
            </a:pPr>
            <a:r>
              <a:rPr lang="pt-BR" sz="2400" b="1" noProof="0" dirty="0">
                <a:solidFill>
                  <a:schemeClr val="bg1"/>
                </a:solidFill>
                <a:latin typeface="Futura Lt BT Light"/>
                <a:cs typeface="Futura PT Heavy"/>
              </a:rPr>
              <a:t>O</a:t>
            </a:r>
            <a:r>
              <a:rPr lang="pt-BR" sz="2400" b="1" spc="-5" noProof="0" dirty="0">
                <a:solidFill>
                  <a:schemeClr val="bg1"/>
                </a:solidFill>
                <a:latin typeface="Futura Lt BT Light"/>
                <a:cs typeface="Futura PT Heavy"/>
              </a:rPr>
              <a:t> </a:t>
            </a:r>
            <a:r>
              <a:rPr lang="pt-BR" sz="2400" b="1" noProof="0" dirty="0">
                <a:solidFill>
                  <a:schemeClr val="bg1"/>
                </a:solidFill>
                <a:latin typeface="Futura Lt BT Light"/>
                <a:cs typeface="Futura PT Heavy"/>
              </a:rPr>
              <a:t>valor</a:t>
            </a:r>
            <a:r>
              <a:rPr lang="pt-BR" sz="2400" b="1" spc="5" noProof="0" dirty="0">
                <a:solidFill>
                  <a:schemeClr val="bg1"/>
                </a:solidFill>
                <a:latin typeface="Futura Lt BT Light"/>
                <a:cs typeface="Futura PT Heavy"/>
              </a:rPr>
              <a:t> </a:t>
            </a:r>
            <a:r>
              <a:rPr lang="pt-BR" sz="2400" b="1" noProof="0" dirty="0">
                <a:solidFill>
                  <a:schemeClr val="bg1"/>
                </a:solidFill>
                <a:latin typeface="Futura Lt BT Light"/>
                <a:cs typeface="Futura PT Heavy"/>
              </a:rPr>
              <a:t>descrito</a:t>
            </a:r>
            <a:r>
              <a:rPr lang="pt-BR" sz="2400" b="1" spc="-5" noProof="0" dirty="0">
                <a:solidFill>
                  <a:schemeClr val="bg1"/>
                </a:solidFill>
                <a:latin typeface="Futura Lt BT Light"/>
                <a:cs typeface="Futura PT Heavy"/>
              </a:rPr>
              <a:t> </a:t>
            </a:r>
            <a:r>
              <a:rPr lang="pt-BR" sz="2400" b="1" noProof="0" dirty="0">
                <a:solidFill>
                  <a:schemeClr val="bg1"/>
                </a:solidFill>
                <a:latin typeface="Futura Lt BT Light"/>
                <a:cs typeface="Futura PT Heavy"/>
              </a:rPr>
              <a:t>já inclui os tributos </a:t>
            </a:r>
            <a:r>
              <a:rPr lang="pt-BR" sz="2400" b="1" spc="-10" noProof="0" dirty="0">
                <a:solidFill>
                  <a:schemeClr val="bg1"/>
                </a:solidFill>
                <a:latin typeface="Futura Lt BT Light"/>
                <a:cs typeface="Futura PT Heavy"/>
              </a:rPr>
              <a:t>aplicáveis.</a:t>
            </a:r>
            <a:endParaRPr lang="pt-BR" sz="2400" noProof="0" dirty="0">
              <a:solidFill>
                <a:schemeClr val="bg1"/>
              </a:solidFill>
              <a:latin typeface="Futura Lt BT Light"/>
              <a:cs typeface="Futura PT Heavy"/>
            </a:endParaRPr>
          </a:p>
          <a:p>
            <a:pPr algn="just">
              <a:lnSpc>
                <a:spcPct val="100000"/>
              </a:lnSpc>
              <a:spcBef>
                <a:spcPts val="600"/>
              </a:spcBef>
              <a:spcAft>
                <a:spcPts val="600"/>
              </a:spcAft>
            </a:pPr>
            <a:endParaRPr lang="pt-BR" sz="2400" noProof="0" dirty="0">
              <a:solidFill>
                <a:schemeClr val="bg1"/>
              </a:solidFill>
              <a:latin typeface="Futura Lt BT Light"/>
              <a:cs typeface="Futura PT Heavy"/>
            </a:endParaRPr>
          </a:p>
          <a:p>
            <a:pPr marL="12700" algn="just">
              <a:lnSpc>
                <a:spcPct val="100000"/>
              </a:lnSpc>
              <a:spcBef>
                <a:spcPts val="600"/>
              </a:spcBef>
              <a:spcAft>
                <a:spcPts val="600"/>
              </a:spcAft>
            </a:pPr>
            <a:r>
              <a:rPr lang="pt-BR" sz="2400" noProof="0" dirty="0">
                <a:solidFill>
                  <a:schemeClr val="bg1"/>
                </a:solidFill>
                <a:latin typeface="Futura Lt BT Light"/>
                <a:cs typeface="Futura PT Book"/>
              </a:rPr>
              <a:t>As</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despesas</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com</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viagens</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e</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hospedagem,</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se</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necessárias,</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deverão</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ser</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reembolsadas</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pela</a:t>
            </a:r>
            <a:r>
              <a:rPr lang="pt-BR" sz="2400" spc="-5" noProof="0" dirty="0">
                <a:solidFill>
                  <a:schemeClr val="bg1"/>
                </a:solidFill>
                <a:latin typeface="Futura Lt BT Light"/>
                <a:cs typeface="Futura PT Book"/>
              </a:rPr>
              <a:t> </a:t>
            </a:r>
            <a:r>
              <a:rPr lang="pt-BR" sz="2400" spc="-10" noProof="0" dirty="0">
                <a:solidFill>
                  <a:schemeClr val="bg1"/>
                </a:solidFill>
                <a:latin typeface="Futura Lt BT Light"/>
                <a:cs typeface="Futura PT Book"/>
              </a:rPr>
              <a:t>contratante.</a:t>
            </a:r>
            <a:endParaRPr lang="pt-BR" sz="2400" noProof="0" dirty="0">
              <a:solidFill>
                <a:schemeClr val="bg1"/>
              </a:solidFill>
              <a:latin typeface="Futura Lt BT Light"/>
              <a:cs typeface="Futura PT Book"/>
            </a:endParaRPr>
          </a:p>
          <a:p>
            <a:pPr marL="12700" marR="5080" algn="just">
              <a:lnSpc>
                <a:spcPts val="3250"/>
              </a:lnSpc>
              <a:spcBef>
                <a:spcPts val="600"/>
              </a:spcBef>
              <a:spcAft>
                <a:spcPts val="600"/>
              </a:spcAft>
            </a:pPr>
            <a:r>
              <a:rPr lang="pt-BR" sz="2400" noProof="0" dirty="0">
                <a:solidFill>
                  <a:schemeClr val="bg1"/>
                </a:solidFill>
                <a:latin typeface="Futura Lt BT Light"/>
                <a:cs typeface="Futura PT Book"/>
              </a:rPr>
              <a:t>O</a:t>
            </a:r>
            <a:r>
              <a:rPr lang="pt-BR" sz="2400" spc="-2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vencimento</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da</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fatura</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será</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no</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5°</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dia</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a</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partir</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de</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sua</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apresentação.</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Após</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o</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vencimento,</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serão</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cobrados</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juros</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de</a:t>
            </a:r>
            <a:r>
              <a:rPr lang="pt-BR" sz="2400" spc="-10"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1%</a:t>
            </a:r>
            <a:r>
              <a:rPr lang="pt-BR" sz="2400" spc="-10" noProof="0" dirty="0">
                <a:solidFill>
                  <a:schemeClr val="bg1"/>
                </a:solidFill>
                <a:latin typeface="Futura Lt BT Light"/>
                <a:cs typeface="Futura PT Book"/>
              </a:rPr>
              <a:t> </a:t>
            </a:r>
            <a:r>
              <a:rPr lang="pt-BR" sz="2400" spc="-25" noProof="0" dirty="0">
                <a:solidFill>
                  <a:schemeClr val="bg1"/>
                </a:solidFill>
                <a:latin typeface="Futura Lt BT Light"/>
                <a:cs typeface="Futura PT Book"/>
              </a:rPr>
              <a:t>(um </a:t>
            </a:r>
            <a:r>
              <a:rPr lang="pt-BR" sz="2400" noProof="0" dirty="0">
                <a:solidFill>
                  <a:schemeClr val="bg1"/>
                </a:solidFill>
                <a:latin typeface="Futura Lt BT Light"/>
                <a:cs typeface="Futura PT Book"/>
              </a:rPr>
              <a:t>por cento)</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ao mês</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sobre o</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valor líquido</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da</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nota</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fiscal,</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mais 2%</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de multa</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sobre o</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valor</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da</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fatura</a:t>
            </a:r>
            <a:r>
              <a:rPr lang="pt-BR" sz="2400" spc="5" noProof="0" dirty="0">
                <a:solidFill>
                  <a:schemeClr val="bg1"/>
                </a:solidFill>
                <a:latin typeface="Futura Lt BT Light"/>
                <a:cs typeface="Futura PT Book"/>
              </a:rPr>
              <a:t> </a:t>
            </a:r>
            <a:r>
              <a:rPr lang="pt-BR" sz="2400" noProof="0" dirty="0">
                <a:solidFill>
                  <a:schemeClr val="bg1"/>
                </a:solidFill>
                <a:latin typeface="Futura Lt BT Light"/>
                <a:cs typeface="Futura PT Book"/>
              </a:rPr>
              <a:t>pelo </a:t>
            </a:r>
            <a:r>
              <a:rPr lang="pt-BR" sz="2400" spc="-10" noProof="0" dirty="0">
                <a:solidFill>
                  <a:schemeClr val="bg1"/>
                </a:solidFill>
                <a:latin typeface="Futura Lt BT Light"/>
                <a:cs typeface="Futura PT Book"/>
              </a:rPr>
              <a:t>inadimplemento.</a:t>
            </a:r>
            <a:endParaRPr lang="pt-BR" sz="2400" dirty="0">
              <a:solidFill>
                <a:schemeClr val="bg1"/>
              </a:solidFill>
              <a:latin typeface="Futura Lt BT Light"/>
              <a:ea typeface="Calibri" panose="020F0502020204030204" pitchFamily="34" charset="0"/>
            </a:endParaRPr>
          </a:p>
          <a:p>
            <a:pPr algn="just">
              <a:lnSpc>
                <a:spcPct val="100000"/>
              </a:lnSpc>
              <a:spcBef>
                <a:spcPts val="20"/>
              </a:spcBef>
            </a:pPr>
            <a:endParaRPr lang="pt-BR" sz="2400" dirty="0">
              <a:solidFill>
                <a:schemeClr val="bg1"/>
              </a:solidFill>
              <a:latin typeface="Futura Lt BT Light"/>
              <a:cs typeface="Futura PT Book"/>
            </a:endParaRPr>
          </a:p>
        </p:txBody>
      </p:sp>
      <p:sp>
        <p:nvSpPr>
          <p:cNvPr id="7" name="object 7"/>
          <p:cNvSpPr txBox="1">
            <a:spLocks noGrp="1"/>
          </p:cNvSpPr>
          <p:nvPr>
            <p:ph type="title"/>
          </p:nvPr>
        </p:nvSpPr>
        <p:spPr>
          <a:xfrm>
            <a:off x="670003" y="635022"/>
            <a:ext cx="10242550" cy="773930"/>
          </a:xfrm>
          <a:prstGeom prst="rect">
            <a:avLst/>
          </a:prstGeom>
        </p:spPr>
        <p:txBody>
          <a:bodyPr vert="horz" wrap="square" lIns="0" tIns="12065" rIns="0" bIns="0" rtlCol="0">
            <a:spAutoFit/>
          </a:bodyPr>
          <a:lstStyle/>
          <a:p>
            <a:pPr marL="12700">
              <a:lnSpc>
                <a:spcPct val="100000"/>
              </a:lnSpc>
              <a:spcBef>
                <a:spcPts val="95"/>
              </a:spcBef>
            </a:pPr>
            <a:r>
              <a:rPr lang="pt-BR" spc="-35" noProof="0" dirty="0">
                <a:latin typeface="Futura Lt BT Light"/>
              </a:rPr>
              <a:t>INVESTIMENTO</a:t>
            </a:r>
          </a:p>
        </p:txBody>
      </p:sp>
      <p:sp>
        <p:nvSpPr>
          <p:cNvPr id="8" name="object 8"/>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lang="pt-BR" noProof="0" dirty="0"/>
          </a:p>
        </p:txBody>
      </p:sp>
      <p:sp>
        <p:nvSpPr>
          <p:cNvPr id="9" name="object 9"/>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solidFill>
        </p:spPr>
        <p:txBody>
          <a:bodyPr wrap="square" lIns="0" tIns="0" rIns="0" bIns="0" rtlCol="0"/>
          <a:lstStyle/>
          <a:p>
            <a:endParaRPr lang="pt-BR" noProof="0" dirty="0"/>
          </a:p>
        </p:txBody>
      </p:sp>
      <p:sp>
        <p:nvSpPr>
          <p:cNvPr id="10" name="object 10"/>
          <p:cNvSpPr/>
          <p:nvPr/>
        </p:nvSpPr>
        <p:spPr>
          <a:xfrm>
            <a:off x="19297842" y="2638663"/>
            <a:ext cx="94615" cy="6042025"/>
          </a:xfrm>
          <a:custGeom>
            <a:avLst/>
            <a:gdLst/>
            <a:ahLst/>
            <a:cxnLst/>
            <a:rect l="l" t="t" r="r" b="b"/>
            <a:pathLst>
              <a:path w="94615" h="6042025">
                <a:moveTo>
                  <a:pt x="94237" y="0"/>
                </a:moveTo>
                <a:lnTo>
                  <a:pt x="0" y="0"/>
                </a:lnTo>
                <a:lnTo>
                  <a:pt x="0" y="6041700"/>
                </a:lnTo>
                <a:lnTo>
                  <a:pt x="94237" y="6041700"/>
                </a:lnTo>
                <a:lnTo>
                  <a:pt x="94237" y="0"/>
                </a:lnTo>
                <a:close/>
              </a:path>
            </a:pathLst>
          </a:custGeom>
          <a:solidFill>
            <a:srgbClr val="C69A78">
              <a:alpha val="89999"/>
            </a:srgbClr>
          </a:solidFill>
        </p:spPr>
        <p:txBody>
          <a:bodyPr wrap="square" lIns="0" tIns="0" rIns="0" bIns="0" rtlCol="0"/>
          <a:lstStyle/>
          <a:p>
            <a:endParaRPr lang="pt-BR" noProof="0" dirty="0"/>
          </a:p>
        </p:txBody>
      </p:sp>
      <p:sp>
        <p:nvSpPr>
          <p:cNvPr id="11" name="object 11"/>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lang="pt-BR" noProof="0" dirty="0"/>
          </a:p>
        </p:txBody>
      </p:sp>
      <p:sp>
        <p:nvSpPr>
          <p:cNvPr id="14" name="object 14"/>
          <p:cNvSpPr/>
          <p:nvPr/>
        </p:nvSpPr>
        <p:spPr>
          <a:xfrm>
            <a:off x="17274336" y="1502984"/>
            <a:ext cx="1788795" cy="1167130"/>
          </a:xfrm>
          <a:custGeom>
            <a:avLst/>
            <a:gdLst/>
            <a:ahLst/>
            <a:cxnLst/>
            <a:rect l="l" t="t" r="r" b="b"/>
            <a:pathLst>
              <a:path w="1788794" h="1167130">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lang="pt-BR" noProof="0" dirty="0"/>
          </a:p>
        </p:txBody>
      </p:sp>
      <p:sp>
        <p:nvSpPr>
          <p:cNvPr id="15" name="object 15"/>
          <p:cNvSpPr/>
          <p:nvPr/>
        </p:nvSpPr>
        <p:spPr>
          <a:xfrm>
            <a:off x="17274336" y="175466"/>
            <a:ext cx="1788795" cy="1167130"/>
          </a:xfrm>
          <a:custGeom>
            <a:avLst/>
            <a:gdLst/>
            <a:ahLst/>
            <a:cxnLst/>
            <a:rect l="l" t="t" r="r" b="b"/>
            <a:pathLst>
              <a:path w="1788794" h="1167130">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lang="pt-BR" noProof="0" dirty="0"/>
          </a:p>
        </p:txBody>
      </p:sp>
      <p:sp>
        <p:nvSpPr>
          <p:cNvPr id="16" name="object 24">
            <a:extLst>
              <a:ext uri="{FF2B5EF4-FFF2-40B4-BE49-F238E27FC236}">
                <a16:creationId xmlns:a16="http://schemas.microsoft.com/office/drawing/2014/main" id="{6C1A5813-FCB7-612B-F0F3-00EA2FF049E7}"/>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lang="pt-BR" sz="1200" noProof="0" dirty="0">
                <a:solidFill>
                  <a:srgbClr val="E7FFE2"/>
                </a:solidFill>
                <a:latin typeface="Futura Lt BT Light"/>
                <a:cs typeface="Futura PT Book"/>
              </a:rPr>
              <a:t>MEDEN</a:t>
            </a:r>
            <a:r>
              <a:rPr lang="pt-BR" sz="1200" spc="85" noProof="0" dirty="0">
                <a:solidFill>
                  <a:srgbClr val="E7FFE2"/>
                </a:solidFill>
                <a:latin typeface="Futura Lt BT Light"/>
                <a:cs typeface="Futura PT Book"/>
              </a:rPr>
              <a:t> </a:t>
            </a:r>
            <a:r>
              <a:rPr lang="pt-BR" sz="1200" noProof="0" dirty="0">
                <a:solidFill>
                  <a:srgbClr val="E7FFE2"/>
                </a:solidFill>
                <a:latin typeface="Futura Lt BT Light"/>
                <a:cs typeface="Futura PT Book"/>
              </a:rPr>
              <a:t>PROPOSTA</a:t>
            </a:r>
            <a:r>
              <a:rPr lang="pt-BR" sz="1200" spc="90" noProof="0" dirty="0">
                <a:solidFill>
                  <a:srgbClr val="E7FFE2"/>
                </a:solidFill>
                <a:latin typeface="Futura Lt BT Light"/>
                <a:cs typeface="Futura PT Book"/>
              </a:rPr>
              <a:t> </a:t>
            </a:r>
            <a:r>
              <a:rPr lang="pt-BR" sz="1200" spc="-10" noProof="0" dirty="0">
                <a:solidFill>
                  <a:srgbClr val="E7FFE2"/>
                </a:solidFill>
                <a:latin typeface="Futura Lt BT Light"/>
                <a:cs typeface="Futura PT Book"/>
              </a:rPr>
              <a:t>COMERCIAL</a:t>
            </a:r>
            <a:endParaRPr lang="pt-BR" sz="1200" noProof="0" dirty="0">
              <a:latin typeface="Futura Lt BT Light"/>
              <a:cs typeface="Futura PT Book"/>
            </a:endParaRPr>
          </a:p>
        </p:txBody>
      </p:sp>
      <p:sp>
        <p:nvSpPr>
          <p:cNvPr id="17" name="Espaço Reservado para Número de Slide 16">
            <a:extLst>
              <a:ext uri="{FF2B5EF4-FFF2-40B4-BE49-F238E27FC236}">
                <a16:creationId xmlns:a16="http://schemas.microsoft.com/office/drawing/2014/main" id="{AE49E5A2-4626-0276-E78D-2F35F1DCB7CA}"/>
              </a:ext>
            </a:extLst>
          </p:cNvPr>
          <p:cNvSpPr>
            <a:spLocks noGrp="1"/>
          </p:cNvSpPr>
          <p:nvPr>
            <p:ph type="sldNum" sz="quarter" idx="7"/>
          </p:nvPr>
        </p:nvSpPr>
        <p:spPr>
          <a:xfrm>
            <a:off x="14998873" y="10986982"/>
            <a:ext cx="4623943" cy="565467"/>
          </a:xfrm>
        </p:spPr>
        <p:txBody>
          <a:bodyPr wrap="square" lIns="0" tIns="0" rIns="0" bIns="0">
            <a:spAutoFit/>
          </a:bodyPr>
          <a:lstStyle/>
          <a:p>
            <a:fld id="{B6F15528-21DE-4FAA-801E-634DDDAF4B2B}" type="slidenum">
              <a:rPr lang="pt-BR" sz="1400" noProof="0" smtClean="0">
                <a:solidFill>
                  <a:schemeClr val="bg1"/>
                </a:solidFill>
                <a:latin typeface="Futura Lt BT" panose="020B0402020204020303" pitchFamily="34" charset="0"/>
              </a:rPr>
              <a:pPr/>
              <a:t>14</a:t>
            </a:fld>
            <a:endParaRPr lang="pt-BR" sz="1400" noProof="0" dirty="0">
              <a:solidFill>
                <a:schemeClr val="bg1"/>
              </a:solidFill>
              <a:latin typeface="Futura Lt BT" panose="020B0402020204020303"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0" y="0"/>
            <a:ext cx="20104100" cy="11308715"/>
          </a:xfrm>
          <a:custGeom>
            <a:avLst/>
            <a:gdLst/>
            <a:ahLst/>
            <a:cxnLst/>
            <a:rect l="l" t="t" r="r" b="b"/>
            <a:pathLst>
              <a:path w="20104100" h="11308715">
                <a:moveTo>
                  <a:pt x="20104099" y="0"/>
                </a:moveTo>
                <a:lnTo>
                  <a:pt x="0" y="0"/>
                </a:lnTo>
                <a:lnTo>
                  <a:pt x="0" y="11308556"/>
                </a:lnTo>
                <a:lnTo>
                  <a:pt x="20104099" y="11308556"/>
                </a:lnTo>
                <a:lnTo>
                  <a:pt x="20104099" y="0"/>
                </a:lnTo>
                <a:close/>
              </a:path>
            </a:pathLst>
          </a:custGeom>
          <a:solidFill>
            <a:srgbClr val="060606">
              <a:alpha val="69999"/>
            </a:srgbClr>
          </a:solidFill>
        </p:spPr>
        <p:txBody>
          <a:bodyPr wrap="square" lIns="0" tIns="0" rIns="0" bIns="0" rtlCol="0"/>
          <a:lstStyle/>
          <a:p>
            <a:endParaRPr/>
          </a:p>
        </p:txBody>
      </p:sp>
      <p:sp>
        <p:nvSpPr>
          <p:cNvPr id="3" name="object 3"/>
          <p:cNvSpPr/>
          <p:nvPr/>
        </p:nvSpPr>
        <p:spPr>
          <a:xfrm>
            <a:off x="9737923" y="5183088"/>
            <a:ext cx="10366375" cy="1832610"/>
          </a:xfrm>
          <a:custGeom>
            <a:avLst/>
            <a:gdLst/>
            <a:ahLst/>
            <a:cxnLst/>
            <a:rect l="l" t="t" r="r" b="b"/>
            <a:pathLst>
              <a:path w="10366375" h="1832609">
                <a:moveTo>
                  <a:pt x="0" y="1832404"/>
                </a:moveTo>
                <a:lnTo>
                  <a:pt x="10366176" y="1832404"/>
                </a:lnTo>
                <a:lnTo>
                  <a:pt x="10366176" y="0"/>
                </a:lnTo>
                <a:lnTo>
                  <a:pt x="0" y="0"/>
                </a:lnTo>
                <a:lnTo>
                  <a:pt x="0" y="1832404"/>
                </a:lnTo>
                <a:close/>
              </a:path>
            </a:pathLst>
          </a:custGeom>
          <a:solidFill>
            <a:srgbClr val="090706">
              <a:alpha val="64999"/>
            </a:srgbClr>
          </a:solidFill>
        </p:spPr>
        <p:txBody>
          <a:bodyPr wrap="square" lIns="0" tIns="0" rIns="0" bIns="0" rtlCol="0"/>
          <a:lstStyle/>
          <a:p>
            <a:endParaRPr/>
          </a:p>
        </p:txBody>
      </p:sp>
      <p:sp>
        <p:nvSpPr>
          <p:cNvPr id="4" name="object 4"/>
          <p:cNvSpPr txBox="1">
            <a:spLocks noGrp="1"/>
          </p:cNvSpPr>
          <p:nvPr>
            <p:ph type="title"/>
          </p:nvPr>
        </p:nvSpPr>
        <p:spPr>
          <a:xfrm>
            <a:off x="10688544" y="5343198"/>
            <a:ext cx="9650505" cy="1476045"/>
          </a:xfrm>
          <a:prstGeom prst="rect">
            <a:avLst/>
          </a:prstGeom>
        </p:spPr>
        <p:txBody>
          <a:bodyPr vert="horz" wrap="square" lIns="0" tIns="13970" rIns="0" bIns="0" rtlCol="0">
            <a:spAutoFit/>
          </a:bodyPr>
          <a:lstStyle/>
          <a:p>
            <a:pPr marL="12700">
              <a:lnSpc>
                <a:spcPts val="5685"/>
              </a:lnSpc>
              <a:spcBef>
                <a:spcPts val="110"/>
              </a:spcBef>
            </a:pPr>
            <a:r>
              <a:rPr sz="5350" spc="-10" dirty="0">
                <a:solidFill>
                  <a:srgbClr val="F3FFCC"/>
                </a:solidFill>
                <a:latin typeface="Futura Lt BT Light"/>
              </a:rPr>
              <a:t>PRAZOS</a:t>
            </a:r>
            <a:r>
              <a:rPr lang="pt-BR" sz="5350" spc="-10" dirty="0">
                <a:solidFill>
                  <a:srgbClr val="F3FFCC"/>
                </a:solidFill>
                <a:latin typeface="Futura Lt BT Light"/>
              </a:rPr>
              <a:t> </a:t>
            </a:r>
            <a:r>
              <a:rPr sz="5350" dirty="0">
                <a:solidFill>
                  <a:srgbClr val="F3FFCC"/>
                </a:solidFill>
                <a:latin typeface="Futura Lt BT Light"/>
              </a:rPr>
              <a:t>E </a:t>
            </a:r>
            <a:br>
              <a:rPr lang="pt-BR" sz="5350" dirty="0">
                <a:solidFill>
                  <a:srgbClr val="F3FFCC"/>
                </a:solidFill>
                <a:latin typeface="Futura Lt BT Light"/>
              </a:rPr>
            </a:br>
            <a:r>
              <a:rPr sz="5350" dirty="0">
                <a:solidFill>
                  <a:srgbClr val="F3FFCC"/>
                </a:solidFill>
                <a:latin typeface="Futura Lt BT Light"/>
              </a:rPr>
              <a:t>CONDIÇÕES DE </a:t>
            </a:r>
            <a:r>
              <a:rPr sz="5350" spc="-10" dirty="0">
                <a:solidFill>
                  <a:srgbClr val="F3FFCC"/>
                </a:solidFill>
                <a:latin typeface="Futura Lt BT Light"/>
              </a:rPr>
              <a:t>EXECUÇÃO</a:t>
            </a:r>
            <a:endParaRPr sz="5350" dirty="0">
              <a:latin typeface="Futura Lt BT Light"/>
            </a:endParaRPr>
          </a:p>
        </p:txBody>
      </p:sp>
      <p:sp>
        <p:nvSpPr>
          <p:cNvPr id="5" name="object 5"/>
          <p:cNvSpPr/>
          <p:nvPr/>
        </p:nvSpPr>
        <p:spPr>
          <a:xfrm>
            <a:off x="10334763" y="5497214"/>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7" name="Espaço Reservado para Número de Slide 6">
            <a:extLst>
              <a:ext uri="{FF2B5EF4-FFF2-40B4-BE49-F238E27FC236}">
                <a16:creationId xmlns:a16="http://schemas.microsoft.com/office/drawing/2014/main" id="{557E336C-55EA-92CB-B281-6F5FFA455652}"/>
              </a:ext>
            </a:extLst>
          </p:cNvPr>
          <p:cNvSpPr>
            <a:spLocks noGrp="1"/>
          </p:cNvSpPr>
          <p:nvPr>
            <p:ph type="sldNum" sz="quarter" idx="7"/>
          </p:nvPr>
        </p:nvSpPr>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15</a:t>
            </a:fld>
            <a:endParaRPr lang="en-US" sz="1400" dirty="0">
              <a:solidFill>
                <a:schemeClr val="bg1"/>
              </a:solidFill>
              <a:latin typeface="Futura Lt BT" panose="020B0402020204020303"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object 5"/>
          <p:cNvSpPr txBox="1"/>
          <p:nvPr/>
        </p:nvSpPr>
        <p:spPr>
          <a:xfrm>
            <a:off x="603250" y="2225675"/>
            <a:ext cx="16850360" cy="7359387"/>
          </a:xfrm>
          <a:prstGeom prst="rect">
            <a:avLst/>
          </a:prstGeom>
        </p:spPr>
        <p:txBody>
          <a:bodyPr vert="horz" wrap="square" lIns="0" tIns="12065" rIns="0" bIns="0" rtlCol="0">
            <a:spAutoFit/>
          </a:bodyPr>
          <a:lstStyle/>
          <a:p>
            <a:pPr marL="342900" marR="14605"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sz="2400" dirty="0">
                <a:latin typeface="Futura Lt BT Light"/>
                <a:ea typeface="Calibri" panose="020F0502020204030204" pitchFamily="34" charset="0"/>
              </a:rPr>
              <a:t>	</a:t>
            </a:r>
            <a:r>
              <a:rPr lang="pt-BR" sz="2400" noProof="0" dirty="0">
                <a:latin typeface="Futura Lt BT Light"/>
                <a:ea typeface="Calibri" panose="020F0502020204030204" pitchFamily="34" charset="0"/>
              </a:rPr>
              <a:t>O período estimado para a realização do trabalho é de </a:t>
            </a:r>
            <a:r>
              <a:rPr lang="pt-BR" sz="2400" b="1" noProof="0" dirty="0">
                <a:latin typeface="Futura Lt BT Light"/>
                <a:ea typeface="Calibri" panose="020F0502020204030204" pitchFamily="34" charset="0"/>
              </a:rPr>
              <a:t>30 (trinta</a:t>
            </a:r>
            <a:r>
              <a:rPr lang="pt-BR" sz="2400" noProof="0" dirty="0">
                <a:latin typeface="Futura Lt BT Light"/>
                <a:ea typeface="Calibri" panose="020F0502020204030204" pitchFamily="34" charset="0"/>
              </a:rPr>
              <a:t>) dias todo o projeto, sendo o cronograma de trabalho definido junto à Contratante logo após o início dos trabalhos.</a:t>
            </a:r>
          </a:p>
          <a:p>
            <a:pPr marL="342900" marR="14605"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pt-BR" sz="2400" noProof="0" dirty="0">
                <a:latin typeface="Futura Lt BT Light"/>
                <a:ea typeface="Calibri" panose="020F0502020204030204" pitchFamily="34" charset="0"/>
              </a:rPr>
              <a:t>O início dos serviços se dará com o aceite expresso a presente proposta e acesso as informações solicitadas.</a:t>
            </a:r>
          </a:p>
          <a:p>
            <a:pPr marL="342900" marR="14605"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pt-BR" sz="2400" noProof="0" dirty="0">
                <a:latin typeface="Futura Lt BT Light"/>
                <a:ea typeface="Calibri" panose="020F0502020204030204" pitchFamily="34" charset="0"/>
              </a:rPr>
              <a:t>Após o envio da 1ª minuta, a contratante terá o prazo de 10 (dez) dias para realizar seus comentários. Não havendo manifestação neste prazo, a </a:t>
            </a:r>
            <a:r>
              <a:rPr lang="pt-BR" sz="2400" noProof="0" dirty="0" err="1">
                <a:latin typeface="Futura Lt BT Light"/>
                <a:ea typeface="Calibri" panose="020F0502020204030204" pitchFamily="34" charset="0"/>
              </a:rPr>
              <a:t>Meden</a:t>
            </a:r>
            <a:r>
              <a:rPr lang="pt-BR" sz="2400" noProof="0" dirty="0">
                <a:latin typeface="Futura Lt BT Light"/>
                <a:ea typeface="Calibri" panose="020F0502020204030204" pitchFamily="34" charset="0"/>
              </a:rPr>
              <a:t> Consultoria entenderá o projeto como finalizado e providenciará a assinatura do relatório, permanecendo a disposição da contratante para prestar eventuais esclarecimentos.</a:t>
            </a:r>
          </a:p>
          <a:p>
            <a:pPr marL="342900" marR="14605"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pt-BR" sz="2400" noProof="0" dirty="0">
                <a:latin typeface="Futura Lt BT Light"/>
                <a:ea typeface="Calibri" panose="020F0502020204030204" pitchFamily="34" charset="0"/>
              </a:rPr>
              <a:t>	Se houver mudanças relevantes na execução do trabalho, informaremos a administração da Contratante e alinharemos qualquer direção necessária.</a:t>
            </a:r>
          </a:p>
          <a:p>
            <a:pPr marL="342900" marR="14605"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pt-BR" sz="2400" noProof="0" dirty="0">
                <a:latin typeface="Futura Lt BT Light"/>
                <a:ea typeface="Calibri" panose="020F0502020204030204" pitchFamily="34" charset="0"/>
              </a:rPr>
              <a:t>Quaisquer atrasos e/ou horas adicionais incorridas devido a motivos que vão além da nossa responsabilidade serão discutidos separadamente.</a:t>
            </a:r>
          </a:p>
          <a:p>
            <a:pPr marL="342900" marR="14605"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lang="pt-BR" sz="2400" noProof="0" dirty="0">
                <a:latin typeface="Futura Lt BT Light"/>
                <a:ea typeface="Calibri" panose="020F0502020204030204" pitchFamily="34" charset="0"/>
              </a:rPr>
              <a:t>	Esta proposta será válida por 15 (quinze) dias a partir da data de sua emissão.</a:t>
            </a:r>
          </a:p>
        </p:txBody>
      </p:sp>
      <p:sp>
        <p:nvSpPr>
          <p:cNvPr id="3" name="object 3"/>
          <p:cNvSpPr txBox="1">
            <a:spLocks noGrp="1"/>
          </p:cNvSpPr>
          <p:nvPr>
            <p:ph type="title"/>
          </p:nvPr>
        </p:nvSpPr>
        <p:spPr>
          <a:xfrm>
            <a:off x="670002" y="635022"/>
            <a:ext cx="12506247" cy="773930"/>
          </a:xfrm>
          <a:prstGeom prst="rect">
            <a:avLst/>
          </a:prstGeom>
        </p:spPr>
        <p:txBody>
          <a:bodyPr vert="horz" wrap="square" lIns="0" tIns="12065" rIns="0" bIns="0" rtlCol="0">
            <a:spAutoFit/>
          </a:bodyPr>
          <a:lstStyle/>
          <a:p>
            <a:pPr marL="12700">
              <a:lnSpc>
                <a:spcPct val="100000"/>
              </a:lnSpc>
              <a:spcBef>
                <a:spcPts val="95"/>
              </a:spcBef>
            </a:pPr>
            <a:r>
              <a:rPr dirty="0">
                <a:latin typeface="Futura Lt BT Light"/>
              </a:rPr>
              <a:t>PRAZOS</a:t>
            </a:r>
            <a:r>
              <a:rPr spc="-165" dirty="0">
                <a:latin typeface="Futura Lt BT Light"/>
              </a:rPr>
              <a:t> </a:t>
            </a:r>
            <a:r>
              <a:rPr dirty="0">
                <a:latin typeface="Futura Lt BT Light"/>
              </a:rPr>
              <a:t>E</a:t>
            </a:r>
            <a:r>
              <a:rPr spc="-160" dirty="0">
                <a:latin typeface="Futura Lt BT Light"/>
              </a:rPr>
              <a:t> </a:t>
            </a:r>
            <a:r>
              <a:rPr dirty="0">
                <a:latin typeface="Futura Lt BT Light"/>
              </a:rPr>
              <a:t>CONDIÇÕES</a:t>
            </a:r>
            <a:r>
              <a:rPr spc="-160" dirty="0">
                <a:latin typeface="Futura Lt BT Light"/>
              </a:rPr>
              <a:t> </a:t>
            </a:r>
            <a:r>
              <a:rPr dirty="0">
                <a:latin typeface="Futura Lt BT Light"/>
              </a:rPr>
              <a:t>DE</a:t>
            </a:r>
            <a:r>
              <a:rPr spc="-160" dirty="0">
                <a:latin typeface="Futura Lt BT Light"/>
              </a:rPr>
              <a:t> </a:t>
            </a:r>
            <a:r>
              <a:rPr spc="-10" dirty="0">
                <a:latin typeface="Futura Lt BT Light"/>
              </a:rPr>
              <a:t>EXECUÇÃO</a:t>
            </a:r>
          </a:p>
        </p:txBody>
      </p:sp>
      <p:sp>
        <p:nvSpPr>
          <p:cNvPr id="4" name="object 4"/>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6" name="object 6"/>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solidFill>
        </p:spPr>
        <p:txBody>
          <a:bodyPr wrap="square" lIns="0" tIns="0" rIns="0" bIns="0" rtlCol="0"/>
          <a:lstStyle/>
          <a:p>
            <a:endParaRPr/>
          </a:p>
        </p:txBody>
      </p:sp>
      <p:sp>
        <p:nvSpPr>
          <p:cNvPr id="7" name="object 7"/>
          <p:cNvSpPr/>
          <p:nvPr/>
        </p:nvSpPr>
        <p:spPr>
          <a:xfrm>
            <a:off x="19297842" y="2638663"/>
            <a:ext cx="94615" cy="6042025"/>
          </a:xfrm>
          <a:custGeom>
            <a:avLst/>
            <a:gdLst/>
            <a:ahLst/>
            <a:cxnLst/>
            <a:rect l="l" t="t" r="r" b="b"/>
            <a:pathLst>
              <a:path w="94615" h="6042025">
                <a:moveTo>
                  <a:pt x="94237" y="0"/>
                </a:moveTo>
                <a:lnTo>
                  <a:pt x="0" y="0"/>
                </a:lnTo>
                <a:lnTo>
                  <a:pt x="0" y="6041700"/>
                </a:lnTo>
                <a:lnTo>
                  <a:pt x="94237" y="6041700"/>
                </a:lnTo>
                <a:lnTo>
                  <a:pt x="94237" y="0"/>
                </a:lnTo>
                <a:close/>
              </a:path>
            </a:pathLst>
          </a:custGeom>
          <a:solidFill>
            <a:srgbClr val="C69A78">
              <a:alpha val="89999"/>
            </a:srgbClr>
          </a:solidFill>
        </p:spPr>
        <p:txBody>
          <a:bodyPr wrap="square" lIns="0" tIns="0" rIns="0" bIns="0" rtlCol="0"/>
          <a:lstStyle/>
          <a:p>
            <a:endParaRPr/>
          </a:p>
        </p:txBody>
      </p:sp>
      <p:sp>
        <p:nvSpPr>
          <p:cNvPr id="8" name="object 8"/>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sp>
        <p:nvSpPr>
          <p:cNvPr id="11" name="object 11"/>
          <p:cNvSpPr/>
          <p:nvPr/>
        </p:nvSpPr>
        <p:spPr>
          <a:xfrm>
            <a:off x="17274336" y="1502984"/>
            <a:ext cx="1788795" cy="1167130"/>
          </a:xfrm>
          <a:custGeom>
            <a:avLst/>
            <a:gdLst/>
            <a:ahLst/>
            <a:cxnLst/>
            <a:rect l="l" t="t" r="r" b="b"/>
            <a:pathLst>
              <a:path w="1788794" h="1167130">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a:p>
        </p:txBody>
      </p:sp>
      <p:sp>
        <p:nvSpPr>
          <p:cNvPr id="12" name="object 12"/>
          <p:cNvSpPr/>
          <p:nvPr/>
        </p:nvSpPr>
        <p:spPr>
          <a:xfrm>
            <a:off x="17274336" y="175466"/>
            <a:ext cx="1788795" cy="1167130"/>
          </a:xfrm>
          <a:custGeom>
            <a:avLst/>
            <a:gdLst/>
            <a:ahLst/>
            <a:cxnLst/>
            <a:rect l="l" t="t" r="r" b="b"/>
            <a:pathLst>
              <a:path w="1788794" h="1167130">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a:p>
        </p:txBody>
      </p:sp>
      <p:sp>
        <p:nvSpPr>
          <p:cNvPr id="2" name="object 24">
            <a:extLst>
              <a:ext uri="{FF2B5EF4-FFF2-40B4-BE49-F238E27FC236}">
                <a16:creationId xmlns:a16="http://schemas.microsoft.com/office/drawing/2014/main" id="{91A13996-95E8-8883-3889-8CEE576FFBE3}"/>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13" name="Espaço Reservado para Número de Slide 12">
            <a:extLst>
              <a:ext uri="{FF2B5EF4-FFF2-40B4-BE49-F238E27FC236}">
                <a16:creationId xmlns:a16="http://schemas.microsoft.com/office/drawing/2014/main" id="{10BD8300-6DC9-1E3F-2552-146C85986607}"/>
              </a:ext>
            </a:extLst>
          </p:cNvPr>
          <p:cNvSpPr>
            <a:spLocks noGrp="1"/>
          </p:cNvSpPr>
          <p:nvPr>
            <p:ph type="sldNum" sz="quarter" idx="7"/>
          </p:nvPr>
        </p:nvSpPr>
        <p:spPr>
          <a:xfrm>
            <a:off x="14992350" y="10988675"/>
            <a:ext cx="4623943" cy="565467"/>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16</a:t>
            </a:fld>
            <a:endParaRPr lang="en-US" sz="1400" dirty="0">
              <a:solidFill>
                <a:schemeClr val="bg1"/>
              </a:solidFill>
              <a:latin typeface="Futura Lt BT" panose="020B0402020204020303" pitchFamily="3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70002" y="635022"/>
            <a:ext cx="12353847" cy="773930"/>
          </a:xfrm>
          <a:prstGeom prst="rect">
            <a:avLst/>
          </a:prstGeom>
        </p:spPr>
        <p:txBody>
          <a:bodyPr vert="horz" wrap="square" lIns="0" tIns="12065" rIns="0" bIns="0" rtlCol="0">
            <a:spAutoFit/>
          </a:bodyPr>
          <a:lstStyle/>
          <a:p>
            <a:pPr marL="12700">
              <a:lnSpc>
                <a:spcPct val="100000"/>
              </a:lnSpc>
              <a:spcBef>
                <a:spcPts val="95"/>
              </a:spcBef>
            </a:pPr>
            <a:r>
              <a:rPr dirty="0">
                <a:latin typeface="Futura Lt BT Light"/>
              </a:rPr>
              <a:t>PRAZOS</a:t>
            </a:r>
            <a:r>
              <a:rPr spc="-165" dirty="0">
                <a:latin typeface="Futura Lt BT Light"/>
              </a:rPr>
              <a:t> </a:t>
            </a:r>
            <a:r>
              <a:rPr dirty="0">
                <a:latin typeface="Futura Lt BT Light"/>
              </a:rPr>
              <a:t>E</a:t>
            </a:r>
            <a:r>
              <a:rPr spc="-160" dirty="0">
                <a:latin typeface="Futura Lt BT Light"/>
              </a:rPr>
              <a:t> </a:t>
            </a:r>
            <a:r>
              <a:rPr dirty="0">
                <a:latin typeface="Futura Lt BT Light"/>
              </a:rPr>
              <a:t>CONDIÇÕES</a:t>
            </a:r>
            <a:r>
              <a:rPr spc="-160" dirty="0">
                <a:latin typeface="Futura Lt BT Light"/>
              </a:rPr>
              <a:t> </a:t>
            </a:r>
            <a:r>
              <a:rPr dirty="0">
                <a:latin typeface="Futura Lt BT Light"/>
              </a:rPr>
              <a:t>DE</a:t>
            </a:r>
            <a:r>
              <a:rPr spc="-160" dirty="0">
                <a:latin typeface="Futura Lt BT Light"/>
              </a:rPr>
              <a:t> </a:t>
            </a:r>
            <a:r>
              <a:rPr spc="-10" dirty="0">
                <a:latin typeface="Futura Lt BT Light"/>
              </a:rPr>
              <a:t>EXECUÇÃO</a:t>
            </a:r>
          </a:p>
        </p:txBody>
      </p:sp>
      <p:sp>
        <p:nvSpPr>
          <p:cNvPr id="3" name="object 3"/>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4" name="object 4"/>
          <p:cNvSpPr txBox="1"/>
          <p:nvPr/>
        </p:nvSpPr>
        <p:spPr>
          <a:xfrm>
            <a:off x="547288" y="2180946"/>
            <a:ext cx="14899640" cy="8159606"/>
          </a:xfrm>
          <a:prstGeom prst="rect">
            <a:avLst/>
          </a:prstGeom>
        </p:spPr>
        <p:txBody>
          <a:bodyPr vert="horz" wrap="square" lIns="0" tIns="12065" rIns="0" bIns="0" rtlCol="0">
            <a:spAutoFit/>
          </a:bodyPr>
          <a:lstStyle/>
          <a:p>
            <a:pPr marL="342900" marR="13970"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sz="2400" dirty="0">
                <a:latin typeface="Futura Lt BT Light"/>
                <a:ea typeface="Calibri" panose="020F0502020204030204" pitchFamily="34" charset="0"/>
              </a:rPr>
              <a:t>Conforme descrito, o escopo deste trabalho será desenvolvido com base em informações fornecidas pelo cliente, cabe ressaltar que as mesmas não serão objeto de revisão e/ou auditoria por parte da Meden Consultoria com finalidade de expressar opinião sobre estas. Contudo, observaremos de maneira holística a coerência interna das mesmas.</a:t>
            </a:r>
          </a:p>
          <a:p>
            <a:pPr marL="342900" marR="13970"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sz="2400" dirty="0">
                <a:latin typeface="Futura Lt BT Light"/>
                <a:ea typeface="Calibri" panose="020F0502020204030204" pitchFamily="34" charset="0"/>
              </a:rPr>
              <a:t>O compromisso decorrente da presente proposta de prestação de serviços poderá ser rescindido em comum acordo entre as Partes. Neste caso, a interrupção dos serviços em andamento implicará o pagamento do valor proporcional ao trabalho executado à Meden Consultoria, de acordo com os honorários estabelecidos na Cláusula Quarta.</a:t>
            </a:r>
          </a:p>
          <a:p>
            <a:pPr marL="342900" marR="13970"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sz="2400" dirty="0">
                <a:latin typeface="Futura Lt BT Light"/>
                <a:ea typeface="Calibri" panose="020F0502020204030204" pitchFamily="34" charset="0"/>
              </a:rPr>
              <a:t>A Meden Consultoria está autorizada a comunicar em seu material informativo (“site”, “folder” e outros meios) ou a terceiros que a Contratante é sua cliente.</a:t>
            </a:r>
          </a:p>
          <a:p>
            <a:pPr marL="342900" marR="13970" indent="-342900" algn="just">
              <a:lnSpc>
                <a:spcPct val="150000"/>
              </a:lnSpc>
              <a:spcBef>
                <a:spcPts val="600"/>
              </a:spcBef>
              <a:spcAft>
                <a:spcPts val="600"/>
              </a:spcAft>
              <a:buSzPct val="160000"/>
              <a:buBlip>
                <a:blip r:embed="rId2"/>
              </a:buBlip>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sz="2400" dirty="0">
                <a:latin typeface="Futura Lt BT Light"/>
                <a:ea typeface="Calibri" panose="020F0502020204030204" pitchFamily="34" charset="0"/>
              </a:rPr>
              <a:t>As partes elegem o foro da Capital da Cidade do Rio de Janeiro, com exclusão de qualquer outro, por mais privilegiado que seja, como único competente para dirimir controvérsias resultantes da aplicação do presente contrato, bem como todos os casos não previstos no presente instrumento.</a:t>
            </a:r>
          </a:p>
        </p:txBody>
      </p:sp>
      <p:sp>
        <p:nvSpPr>
          <p:cNvPr id="5" name="object 5"/>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solidFill>
        </p:spPr>
        <p:txBody>
          <a:bodyPr wrap="square" lIns="0" tIns="0" rIns="0" bIns="0" rtlCol="0"/>
          <a:lstStyle/>
          <a:p>
            <a:endParaRPr/>
          </a:p>
        </p:txBody>
      </p:sp>
      <p:sp>
        <p:nvSpPr>
          <p:cNvPr id="6" name="object 6"/>
          <p:cNvSpPr/>
          <p:nvPr/>
        </p:nvSpPr>
        <p:spPr>
          <a:xfrm>
            <a:off x="19297842" y="2638663"/>
            <a:ext cx="94615" cy="6042025"/>
          </a:xfrm>
          <a:custGeom>
            <a:avLst/>
            <a:gdLst/>
            <a:ahLst/>
            <a:cxnLst/>
            <a:rect l="l" t="t" r="r" b="b"/>
            <a:pathLst>
              <a:path w="94615" h="6042025">
                <a:moveTo>
                  <a:pt x="94237" y="0"/>
                </a:moveTo>
                <a:lnTo>
                  <a:pt x="0" y="0"/>
                </a:lnTo>
                <a:lnTo>
                  <a:pt x="0" y="6041700"/>
                </a:lnTo>
                <a:lnTo>
                  <a:pt x="94237" y="6041700"/>
                </a:lnTo>
                <a:lnTo>
                  <a:pt x="94237" y="0"/>
                </a:lnTo>
                <a:close/>
              </a:path>
            </a:pathLst>
          </a:custGeom>
          <a:solidFill>
            <a:srgbClr val="C69A78">
              <a:alpha val="89999"/>
            </a:srgbClr>
          </a:solidFill>
        </p:spPr>
        <p:txBody>
          <a:bodyPr wrap="square" lIns="0" tIns="0" rIns="0" bIns="0" rtlCol="0"/>
          <a:lstStyle/>
          <a:p>
            <a:endParaRPr/>
          </a:p>
        </p:txBody>
      </p:sp>
      <p:sp>
        <p:nvSpPr>
          <p:cNvPr id="7" name="object 7"/>
          <p:cNvSpPr/>
          <p:nvPr/>
        </p:nvSpPr>
        <p:spPr>
          <a:xfrm>
            <a:off x="16198457" y="10942084"/>
            <a:ext cx="3811904" cy="367030"/>
          </a:xfrm>
          <a:custGeom>
            <a:avLst/>
            <a:gdLst/>
            <a:ahLst/>
            <a:cxnLst/>
            <a:rect l="l" t="t" r="r" b="b"/>
            <a:pathLst>
              <a:path w="3811905" h="367029">
                <a:moveTo>
                  <a:pt x="3811397" y="266573"/>
                </a:moveTo>
                <a:lnTo>
                  <a:pt x="3807104" y="218668"/>
                </a:lnTo>
                <a:lnTo>
                  <a:pt x="3794722" y="173570"/>
                </a:lnTo>
                <a:lnTo>
                  <a:pt x="3774998" y="132029"/>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29"/>
                </a:lnTo>
                <a:lnTo>
                  <a:pt x="16675" y="173570"/>
                </a:lnTo>
                <a:lnTo>
                  <a:pt x="4292" y="218668"/>
                </a:lnTo>
                <a:lnTo>
                  <a:pt x="0" y="266573"/>
                </a:lnTo>
                <a:lnTo>
                  <a:pt x="0" y="366471"/>
                </a:lnTo>
                <a:lnTo>
                  <a:pt x="3811397" y="366471"/>
                </a:lnTo>
                <a:lnTo>
                  <a:pt x="3811397" y="266573"/>
                </a:lnTo>
                <a:close/>
              </a:path>
            </a:pathLst>
          </a:custGeom>
          <a:solidFill>
            <a:srgbClr val="006969">
              <a:alpha val="89999"/>
            </a:srgbClr>
          </a:solidFill>
        </p:spPr>
        <p:txBody>
          <a:bodyPr wrap="square" lIns="0" tIns="0" rIns="0" bIns="0" rtlCol="0"/>
          <a:lstStyle/>
          <a:p>
            <a:endParaRPr/>
          </a:p>
        </p:txBody>
      </p:sp>
      <p:sp>
        <p:nvSpPr>
          <p:cNvPr id="10" name="object 10"/>
          <p:cNvSpPr/>
          <p:nvPr/>
        </p:nvSpPr>
        <p:spPr>
          <a:xfrm>
            <a:off x="17274336" y="1502984"/>
            <a:ext cx="1788795" cy="1167130"/>
          </a:xfrm>
          <a:custGeom>
            <a:avLst/>
            <a:gdLst/>
            <a:ahLst/>
            <a:cxnLst/>
            <a:rect l="l" t="t" r="r" b="b"/>
            <a:pathLst>
              <a:path w="1788794" h="1167130">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a:p>
        </p:txBody>
      </p:sp>
      <p:sp>
        <p:nvSpPr>
          <p:cNvPr id="11" name="object 11"/>
          <p:cNvSpPr/>
          <p:nvPr/>
        </p:nvSpPr>
        <p:spPr>
          <a:xfrm>
            <a:off x="17274336" y="175466"/>
            <a:ext cx="1788795" cy="1167130"/>
          </a:xfrm>
          <a:custGeom>
            <a:avLst/>
            <a:gdLst/>
            <a:ahLst/>
            <a:cxnLst/>
            <a:rect l="l" t="t" r="r" b="b"/>
            <a:pathLst>
              <a:path w="1788794" h="1167130">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a:p>
        </p:txBody>
      </p:sp>
      <p:sp>
        <p:nvSpPr>
          <p:cNvPr id="12" name="object 24">
            <a:extLst>
              <a:ext uri="{FF2B5EF4-FFF2-40B4-BE49-F238E27FC236}">
                <a16:creationId xmlns:a16="http://schemas.microsoft.com/office/drawing/2014/main" id="{227481E2-A4E6-FB44-6716-2E6E0AE63E93}"/>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13" name="Espaço Reservado para Número de Slide 12">
            <a:extLst>
              <a:ext uri="{FF2B5EF4-FFF2-40B4-BE49-F238E27FC236}">
                <a16:creationId xmlns:a16="http://schemas.microsoft.com/office/drawing/2014/main" id="{8D0343DE-50B9-414A-9637-8BEEF04EE0E3}"/>
              </a:ext>
            </a:extLst>
          </p:cNvPr>
          <p:cNvSpPr>
            <a:spLocks noGrp="1"/>
          </p:cNvSpPr>
          <p:nvPr>
            <p:ph type="sldNum" sz="quarter" idx="7"/>
          </p:nvPr>
        </p:nvSpPr>
        <p:spPr>
          <a:xfrm>
            <a:off x="14992350" y="10988675"/>
            <a:ext cx="4623943" cy="565467"/>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17</a:t>
            </a:fld>
            <a:endParaRPr lang="en-US" sz="1400" dirty="0">
              <a:solidFill>
                <a:schemeClr val="bg1"/>
              </a:solidFill>
              <a:latin typeface="Futura Lt BT" panose="020B0402020204020303"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0"/>
            <a:ext cx="20104100" cy="11308715"/>
            <a:chOff x="0" y="0"/>
            <a:chExt cx="20104100" cy="11308715"/>
          </a:xfrm>
        </p:grpSpPr>
        <p:sp>
          <p:nvSpPr>
            <p:cNvPr id="3" name="object 3"/>
            <p:cNvSpPr/>
            <p:nvPr/>
          </p:nvSpPr>
          <p:spPr>
            <a:xfrm>
              <a:off x="0" y="5727574"/>
              <a:ext cx="20104100" cy="5581015"/>
            </a:xfrm>
            <a:custGeom>
              <a:avLst/>
              <a:gdLst/>
              <a:ahLst/>
              <a:cxnLst/>
              <a:rect l="l" t="t" r="r" b="b"/>
              <a:pathLst>
                <a:path w="20104100" h="5581015">
                  <a:moveTo>
                    <a:pt x="20104099" y="0"/>
                  </a:moveTo>
                  <a:lnTo>
                    <a:pt x="0" y="0"/>
                  </a:lnTo>
                  <a:lnTo>
                    <a:pt x="0" y="5580981"/>
                  </a:lnTo>
                  <a:lnTo>
                    <a:pt x="20104099" y="5580981"/>
                  </a:lnTo>
                  <a:lnTo>
                    <a:pt x="20104099" y="0"/>
                  </a:lnTo>
                  <a:close/>
                </a:path>
              </a:pathLst>
            </a:custGeom>
            <a:solidFill>
              <a:srgbClr val="000000"/>
            </a:solidFill>
          </p:spPr>
          <p:txBody>
            <a:bodyPr wrap="square" lIns="0" tIns="0" rIns="0" bIns="0" rtlCol="0"/>
            <a:lstStyle/>
            <a:p>
              <a:endParaRPr/>
            </a:p>
          </p:txBody>
        </p:sp>
        <p:sp>
          <p:nvSpPr>
            <p:cNvPr id="4" name="object 4"/>
            <p:cNvSpPr/>
            <p:nvPr/>
          </p:nvSpPr>
          <p:spPr>
            <a:xfrm>
              <a:off x="20009862" y="6146409"/>
              <a:ext cx="94615" cy="5162550"/>
            </a:xfrm>
            <a:custGeom>
              <a:avLst/>
              <a:gdLst/>
              <a:ahLst/>
              <a:cxnLst/>
              <a:rect l="l" t="t" r="r" b="b"/>
              <a:pathLst>
                <a:path w="94615" h="5162550">
                  <a:moveTo>
                    <a:pt x="94237" y="0"/>
                  </a:moveTo>
                  <a:lnTo>
                    <a:pt x="0" y="0"/>
                  </a:lnTo>
                  <a:lnTo>
                    <a:pt x="0" y="5162146"/>
                  </a:lnTo>
                  <a:lnTo>
                    <a:pt x="94237" y="5162146"/>
                  </a:lnTo>
                  <a:lnTo>
                    <a:pt x="94237" y="0"/>
                  </a:lnTo>
                  <a:close/>
                </a:path>
              </a:pathLst>
            </a:custGeom>
            <a:solidFill>
              <a:srgbClr val="006969"/>
            </a:solidFill>
          </p:spPr>
          <p:txBody>
            <a:bodyPr wrap="square" lIns="0" tIns="0" rIns="0" bIns="0" rtlCol="0"/>
            <a:lstStyle/>
            <a:p>
              <a:endParaRPr/>
            </a:p>
          </p:txBody>
        </p:sp>
        <p:sp>
          <p:nvSpPr>
            <p:cNvPr id="5" name="object 5"/>
            <p:cNvSpPr/>
            <p:nvPr/>
          </p:nvSpPr>
          <p:spPr>
            <a:xfrm>
              <a:off x="19748089" y="7099260"/>
              <a:ext cx="94615" cy="3612515"/>
            </a:xfrm>
            <a:custGeom>
              <a:avLst/>
              <a:gdLst/>
              <a:ahLst/>
              <a:cxnLst/>
              <a:rect l="l" t="t" r="r" b="b"/>
              <a:pathLst>
                <a:path w="94615" h="3612515">
                  <a:moveTo>
                    <a:pt x="94237" y="0"/>
                  </a:moveTo>
                  <a:lnTo>
                    <a:pt x="0" y="0"/>
                  </a:lnTo>
                  <a:lnTo>
                    <a:pt x="0" y="3612455"/>
                  </a:lnTo>
                  <a:lnTo>
                    <a:pt x="94237" y="3612455"/>
                  </a:lnTo>
                  <a:lnTo>
                    <a:pt x="94237" y="0"/>
                  </a:lnTo>
                  <a:close/>
                </a:path>
              </a:pathLst>
            </a:custGeom>
            <a:solidFill>
              <a:srgbClr val="C69A78">
                <a:alpha val="89999"/>
              </a:srgbClr>
            </a:solidFill>
          </p:spPr>
          <p:txBody>
            <a:bodyPr wrap="square" lIns="0" tIns="0" rIns="0" bIns="0" rtlCol="0"/>
            <a:lstStyle/>
            <a:p>
              <a:endParaRPr/>
            </a:p>
          </p:txBody>
        </p:sp>
        <p:pic>
          <p:nvPicPr>
            <p:cNvPr id="6" name="object 6"/>
            <p:cNvPicPr/>
            <p:nvPr/>
          </p:nvPicPr>
          <p:blipFill>
            <a:blip r:embed="rId2" cstate="print"/>
            <a:stretch>
              <a:fillRect/>
            </a:stretch>
          </p:blipFill>
          <p:spPr>
            <a:xfrm>
              <a:off x="0" y="0"/>
              <a:ext cx="20104099" cy="5730799"/>
            </a:xfrm>
            <a:prstGeom prst="rect">
              <a:avLst/>
            </a:prstGeom>
          </p:spPr>
        </p:pic>
        <p:sp>
          <p:nvSpPr>
            <p:cNvPr id="7" name="object 7"/>
            <p:cNvSpPr/>
            <p:nvPr/>
          </p:nvSpPr>
          <p:spPr>
            <a:xfrm>
              <a:off x="0" y="0"/>
              <a:ext cx="20104100" cy="5970905"/>
            </a:xfrm>
            <a:custGeom>
              <a:avLst/>
              <a:gdLst/>
              <a:ahLst/>
              <a:cxnLst/>
              <a:rect l="l" t="t" r="r" b="b"/>
              <a:pathLst>
                <a:path w="20104100" h="5970905">
                  <a:moveTo>
                    <a:pt x="0" y="0"/>
                  </a:moveTo>
                  <a:lnTo>
                    <a:pt x="20104099" y="0"/>
                  </a:lnTo>
                  <a:lnTo>
                    <a:pt x="20104099" y="5970446"/>
                  </a:lnTo>
                  <a:lnTo>
                    <a:pt x="0" y="5970446"/>
                  </a:lnTo>
                  <a:lnTo>
                    <a:pt x="0" y="0"/>
                  </a:lnTo>
                  <a:close/>
                </a:path>
              </a:pathLst>
            </a:custGeom>
            <a:solidFill>
              <a:srgbClr val="060505">
                <a:alpha val="79998"/>
              </a:srgbClr>
            </a:solidFill>
          </p:spPr>
          <p:txBody>
            <a:bodyPr wrap="square" lIns="0" tIns="0" rIns="0" bIns="0" rtlCol="0"/>
            <a:lstStyle/>
            <a:p>
              <a:endParaRPr/>
            </a:p>
          </p:txBody>
        </p:sp>
        <p:sp>
          <p:nvSpPr>
            <p:cNvPr id="8" name="object 8"/>
            <p:cNvSpPr/>
            <p:nvPr/>
          </p:nvSpPr>
          <p:spPr>
            <a:xfrm>
              <a:off x="11190371" y="1894759"/>
              <a:ext cx="8914130" cy="1550035"/>
            </a:xfrm>
            <a:custGeom>
              <a:avLst/>
              <a:gdLst/>
              <a:ahLst/>
              <a:cxnLst/>
              <a:rect l="l" t="t" r="r" b="b"/>
              <a:pathLst>
                <a:path w="8914130" h="1550035">
                  <a:moveTo>
                    <a:pt x="0" y="1549690"/>
                  </a:moveTo>
                  <a:lnTo>
                    <a:pt x="8913728" y="1549690"/>
                  </a:lnTo>
                  <a:lnTo>
                    <a:pt x="8913728" y="0"/>
                  </a:lnTo>
                  <a:lnTo>
                    <a:pt x="0" y="0"/>
                  </a:lnTo>
                  <a:lnTo>
                    <a:pt x="0" y="1549690"/>
                  </a:lnTo>
                  <a:close/>
                </a:path>
              </a:pathLst>
            </a:custGeom>
            <a:solidFill>
              <a:srgbClr val="090706">
                <a:alpha val="64999"/>
              </a:srgbClr>
            </a:solidFill>
          </p:spPr>
          <p:txBody>
            <a:bodyPr wrap="square" lIns="0" tIns="0" rIns="0" bIns="0" rtlCol="0"/>
            <a:lstStyle/>
            <a:p>
              <a:endParaRPr/>
            </a:p>
          </p:txBody>
        </p:sp>
      </p:grpSp>
      <p:sp>
        <p:nvSpPr>
          <p:cNvPr id="9" name="object 9"/>
          <p:cNvSpPr txBox="1">
            <a:spLocks noGrp="1"/>
          </p:cNvSpPr>
          <p:nvPr>
            <p:ph type="title"/>
          </p:nvPr>
        </p:nvSpPr>
        <p:spPr>
          <a:xfrm>
            <a:off x="12140992" y="2159579"/>
            <a:ext cx="3626057" cy="837409"/>
          </a:xfrm>
          <a:prstGeom prst="rect">
            <a:avLst/>
          </a:prstGeom>
        </p:spPr>
        <p:txBody>
          <a:bodyPr vert="horz" wrap="square" lIns="0" tIns="13970" rIns="0" bIns="0" rtlCol="0">
            <a:spAutoFit/>
          </a:bodyPr>
          <a:lstStyle/>
          <a:p>
            <a:pPr marL="12700">
              <a:lnSpc>
                <a:spcPct val="100000"/>
              </a:lnSpc>
              <a:spcBef>
                <a:spcPts val="110"/>
              </a:spcBef>
            </a:pPr>
            <a:r>
              <a:rPr sz="5350" spc="-10" dirty="0">
                <a:solidFill>
                  <a:srgbClr val="F3FFCC"/>
                </a:solidFill>
                <a:latin typeface="Futura Lt BT Light"/>
              </a:rPr>
              <a:t>EQUIPE</a:t>
            </a:r>
            <a:endParaRPr sz="5350" dirty="0">
              <a:latin typeface="Futura Lt BT Light"/>
            </a:endParaRPr>
          </a:p>
        </p:txBody>
      </p:sp>
      <p:grpSp>
        <p:nvGrpSpPr>
          <p:cNvPr id="10" name="object 10"/>
          <p:cNvGrpSpPr/>
          <p:nvPr/>
        </p:nvGrpSpPr>
        <p:grpSpPr>
          <a:xfrm>
            <a:off x="11756636" y="2302076"/>
            <a:ext cx="7552055" cy="7331709"/>
            <a:chOff x="11756636" y="2302076"/>
            <a:chExt cx="7552055" cy="7331709"/>
          </a:xfrm>
        </p:grpSpPr>
        <p:sp>
          <p:nvSpPr>
            <p:cNvPr id="11" name="object 11"/>
            <p:cNvSpPr/>
            <p:nvPr/>
          </p:nvSpPr>
          <p:spPr>
            <a:xfrm>
              <a:off x="11756636" y="2302076"/>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12" name="object 12"/>
            <p:cNvSpPr/>
            <p:nvPr/>
          </p:nvSpPr>
          <p:spPr>
            <a:xfrm>
              <a:off x="17851984" y="7601806"/>
              <a:ext cx="1456690" cy="2032000"/>
            </a:xfrm>
            <a:custGeom>
              <a:avLst/>
              <a:gdLst/>
              <a:ahLst/>
              <a:cxnLst/>
              <a:rect l="l" t="t" r="r" b="b"/>
              <a:pathLst>
                <a:path w="1456690" h="2032000">
                  <a:moveTo>
                    <a:pt x="1456321" y="1681518"/>
                  </a:moveTo>
                  <a:lnTo>
                    <a:pt x="1438287" y="1658213"/>
                  </a:lnTo>
                  <a:lnTo>
                    <a:pt x="1414056" y="1633118"/>
                  </a:lnTo>
                  <a:lnTo>
                    <a:pt x="1391069" y="1602816"/>
                  </a:lnTo>
                  <a:lnTo>
                    <a:pt x="1369453" y="1567611"/>
                  </a:lnTo>
                  <a:lnTo>
                    <a:pt x="1349336" y="1527810"/>
                  </a:lnTo>
                  <a:lnTo>
                    <a:pt x="1330858" y="1483728"/>
                  </a:lnTo>
                  <a:lnTo>
                    <a:pt x="1314119" y="1435671"/>
                  </a:lnTo>
                  <a:lnTo>
                    <a:pt x="1299260" y="1383944"/>
                  </a:lnTo>
                  <a:lnTo>
                    <a:pt x="1286421" y="1328864"/>
                  </a:lnTo>
                  <a:lnTo>
                    <a:pt x="1275715" y="1270736"/>
                  </a:lnTo>
                  <a:lnTo>
                    <a:pt x="1267269" y="1209865"/>
                  </a:lnTo>
                  <a:lnTo>
                    <a:pt x="1261211" y="1146568"/>
                  </a:lnTo>
                  <a:lnTo>
                    <a:pt x="1257681" y="1081138"/>
                  </a:lnTo>
                  <a:lnTo>
                    <a:pt x="193167" y="1081138"/>
                  </a:lnTo>
                  <a:lnTo>
                    <a:pt x="189966" y="1141996"/>
                  </a:lnTo>
                  <a:lnTo>
                    <a:pt x="184581" y="1201039"/>
                  </a:lnTo>
                  <a:lnTo>
                    <a:pt x="177114" y="1258023"/>
                  </a:lnTo>
                  <a:lnTo>
                    <a:pt x="167665" y="1312684"/>
                  </a:lnTo>
                  <a:lnTo>
                    <a:pt x="156349" y="1364805"/>
                  </a:lnTo>
                  <a:lnTo>
                    <a:pt x="143268" y="1414106"/>
                  </a:lnTo>
                  <a:lnTo>
                    <a:pt x="128498" y="1460360"/>
                  </a:lnTo>
                  <a:lnTo>
                    <a:pt x="112179" y="1503311"/>
                  </a:lnTo>
                  <a:lnTo>
                    <a:pt x="94386" y="1542719"/>
                  </a:lnTo>
                  <a:lnTo>
                    <a:pt x="75222" y="1578343"/>
                  </a:lnTo>
                  <a:lnTo>
                    <a:pt x="33235" y="1637195"/>
                  </a:lnTo>
                  <a:lnTo>
                    <a:pt x="16992" y="1659648"/>
                  </a:lnTo>
                  <a:lnTo>
                    <a:pt x="8597" y="1670659"/>
                  </a:lnTo>
                  <a:lnTo>
                    <a:pt x="0" y="1681518"/>
                  </a:lnTo>
                  <a:lnTo>
                    <a:pt x="0" y="2031644"/>
                  </a:lnTo>
                  <a:lnTo>
                    <a:pt x="39522" y="2001266"/>
                  </a:lnTo>
                  <a:lnTo>
                    <a:pt x="77546" y="1969122"/>
                  </a:lnTo>
                  <a:lnTo>
                    <a:pt x="113995" y="1935238"/>
                  </a:lnTo>
                  <a:lnTo>
                    <a:pt x="148818" y="1899704"/>
                  </a:lnTo>
                  <a:lnTo>
                    <a:pt x="181952" y="1862569"/>
                  </a:lnTo>
                  <a:lnTo>
                    <a:pt x="213334" y="1823897"/>
                  </a:lnTo>
                  <a:lnTo>
                    <a:pt x="242900" y="1783740"/>
                  </a:lnTo>
                  <a:lnTo>
                    <a:pt x="270586" y="1742186"/>
                  </a:lnTo>
                  <a:lnTo>
                    <a:pt x="296329" y="1699272"/>
                  </a:lnTo>
                  <a:lnTo>
                    <a:pt x="320078" y="1655089"/>
                  </a:lnTo>
                  <a:lnTo>
                    <a:pt x="341757" y="1609661"/>
                  </a:lnTo>
                  <a:lnTo>
                    <a:pt x="361315" y="1563090"/>
                  </a:lnTo>
                  <a:lnTo>
                    <a:pt x="378675" y="1515414"/>
                  </a:lnTo>
                  <a:lnTo>
                    <a:pt x="393788" y="1466697"/>
                  </a:lnTo>
                  <a:lnTo>
                    <a:pt x="406590" y="1417015"/>
                  </a:lnTo>
                  <a:lnTo>
                    <a:pt x="417017" y="1366405"/>
                  </a:lnTo>
                  <a:lnTo>
                    <a:pt x="425005" y="1314958"/>
                  </a:lnTo>
                  <a:lnTo>
                    <a:pt x="430479" y="1262735"/>
                  </a:lnTo>
                  <a:lnTo>
                    <a:pt x="624954" y="1262735"/>
                  </a:lnTo>
                  <a:lnTo>
                    <a:pt x="624954" y="1752993"/>
                  </a:lnTo>
                  <a:lnTo>
                    <a:pt x="832205" y="1752993"/>
                  </a:lnTo>
                  <a:lnTo>
                    <a:pt x="832205" y="1262735"/>
                  </a:lnTo>
                  <a:lnTo>
                    <a:pt x="1025829" y="1262735"/>
                  </a:lnTo>
                  <a:lnTo>
                    <a:pt x="1031316" y="1314958"/>
                  </a:lnTo>
                  <a:lnTo>
                    <a:pt x="1039304" y="1366405"/>
                  </a:lnTo>
                  <a:lnTo>
                    <a:pt x="1049731" y="1417015"/>
                  </a:lnTo>
                  <a:lnTo>
                    <a:pt x="1062532" y="1466697"/>
                  </a:lnTo>
                  <a:lnTo>
                    <a:pt x="1077645" y="1515414"/>
                  </a:lnTo>
                  <a:lnTo>
                    <a:pt x="1095006" y="1563090"/>
                  </a:lnTo>
                  <a:lnTo>
                    <a:pt x="1114564" y="1609661"/>
                  </a:lnTo>
                  <a:lnTo>
                    <a:pt x="1136243" y="1655089"/>
                  </a:lnTo>
                  <a:lnTo>
                    <a:pt x="1159992" y="1699272"/>
                  </a:lnTo>
                  <a:lnTo>
                    <a:pt x="1185748" y="1742186"/>
                  </a:lnTo>
                  <a:lnTo>
                    <a:pt x="1213434" y="1783740"/>
                  </a:lnTo>
                  <a:lnTo>
                    <a:pt x="1242999" y="1823897"/>
                  </a:lnTo>
                  <a:lnTo>
                    <a:pt x="1274381" y="1862569"/>
                  </a:lnTo>
                  <a:lnTo>
                    <a:pt x="1307515" y="1899704"/>
                  </a:lnTo>
                  <a:lnTo>
                    <a:pt x="1342339" y="1935238"/>
                  </a:lnTo>
                  <a:lnTo>
                    <a:pt x="1378788" y="1969122"/>
                  </a:lnTo>
                  <a:lnTo>
                    <a:pt x="1416799" y="2001266"/>
                  </a:lnTo>
                  <a:lnTo>
                    <a:pt x="1456321" y="2031644"/>
                  </a:lnTo>
                  <a:lnTo>
                    <a:pt x="1456321" y="1681518"/>
                  </a:lnTo>
                  <a:close/>
                </a:path>
                <a:path w="1456690" h="2032000">
                  <a:moveTo>
                    <a:pt x="1456321" y="0"/>
                  </a:moveTo>
                  <a:lnTo>
                    <a:pt x="1416812" y="30353"/>
                  </a:lnTo>
                  <a:lnTo>
                    <a:pt x="1378788" y="62509"/>
                  </a:lnTo>
                  <a:lnTo>
                    <a:pt x="1342339" y="96380"/>
                  </a:lnTo>
                  <a:lnTo>
                    <a:pt x="1307515" y="131914"/>
                  </a:lnTo>
                  <a:lnTo>
                    <a:pt x="1274381" y="169049"/>
                  </a:lnTo>
                  <a:lnTo>
                    <a:pt x="1242999" y="207708"/>
                  </a:lnTo>
                  <a:lnTo>
                    <a:pt x="1213434" y="247853"/>
                  </a:lnTo>
                  <a:lnTo>
                    <a:pt x="1185748" y="289407"/>
                  </a:lnTo>
                  <a:lnTo>
                    <a:pt x="1160005" y="332320"/>
                  </a:lnTo>
                  <a:lnTo>
                    <a:pt x="1136256" y="376516"/>
                  </a:lnTo>
                  <a:lnTo>
                    <a:pt x="1114577" y="421932"/>
                  </a:lnTo>
                  <a:lnTo>
                    <a:pt x="1095019" y="468503"/>
                  </a:lnTo>
                  <a:lnTo>
                    <a:pt x="1077658" y="516178"/>
                  </a:lnTo>
                  <a:lnTo>
                    <a:pt x="1062545" y="564896"/>
                  </a:lnTo>
                  <a:lnTo>
                    <a:pt x="1049743" y="614578"/>
                  </a:lnTo>
                  <a:lnTo>
                    <a:pt x="1039317" y="665187"/>
                  </a:lnTo>
                  <a:lnTo>
                    <a:pt x="1031341" y="716635"/>
                  </a:lnTo>
                  <a:lnTo>
                    <a:pt x="1025855" y="768870"/>
                  </a:lnTo>
                  <a:lnTo>
                    <a:pt x="831367" y="768870"/>
                  </a:lnTo>
                  <a:lnTo>
                    <a:pt x="831367" y="278650"/>
                  </a:lnTo>
                  <a:lnTo>
                    <a:pt x="624116" y="278650"/>
                  </a:lnTo>
                  <a:lnTo>
                    <a:pt x="624116" y="768870"/>
                  </a:lnTo>
                  <a:lnTo>
                    <a:pt x="430491" y="768870"/>
                  </a:lnTo>
                  <a:lnTo>
                    <a:pt x="425005" y="716635"/>
                  </a:lnTo>
                  <a:lnTo>
                    <a:pt x="417017" y="665187"/>
                  </a:lnTo>
                  <a:lnTo>
                    <a:pt x="406590" y="614578"/>
                  </a:lnTo>
                  <a:lnTo>
                    <a:pt x="393801" y="564896"/>
                  </a:lnTo>
                  <a:lnTo>
                    <a:pt x="378675" y="516178"/>
                  </a:lnTo>
                  <a:lnTo>
                    <a:pt x="361315" y="468503"/>
                  </a:lnTo>
                  <a:lnTo>
                    <a:pt x="341757" y="421932"/>
                  </a:lnTo>
                  <a:lnTo>
                    <a:pt x="320078" y="376516"/>
                  </a:lnTo>
                  <a:lnTo>
                    <a:pt x="296329" y="332320"/>
                  </a:lnTo>
                  <a:lnTo>
                    <a:pt x="270586" y="289407"/>
                  </a:lnTo>
                  <a:lnTo>
                    <a:pt x="242900" y="247853"/>
                  </a:lnTo>
                  <a:lnTo>
                    <a:pt x="213334" y="207708"/>
                  </a:lnTo>
                  <a:lnTo>
                    <a:pt x="181952" y="169049"/>
                  </a:lnTo>
                  <a:lnTo>
                    <a:pt x="148818" y="131914"/>
                  </a:lnTo>
                  <a:lnTo>
                    <a:pt x="113995" y="96380"/>
                  </a:lnTo>
                  <a:lnTo>
                    <a:pt x="77546" y="62509"/>
                  </a:lnTo>
                  <a:lnTo>
                    <a:pt x="39535" y="30353"/>
                  </a:lnTo>
                  <a:lnTo>
                    <a:pt x="12" y="0"/>
                  </a:lnTo>
                  <a:lnTo>
                    <a:pt x="12" y="350100"/>
                  </a:lnTo>
                  <a:lnTo>
                    <a:pt x="18034" y="373367"/>
                  </a:lnTo>
                  <a:lnTo>
                    <a:pt x="42278" y="398475"/>
                  </a:lnTo>
                  <a:lnTo>
                    <a:pt x="65265" y="428790"/>
                  </a:lnTo>
                  <a:lnTo>
                    <a:pt x="86880" y="464007"/>
                  </a:lnTo>
                  <a:lnTo>
                    <a:pt x="106997" y="503821"/>
                  </a:lnTo>
                  <a:lnTo>
                    <a:pt x="125488" y="547903"/>
                  </a:lnTo>
                  <a:lnTo>
                    <a:pt x="142227" y="595960"/>
                  </a:lnTo>
                  <a:lnTo>
                    <a:pt x="157073" y="647687"/>
                  </a:lnTo>
                  <a:lnTo>
                    <a:pt x="169913" y="702767"/>
                  </a:lnTo>
                  <a:lnTo>
                    <a:pt x="180632" y="760895"/>
                  </a:lnTo>
                  <a:lnTo>
                    <a:pt x="189077" y="821753"/>
                  </a:lnTo>
                  <a:lnTo>
                    <a:pt x="195122" y="885037"/>
                  </a:lnTo>
                  <a:lnTo>
                    <a:pt x="198666" y="950455"/>
                  </a:lnTo>
                  <a:lnTo>
                    <a:pt x="1263192" y="950455"/>
                  </a:lnTo>
                  <a:lnTo>
                    <a:pt x="1266393" y="889596"/>
                  </a:lnTo>
                  <a:lnTo>
                    <a:pt x="1271778" y="830567"/>
                  </a:lnTo>
                  <a:lnTo>
                    <a:pt x="1279232" y="773595"/>
                  </a:lnTo>
                  <a:lnTo>
                    <a:pt x="1288669" y="718921"/>
                  </a:lnTo>
                  <a:lnTo>
                    <a:pt x="1299984" y="666813"/>
                  </a:lnTo>
                  <a:lnTo>
                    <a:pt x="1313078" y="617512"/>
                  </a:lnTo>
                  <a:lnTo>
                    <a:pt x="1327835" y="571258"/>
                  </a:lnTo>
                  <a:lnTo>
                    <a:pt x="1344155" y="528294"/>
                  </a:lnTo>
                  <a:lnTo>
                    <a:pt x="1361948" y="488886"/>
                  </a:lnTo>
                  <a:lnTo>
                    <a:pt x="1381112" y="453275"/>
                  </a:lnTo>
                  <a:lnTo>
                    <a:pt x="1423111" y="394411"/>
                  </a:lnTo>
                  <a:lnTo>
                    <a:pt x="1439341" y="371970"/>
                  </a:lnTo>
                  <a:lnTo>
                    <a:pt x="1447736" y="360959"/>
                  </a:lnTo>
                  <a:lnTo>
                    <a:pt x="1456321" y="350100"/>
                  </a:lnTo>
                  <a:lnTo>
                    <a:pt x="1456321" y="0"/>
                  </a:lnTo>
                  <a:close/>
                </a:path>
              </a:pathLst>
            </a:custGeom>
            <a:solidFill>
              <a:srgbClr val="C99C7B">
                <a:alpha val="19999"/>
              </a:srgbClr>
            </a:solidFill>
          </p:spPr>
          <p:txBody>
            <a:bodyPr wrap="square" lIns="0" tIns="0" rIns="0" bIns="0" rtlCol="0"/>
            <a:lstStyle/>
            <a:p>
              <a:endParaRPr/>
            </a:p>
          </p:txBody>
        </p:sp>
      </p:grpSp>
      <p:sp>
        <p:nvSpPr>
          <p:cNvPr id="13" name="object 13"/>
          <p:cNvSpPr txBox="1"/>
          <p:nvPr/>
        </p:nvSpPr>
        <p:spPr>
          <a:xfrm>
            <a:off x="427495" y="6872526"/>
            <a:ext cx="16634955" cy="2854884"/>
          </a:xfrm>
          <a:prstGeom prst="rect">
            <a:avLst/>
          </a:prstGeom>
        </p:spPr>
        <p:txBody>
          <a:bodyPr vert="horz" wrap="square" lIns="0" tIns="12065" rIns="0" bIns="0" rtlCol="0">
            <a:spAutoFit/>
          </a:bodyPr>
          <a:lstStyle/>
          <a:p>
            <a:pPr marL="13335" marR="22225" algn="just">
              <a:lnSpc>
                <a:spcPct val="134600"/>
              </a:lnSpc>
              <a:spcBef>
                <a:spcPts val="95"/>
              </a:spcBef>
            </a:pPr>
            <a:r>
              <a:rPr lang="pt-BR" sz="2800" dirty="0">
                <a:solidFill>
                  <a:schemeClr val="bg1"/>
                </a:solidFill>
                <a:latin typeface="Futura Lt BT Light"/>
                <a:ea typeface="Calibri" panose="020F0502020204030204" pitchFamily="34" charset="0"/>
              </a:rPr>
              <a:t>No âmbito desta proposta, a equipe envolvida no projeto será composta por sócios/diretores com características e qualificações complementares. Essa mesma equipe já participou de diversas operações de reestruturação societária e </a:t>
            </a:r>
            <a:r>
              <a:rPr lang="pt-BR" sz="2800" dirty="0" err="1">
                <a:solidFill>
                  <a:schemeClr val="bg1"/>
                </a:solidFill>
                <a:latin typeface="Futura Lt BT Light"/>
                <a:ea typeface="Calibri" panose="020F0502020204030204" pitchFamily="34" charset="0"/>
              </a:rPr>
              <a:t>M&amp;A’s</a:t>
            </a:r>
            <a:r>
              <a:rPr lang="pt-BR" sz="2800" dirty="0">
                <a:solidFill>
                  <a:schemeClr val="bg1"/>
                </a:solidFill>
                <a:latin typeface="Futura Lt BT Light"/>
                <a:ea typeface="Calibri" panose="020F0502020204030204" pitchFamily="34" charset="0"/>
              </a:rPr>
              <a:t> assessorados pela Meden Consultoria, além de diversas avaliações de empresas e ativos sendo, portanto, qualificada para assessorar a Contratante nos diferentes desafios e análises da presente demanda.</a:t>
            </a:r>
          </a:p>
        </p:txBody>
      </p:sp>
      <p:sp>
        <p:nvSpPr>
          <p:cNvPr id="15" name="Espaço Reservado para Número de Slide 14">
            <a:extLst>
              <a:ext uri="{FF2B5EF4-FFF2-40B4-BE49-F238E27FC236}">
                <a16:creationId xmlns:a16="http://schemas.microsoft.com/office/drawing/2014/main" id="{536A4FA3-FA1B-7CBF-4A5F-C7A1775F8021}"/>
              </a:ext>
            </a:extLst>
          </p:cNvPr>
          <p:cNvSpPr>
            <a:spLocks noGrp="1"/>
          </p:cNvSpPr>
          <p:nvPr>
            <p:ph type="sldNum" sz="quarter" idx="7"/>
          </p:nvPr>
        </p:nvSpPr>
        <p:spPr>
          <a:xfrm>
            <a:off x="14750478" y="10747401"/>
            <a:ext cx="4623943" cy="565467"/>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18</a:t>
            </a:fld>
            <a:endParaRPr lang="en-US" sz="1400" dirty="0">
              <a:solidFill>
                <a:schemeClr val="bg1"/>
              </a:solidFill>
              <a:latin typeface="Futura Lt BT" panose="020B0402020204020303" pitchFamily="34"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523" y="2439"/>
            <a:ext cx="20104100" cy="5654675"/>
          </a:xfrm>
          <a:custGeom>
            <a:avLst/>
            <a:gdLst/>
            <a:ahLst/>
            <a:cxnLst/>
            <a:rect l="l" t="t" r="r" b="b"/>
            <a:pathLst>
              <a:path w="20104100" h="5654675">
                <a:moveTo>
                  <a:pt x="20103565" y="0"/>
                </a:moveTo>
                <a:lnTo>
                  <a:pt x="0" y="0"/>
                </a:lnTo>
                <a:lnTo>
                  <a:pt x="0" y="5654278"/>
                </a:lnTo>
                <a:lnTo>
                  <a:pt x="20103565" y="5654278"/>
                </a:lnTo>
                <a:lnTo>
                  <a:pt x="20103565" y="0"/>
                </a:lnTo>
                <a:close/>
              </a:path>
            </a:pathLst>
          </a:custGeom>
          <a:solidFill>
            <a:srgbClr val="000000"/>
          </a:solidFill>
        </p:spPr>
        <p:txBody>
          <a:bodyPr wrap="square" lIns="0" tIns="0" rIns="0" bIns="0" rtlCol="0"/>
          <a:lstStyle/>
          <a:p>
            <a:endParaRPr/>
          </a:p>
        </p:txBody>
      </p:sp>
      <p:sp>
        <p:nvSpPr>
          <p:cNvPr id="3" name="object 3"/>
          <p:cNvSpPr txBox="1">
            <a:spLocks noGrp="1"/>
          </p:cNvSpPr>
          <p:nvPr>
            <p:ph type="title"/>
          </p:nvPr>
        </p:nvSpPr>
        <p:spPr>
          <a:xfrm>
            <a:off x="670002" y="635022"/>
            <a:ext cx="13954047" cy="627822"/>
          </a:xfrm>
          <a:prstGeom prst="rect">
            <a:avLst/>
          </a:prstGeom>
        </p:spPr>
        <p:txBody>
          <a:bodyPr vert="horz" wrap="square" lIns="0" tIns="57870" rIns="0" bIns="0" rtlCol="0">
            <a:spAutoFit/>
          </a:bodyPr>
          <a:lstStyle/>
          <a:p>
            <a:pPr marL="4867275">
              <a:lnSpc>
                <a:spcPct val="100000"/>
              </a:lnSpc>
              <a:spcBef>
                <a:spcPts val="110"/>
              </a:spcBef>
            </a:pPr>
            <a:r>
              <a:rPr sz="3700" spc="-130" dirty="0">
                <a:solidFill>
                  <a:srgbClr val="FFF9FB"/>
                </a:solidFill>
              </a:rPr>
              <a:t>ANTÔNIO</a:t>
            </a:r>
            <a:r>
              <a:rPr sz="3700" spc="-90" dirty="0">
                <a:solidFill>
                  <a:srgbClr val="FFF9FB"/>
                </a:solidFill>
              </a:rPr>
              <a:t> </a:t>
            </a:r>
            <a:r>
              <a:rPr sz="3700" spc="-100" dirty="0">
                <a:solidFill>
                  <a:srgbClr val="FFF9FB"/>
                </a:solidFill>
              </a:rPr>
              <a:t>NICOLAU</a:t>
            </a:r>
            <a:r>
              <a:rPr sz="3700" spc="-90" dirty="0">
                <a:solidFill>
                  <a:srgbClr val="FFF9FB"/>
                </a:solidFill>
              </a:rPr>
              <a:t> </a:t>
            </a:r>
            <a:r>
              <a:rPr sz="3700" dirty="0">
                <a:solidFill>
                  <a:srgbClr val="FFF9FB"/>
                </a:solidFill>
              </a:rPr>
              <a:t>-</a:t>
            </a:r>
            <a:r>
              <a:rPr sz="3700" spc="-90" dirty="0">
                <a:solidFill>
                  <a:srgbClr val="FFF9FB"/>
                </a:solidFill>
              </a:rPr>
              <a:t> </a:t>
            </a:r>
            <a:r>
              <a:rPr sz="3700" spc="-25" dirty="0">
                <a:solidFill>
                  <a:srgbClr val="FFF9FB"/>
                </a:solidFill>
              </a:rPr>
              <a:t>CEO</a:t>
            </a:r>
            <a:endParaRPr sz="3700" dirty="0"/>
          </a:p>
        </p:txBody>
      </p:sp>
      <p:sp>
        <p:nvSpPr>
          <p:cNvPr id="4" name="object 4"/>
          <p:cNvSpPr txBox="1"/>
          <p:nvPr/>
        </p:nvSpPr>
        <p:spPr>
          <a:xfrm>
            <a:off x="5529968" y="1515723"/>
            <a:ext cx="11380082" cy="3596434"/>
          </a:xfrm>
          <a:prstGeom prst="rect">
            <a:avLst/>
          </a:prstGeom>
        </p:spPr>
        <p:txBody>
          <a:bodyPr vert="horz" wrap="square" lIns="0" tIns="11430" rIns="0" bIns="0" rtlCol="0">
            <a:spAutoFit/>
          </a:bodyPr>
          <a:lstStyle/>
          <a:p>
            <a:pPr marL="12700" marR="5080" algn="just">
              <a:lnSpc>
                <a:spcPct val="130100"/>
              </a:lnSpc>
              <a:spcBef>
                <a:spcPts val="90"/>
              </a:spcBef>
            </a:pPr>
            <a:r>
              <a:rPr lang="pt-BR" sz="2600" spc="-25" dirty="0">
                <a:solidFill>
                  <a:srgbClr val="FFF9FB"/>
                </a:solidFill>
                <a:latin typeface="Futura Lt BT Light"/>
                <a:cs typeface="Futura PT Book"/>
              </a:rPr>
              <a:t>Advogado,</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com</a:t>
            </a:r>
            <a:r>
              <a:rPr lang="pt-BR" sz="2600" spc="-35" dirty="0">
                <a:solidFill>
                  <a:srgbClr val="FFF9FB"/>
                </a:solidFill>
                <a:latin typeface="Futura Lt BT Light"/>
                <a:cs typeface="Futura PT Book"/>
              </a:rPr>
              <a:t> </a:t>
            </a:r>
            <a:r>
              <a:rPr lang="pt-BR" sz="2600" spc="-25" dirty="0">
                <a:solidFill>
                  <a:srgbClr val="FFF9FB"/>
                </a:solidFill>
                <a:latin typeface="Futura Lt BT Light"/>
                <a:cs typeface="Futura PT Book"/>
              </a:rPr>
              <a:t>experiência</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de</a:t>
            </a:r>
            <a:r>
              <a:rPr lang="pt-BR" sz="2600" spc="-30" dirty="0">
                <a:solidFill>
                  <a:srgbClr val="FFF9FB"/>
                </a:solidFill>
                <a:latin typeface="Futura Lt BT Light"/>
                <a:cs typeface="Futura PT Book"/>
              </a:rPr>
              <a:t> </a:t>
            </a:r>
            <a:r>
              <a:rPr lang="pt-BR" sz="2600" dirty="0">
                <a:solidFill>
                  <a:srgbClr val="FFF9FB"/>
                </a:solidFill>
                <a:latin typeface="Futura Lt BT Light"/>
                <a:cs typeface="Futura PT Book"/>
              </a:rPr>
              <a:t>mais</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de</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40</a:t>
            </a:r>
            <a:r>
              <a:rPr lang="pt-BR" sz="2600" spc="-30" dirty="0">
                <a:solidFill>
                  <a:srgbClr val="FFF9FB"/>
                </a:solidFill>
                <a:latin typeface="Futura Lt BT Light"/>
                <a:cs typeface="Futura PT Book"/>
              </a:rPr>
              <a:t> </a:t>
            </a:r>
            <a:r>
              <a:rPr lang="pt-BR" sz="2600" dirty="0">
                <a:solidFill>
                  <a:srgbClr val="FFF9FB"/>
                </a:solidFill>
                <a:latin typeface="Futura Lt BT Light"/>
                <a:cs typeface="Futura PT Book"/>
              </a:rPr>
              <a:t>anos.</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Foi,</a:t>
            </a:r>
            <a:r>
              <a:rPr lang="pt-BR" sz="2600" spc="-35" dirty="0">
                <a:solidFill>
                  <a:srgbClr val="FFF9FB"/>
                </a:solidFill>
                <a:latin typeface="Futura Lt BT Light"/>
                <a:cs typeface="Futura PT Book"/>
              </a:rPr>
              <a:t> </a:t>
            </a:r>
            <a:r>
              <a:rPr lang="pt-BR" sz="2600" spc="-10" dirty="0">
                <a:solidFill>
                  <a:srgbClr val="FFF9FB"/>
                </a:solidFill>
                <a:latin typeface="Futura Lt BT Light"/>
                <a:cs typeface="Futura PT Book"/>
              </a:rPr>
              <a:t>durante</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dez</a:t>
            </a:r>
            <a:r>
              <a:rPr lang="pt-BR" sz="2600" spc="-30" dirty="0">
                <a:solidFill>
                  <a:srgbClr val="FFF9FB"/>
                </a:solidFill>
                <a:latin typeface="Futura Lt BT Light"/>
                <a:cs typeface="Futura PT Book"/>
              </a:rPr>
              <a:t> </a:t>
            </a:r>
            <a:r>
              <a:rPr lang="pt-BR" sz="2600" dirty="0">
                <a:solidFill>
                  <a:srgbClr val="FFF9FB"/>
                </a:solidFill>
                <a:latin typeface="Futura Lt BT Light"/>
                <a:cs typeface="Futura PT Book"/>
              </a:rPr>
              <a:t>anos,</a:t>
            </a:r>
            <a:r>
              <a:rPr lang="pt-BR" sz="2600" spc="-35" dirty="0">
                <a:solidFill>
                  <a:srgbClr val="FFF9FB"/>
                </a:solidFill>
                <a:latin typeface="Futura Lt BT Light"/>
                <a:cs typeface="Futura PT Book"/>
              </a:rPr>
              <a:t> </a:t>
            </a:r>
            <a:r>
              <a:rPr lang="pt-BR" sz="2600" spc="-10" dirty="0">
                <a:solidFill>
                  <a:srgbClr val="FFF9FB"/>
                </a:solidFill>
                <a:latin typeface="Futura Lt BT Light"/>
                <a:cs typeface="Futura PT Book"/>
              </a:rPr>
              <a:t>auditor </a:t>
            </a:r>
            <a:r>
              <a:rPr lang="pt-BR" sz="2600" dirty="0">
                <a:solidFill>
                  <a:srgbClr val="FFF9FB"/>
                </a:solidFill>
                <a:latin typeface="Futura Lt BT Light"/>
                <a:cs typeface="Futura PT Book"/>
              </a:rPr>
              <a:t>externo</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de</a:t>
            </a:r>
            <a:r>
              <a:rPr lang="pt-BR" sz="2600" spc="180" dirty="0">
                <a:solidFill>
                  <a:srgbClr val="FFF9FB"/>
                </a:solidFill>
                <a:latin typeface="Futura Lt BT Light"/>
                <a:cs typeface="Futura PT Book"/>
              </a:rPr>
              <a:t> </a:t>
            </a:r>
            <a:r>
              <a:rPr lang="pt-BR" sz="2600" dirty="0">
                <a:solidFill>
                  <a:srgbClr val="FFF9FB"/>
                </a:solidFill>
                <a:latin typeface="Futura Lt BT Light"/>
                <a:cs typeface="Futura PT Book"/>
              </a:rPr>
              <a:t>Big</a:t>
            </a:r>
            <a:r>
              <a:rPr lang="pt-BR" sz="2600" spc="185" dirty="0">
                <a:solidFill>
                  <a:srgbClr val="FFF9FB"/>
                </a:solidFill>
                <a:latin typeface="Futura Lt BT Light"/>
                <a:cs typeface="Futura PT Book"/>
              </a:rPr>
              <a:t> </a:t>
            </a:r>
            <a:r>
              <a:rPr lang="pt-BR" sz="2600" dirty="0">
                <a:solidFill>
                  <a:srgbClr val="FFF9FB"/>
                </a:solidFill>
                <a:latin typeface="Futura Lt BT Light"/>
                <a:cs typeface="Futura PT Book"/>
              </a:rPr>
              <a:t>4,</a:t>
            </a:r>
            <a:r>
              <a:rPr lang="pt-BR" sz="2600" spc="185" dirty="0">
                <a:solidFill>
                  <a:srgbClr val="FFF9FB"/>
                </a:solidFill>
                <a:latin typeface="Futura Lt BT Light"/>
                <a:cs typeface="Futura PT Book"/>
              </a:rPr>
              <a:t> </a:t>
            </a:r>
            <a:r>
              <a:rPr lang="pt-BR" sz="2600" dirty="0">
                <a:solidFill>
                  <a:srgbClr val="FFF9FB"/>
                </a:solidFill>
                <a:latin typeface="Futura Lt BT Light"/>
                <a:cs typeface="Futura PT Book"/>
              </a:rPr>
              <a:t>Diretor</a:t>
            </a:r>
            <a:r>
              <a:rPr lang="pt-BR" sz="2600" spc="185" dirty="0">
                <a:solidFill>
                  <a:srgbClr val="FFF9FB"/>
                </a:solidFill>
                <a:latin typeface="Futura Lt BT Light"/>
                <a:cs typeface="Futura PT Book"/>
              </a:rPr>
              <a:t> </a:t>
            </a:r>
            <a:r>
              <a:rPr lang="pt-BR" sz="2600" dirty="0">
                <a:solidFill>
                  <a:srgbClr val="FFF9FB"/>
                </a:solidFill>
                <a:latin typeface="Futura Lt BT Light"/>
                <a:cs typeface="Futura PT Book"/>
              </a:rPr>
              <a:t>de</a:t>
            </a:r>
            <a:r>
              <a:rPr lang="pt-BR" sz="2600" spc="180" dirty="0">
                <a:solidFill>
                  <a:srgbClr val="FFF9FB"/>
                </a:solidFill>
                <a:latin typeface="Futura Lt BT Light"/>
                <a:cs typeface="Futura PT Book"/>
              </a:rPr>
              <a:t> </a:t>
            </a:r>
            <a:r>
              <a:rPr lang="pt-BR" sz="2600" dirty="0">
                <a:solidFill>
                  <a:srgbClr val="FFF9FB"/>
                </a:solidFill>
                <a:latin typeface="Futura Lt BT Light"/>
                <a:cs typeface="Futura PT Book"/>
              </a:rPr>
              <a:t>Obrigações</a:t>
            </a:r>
            <a:r>
              <a:rPr lang="pt-BR" sz="2600" spc="185" dirty="0">
                <a:solidFill>
                  <a:srgbClr val="FFF9FB"/>
                </a:solidFill>
                <a:latin typeface="Futura Lt BT Light"/>
                <a:cs typeface="Futura PT Book"/>
              </a:rPr>
              <a:t> </a:t>
            </a:r>
            <a:r>
              <a:rPr lang="pt-BR" sz="2600" dirty="0">
                <a:solidFill>
                  <a:srgbClr val="FFF9FB"/>
                </a:solidFill>
                <a:latin typeface="Futura Lt BT Light"/>
                <a:cs typeface="Futura PT Book"/>
              </a:rPr>
              <a:t>Corporativas</a:t>
            </a:r>
            <a:r>
              <a:rPr lang="pt-BR" sz="2600" spc="185" dirty="0">
                <a:solidFill>
                  <a:srgbClr val="FFF9FB"/>
                </a:solidFill>
                <a:latin typeface="Futura Lt BT Light"/>
                <a:cs typeface="Futura PT Book"/>
              </a:rPr>
              <a:t> </a:t>
            </a:r>
            <a:r>
              <a:rPr lang="pt-BR" sz="2600" spc="-55" dirty="0">
                <a:solidFill>
                  <a:srgbClr val="FFF9FB"/>
                </a:solidFill>
                <a:latin typeface="Futura Lt BT Light"/>
                <a:cs typeface="Futura PT Book"/>
              </a:rPr>
              <a:t>de</a:t>
            </a:r>
            <a:r>
              <a:rPr lang="pt-BR" sz="2600" spc="-100" dirty="0">
                <a:solidFill>
                  <a:srgbClr val="FFF9FB"/>
                </a:solidFill>
                <a:latin typeface="Futura Lt BT Light"/>
                <a:cs typeface="Futura PT Book"/>
              </a:rPr>
              <a:t> </a:t>
            </a:r>
            <a:r>
              <a:rPr lang="pt-BR" sz="2600" spc="-40" dirty="0">
                <a:solidFill>
                  <a:srgbClr val="FFF9FB"/>
                </a:solidFill>
                <a:latin typeface="Futura Lt BT Light"/>
                <a:cs typeface="Futura PT Book"/>
              </a:rPr>
              <a:t>Instituição</a:t>
            </a:r>
            <a:r>
              <a:rPr lang="pt-BR" sz="2600" spc="-110" dirty="0">
                <a:solidFill>
                  <a:srgbClr val="FFF9FB"/>
                </a:solidFill>
                <a:latin typeface="Futura Lt BT Light"/>
                <a:cs typeface="Futura PT Book"/>
              </a:rPr>
              <a:t> </a:t>
            </a:r>
            <a:r>
              <a:rPr lang="pt-BR" sz="2600" spc="-10" dirty="0">
                <a:solidFill>
                  <a:srgbClr val="FFF9FB"/>
                </a:solidFill>
                <a:latin typeface="Futura Lt BT Light"/>
                <a:cs typeface="Futura PT Book"/>
              </a:rPr>
              <a:t>Financeira </a:t>
            </a:r>
            <a:r>
              <a:rPr lang="pt-BR" sz="2600" dirty="0">
                <a:solidFill>
                  <a:srgbClr val="FFF9FB"/>
                </a:solidFill>
                <a:latin typeface="Futura Lt BT Light"/>
                <a:cs typeface="Futura PT Book"/>
              </a:rPr>
              <a:t>de</a:t>
            </a:r>
            <a:r>
              <a:rPr lang="pt-BR" sz="2600" spc="-40" dirty="0">
                <a:solidFill>
                  <a:srgbClr val="FFF9FB"/>
                </a:solidFill>
                <a:latin typeface="Futura Lt BT Light"/>
                <a:cs typeface="Futura PT Book"/>
              </a:rPr>
              <a:t> </a:t>
            </a:r>
            <a:r>
              <a:rPr lang="pt-BR" sz="2600" spc="-10" dirty="0">
                <a:solidFill>
                  <a:srgbClr val="FFF9FB"/>
                </a:solidFill>
                <a:latin typeface="Futura Lt BT Light"/>
                <a:cs typeface="Futura PT Book"/>
              </a:rPr>
              <a:t>grande</a:t>
            </a:r>
            <a:r>
              <a:rPr lang="pt-BR" sz="2600" spc="-40" dirty="0">
                <a:solidFill>
                  <a:srgbClr val="FFF9FB"/>
                </a:solidFill>
                <a:latin typeface="Futura Lt BT Light"/>
                <a:cs typeface="Futura PT Book"/>
              </a:rPr>
              <a:t> </a:t>
            </a:r>
            <a:r>
              <a:rPr lang="pt-BR" sz="2600" dirty="0">
                <a:solidFill>
                  <a:srgbClr val="FFF9FB"/>
                </a:solidFill>
                <a:latin typeface="Futura Lt BT Light"/>
                <a:cs typeface="Futura PT Book"/>
              </a:rPr>
              <a:t>porte</a:t>
            </a:r>
            <a:r>
              <a:rPr lang="pt-BR" sz="2600" spc="-35" dirty="0">
                <a:solidFill>
                  <a:srgbClr val="FFF9FB"/>
                </a:solidFill>
                <a:latin typeface="Futura Lt BT Light"/>
                <a:cs typeface="Futura PT Book"/>
              </a:rPr>
              <a:t> </a:t>
            </a:r>
            <a:r>
              <a:rPr lang="pt-BR" sz="2600" spc="-20" dirty="0">
                <a:solidFill>
                  <a:srgbClr val="FFF9FB"/>
                </a:solidFill>
                <a:latin typeface="Futura Lt BT Light"/>
                <a:cs typeface="Futura PT Book"/>
              </a:rPr>
              <a:t>também</a:t>
            </a:r>
            <a:r>
              <a:rPr lang="pt-BR" sz="2600" spc="-40" dirty="0">
                <a:solidFill>
                  <a:srgbClr val="FFF9FB"/>
                </a:solidFill>
                <a:latin typeface="Futura Lt BT Light"/>
                <a:cs typeface="Futura PT Book"/>
              </a:rPr>
              <a:t> </a:t>
            </a:r>
            <a:r>
              <a:rPr lang="pt-BR" sz="2600" dirty="0">
                <a:solidFill>
                  <a:srgbClr val="FFF9FB"/>
                </a:solidFill>
                <a:latin typeface="Futura Lt BT Light"/>
                <a:cs typeface="Futura PT Book"/>
              </a:rPr>
              <a:t>por</a:t>
            </a:r>
            <a:r>
              <a:rPr lang="pt-BR" sz="2600" spc="-40" dirty="0">
                <a:solidFill>
                  <a:srgbClr val="FFF9FB"/>
                </a:solidFill>
                <a:latin typeface="Futura Lt BT Light"/>
                <a:cs typeface="Futura PT Book"/>
              </a:rPr>
              <a:t> </a:t>
            </a:r>
            <a:r>
              <a:rPr lang="pt-BR" sz="2600" dirty="0">
                <a:solidFill>
                  <a:srgbClr val="FFF9FB"/>
                </a:solidFill>
                <a:latin typeface="Futura Lt BT Light"/>
                <a:cs typeface="Futura PT Book"/>
              </a:rPr>
              <a:t>dez</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anos</a:t>
            </a:r>
            <a:r>
              <a:rPr lang="pt-BR" sz="2600" spc="-40" dirty="0">
                <a:solidFill>
                  <a:srgbClr val="FFF9FB"/>
                </a:solidFill>
                <a:latin typeface="Futura Lt BT Light"/>
                <a:cs typeface="Futura PT Book"/>
              </a:rPr>
              <a:t> </a:t>
            </a:r>
            <a:r>
              <a:rPr lang="pt-BR" sz="2600" dirty="0">
                <a:solidFill>
                  <a:srgbClr val="FFF9FB"/>
                </a:solidFill>
                <a:latin typeface="Futura Lt BT Light"/>
                <a:cs typeface="Futura PT Book"/>
              </a:rPr>
              <a:t>e</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há</a:t>
            </a:r>
            <a:r>
              <a:rPr lang="pt-BR" sz="2600" spc="-40" dirty="0">
                <a:solidFill>
                  <a:srgbClr val="FFF9FB"/>
                </a:solidFill>
                <a:latin typeface="Futura Lt BT Light"/>
                <a:cs typeface="Futura PT Book"/>
              </a:rPr>
              <a:t> </a:t>
            </a:r>
            <a:r>
              <a:rPr lang="pt-BR" sz="2600" dirty="0">
                <a:solidFill>
                  <a:srgbClr val="FFF9FB"/>
                </a:solidFill>
                <a:latin typeface="Futura Lt BT Light"/>
                <a:cs typeface="Futura PT Book"/>
              </a:rPr>
              <a:t>25</a:t>
            </a:r>
            <a:r>
              <a:rPr lang="pt-BR" sz="2600" spc="-40" dirty="0">
                <a:solidFill>
                  <a:srgbClr val="FFF9FB"/>
                </a:solidFill>
                <a:latin typeface="Futura Lt BT Light"/>
                <a:cs typeface="Futura PT Book"/>
              </a:rPr>
              <a:t> </a:t>
            </a:r>
            <a:r>
              <a:rPr lang="pt-BR" sz="2600" dirty="0">
                <a:solidFill>
                  <a:srgbClr val="FFF9FB"/>
                </a:solidFill>
                <a:latin typeface="Futura Lt BT Light"/>
                <a:cs typeface="Futura PT Book"/>
              </a:rPr>
              <a:t>atua</a:t>
            </a:r>
            <a:r>
              <a:rPr lang="pt-BR" sz="2600" spc="-35" dirty="0">
                <a:solidFill>
                  <a:srgbClr val="FFF9FB"/>
                </a:solidFill>
                <a:latin typeface="Futura Lt BT Light"/>
                <a:cs typeface="Futura PT Book"/>
              </a:rPr>
              <a:t> </a:t>
            </a:r>
            <a:r>
              <a:rPr lang="pt-BR" sz="2600" dirty="0">
                <a:solidFill>
                  <a:srgbClr val="FFF9FB"/>
                </a:solidFill>
                <a:latin typeface="Futura Lt BT Light"/>
                <a:cs typeface="Futura PT Book"/>
              </a:rPr>
              <a:t>no</a:t>
            </a:r>
            <a:r>
              <a:rPr lang="pt-BR" sz="2600" spc="-40" dirty="0">
                <a:solidFill>
                  <a:srgbClr val="FFF9FB"/>
                </a:solidFill>
                <a:latin typeface="Futura Lt BT Light"/>
                <a:cs typeface="Futura PT Book"/>
              </a:rPr>
              <a:t> </a:t>
            </a:r>
            <a:r>
              <a:rPr lang="pt-BR" sz="2600" spc="-30" dirty="0">
                <a:solidFill>
                  <a:srgbClr val="FFF9FB"/>
                </a:solidFill>
                <a:latin typeface="Futura Lt BT Light"/>
                <a:cs typeface="Futura PT Book"/>
              </a:rPr>
              <a:t>mercado</a:t>
            </a:r>
            <a:r>
              <a:rPr lang="pt-BR" sz="2600" spc="-40" dirty="0">
                <a:solidFill>
                  <a:srgbClr val="FFF9FB"/>
                </a:solidFill>
                <a:latin typeface="Futura Lt BT Light"/>
                <a:cs typeface="Futura PT Book"/>
              </a:rPr>
              <a:t> </a:t>
            </a:r>
            <a:r>
              <a:rPr lang="pt-BR" sz="2600" dirty="0">
                <a:solidFill>
                  <a:srgbClr val="FFF9FB"/>
                </a:solidFill>
                <a:latin typeface="Futura Lt BT Light"/>
                <a:cs typeface="Futura PT Book"/>
              </a:rPr>
              <a:t>de</a:t>
            </a:r>
            <a:r>
              <a:rPr lang="pt-BR" sz="2600" spc="-35" dirty="0">
                <a:solidFill>
                  <a:srgbClr val="FFF9FB"/>
                </a:solidFill>
                <a:latin typeface="Futura Lt BT Light"/>
                <a:cs typeface="Futura PT Book"/>
              </a:rPr>
              <a:t> </a:t>
            </a:r>
            <a:r>
              <a:rPr lang="pt-BR" sz="2600" spc="-10" dirty="0">
                <a:solidFill>
                  <a:srgbClr val="FFF9FB"/>
                </a:solidFill>
                <a:latin typeface="Futura Lt BT Light"/>
                <a:cs typeface="Futura PT Book"/>
              </a:rPr>
              <a:t>consultoria, </a:t>
            </a:r>
            <a:r>
              <a:rPr lang="pt-BR" sz="2600" spc="-20" dirty="0">
                <a:solidFill>
                  <a:srgbClr val="FFF9FB"/>
                </a:solidFill>
                <a:latin typeface="Futura Lt BT Light"/>
                <a:cs typeface="Futura PT Book"/>
              </a:rPr>
              <a:t>estando,</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nos</a:t>
            </a:r>
            <a:r>
              <a:rPr lang="pt-BR" sz="2600" spc="-65" dirty="0">
                <a:solidFill>
                  <a:srgbClr val="FFF9FB"/>
                </a:solidFill>
                <a:latin typeface="Futura Lt BT Light"/>
                <a:cs typeface="Futura PT Book"/>
              </a:rPr>
              <a:t> </a:t>
            </a:r>
            <a:r>
              <a:rPr lang="pt-BR" sz="2600" spc="-10" dirty="0">
                <a:solidFill>
                  <a:srgbClr val="FFF9FB"/>
                </a:solidFill>
                <a:latin typeface="Futura Lt BT Light"/>
                <a:cs typeface="Futura PT Book"/>
              </a:rPr>
              <a:t>últimos</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dez</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anos,</a:t>
            </a:r>
            <a:r>
              <a:rPr lang="pt-BR" sz="2600" spc="-60" dirty="0">
                <a:solidFill>
                  <a:srgbClr val="FFF9FB"/>
                </a:solidFill>
                <a:latin typeface="Futura Lt BT Light"/>
                <a:cs typeface="Futura PT Book"/>
              </a:rPr>
              <a:t> </a:t>
            </a:r>
            <a:r>
              <a:rPr lang="pt-BR" sz="2600" dirty="0">
                <a:solidFill>
                  <a:srgbClr val="FFF9FB"/>
                </a:solidFill>
                <a:latin typeface="Futura Lt BT Light"/>
                <a:cs typeface="Futura PT Book"/>
              </a:rPr>
              <a:t>no</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front</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da</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área</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de</a:t>
            </a:r>
            <a:r>
              <a:rPr lang="pt-BR" sz="2600" spc="-60" dirty="0">
                <a:solidFill>
                  <a:srgbClr val="FFF9FB"/>
                </a:solidFill>
                <a:latin typeface="Futura Lt BT Light"/>
                <a:cs typeface="Futura PT Book"/>
              </a:rPr>
              <a:t> </a:t>
            </a:r>
            <a:r>
              <a:rPr lang="pt-BR" sz="2600" spc="-25" dirty="0">
                <a:solidFill>
                  <a:srgbClr val="FFF9FB"/>
                </a:solidFill>
                <a:latin typeface="Futura Lt BT Light"/>
                <a:cs typeface="Futura PT Book"/>
              </a:rPr>
              <a:t>consultoria</a:t>
            </a:r>
            <a:r>
              <a:rPr lang="pt-BR" sz="2600" spc="-65" dirty="0">
                <a:solidFill>
                  <a:srgbClr val="FFF9FB"/>
                </a:solidFill>
                <a:latin typeface="Futura Lt BT Light"/>
                <a:cs typeface="Futura PT Book"/>
              </a:rPr>
              <a:t> </a:t>
            </a:r>
            <a:r>
              <a:rPr lang="pt-BR" sz="2600" dirty="0">
                <a:solidFill>
                  <a:srgbClr val="FFF9FB"/>
                </a:solidFill>
                <a:latin typeface="Futura Lt BT Light"/>
                <a:cs typeface="Futura PT Book"/>
              </a:rPr>
              <a:t>em</a:t>
            </a:r>
            <a:r>
              <a:rPr lang="pt-BR" sz="2600" spc="-65" dirty="0">
                <a:solidFill>
                  <a:srgbClr val="FFF9FB"/>
                </a:solidFill>
                <a:latin typeface="Futura Lt BT Light"/>
                <a:cs typeface="Futura PT Book"/>
              </a:rPr>
              <a:t> </a:t>
            </a:r>
            <a:r>
              <a:rPr lang="pt-BR" sz="2600" spc="-25" dirty="0">
                <a:solidFill>
                  <a:srgbClr val="FFF9FB"/>
                </a:solidFill>
                <a:latin typeface="Futura Lt BT Light"/>
                <a:cs typeface="Futura PT Book"/>
              </a:rPr>
              <a:t>avaliações</a:t>
            </a:r>
            <a:r>
              <a:rPr lang="pt-BR" sz="2600" spc="-65" dirty="0">
                <a:solidFill>
                  <a:srgbClr val="FFF9FB"/>
                </a:solidFill>
                <a:latin typeface="Futura Lt BT Light"/>
                <a:cs typeface="Futura PT Book"/>
              </a:rPr>
              <a:t> </a:t>
            </a:r>
            <a:r>
              <a:rPr lang="pt-BR" sz="2600" spc="-25" dirty="0">
                <a:solidFill>
                  <a:srgbClr val="FFF9FB"/>
                </a:solidFill>
                <a:latin typeface="Futura Lt BT Light"/>
                <a:cs typeface="Futura PT Book"/>
              </a:rPr>
              <a:t>em </a:t>
            </a:r>
            <a:r>
              <a:rPr lang="pt-BR" sz="2600" spc="-10" dirty="0">
                <a:solidFill>
                  <a:srgbClr val="FFF9FB"/>
                </a:solidFill>
                <a:latin typeface="Futura Lt BT Light"/>
                <a:cs typeface="Futura PT Book"/>
              </a:rPr>
              <a:t>empresa</a:t>
            </a:r>
            <a:r>
              <a:rPr lang="pt-BR" sz="2600" spc="55" dirty="0">
                <a:solidFill>
                  <a:srgbClr val="FFF9FB"/>
                </a:solidFill>
                <a:latin typeface="Futura Lt BT Light"/>
                <a:cs typeface="Futura PT Book"/>
              </a:rPr>
              <a:t> </a:t>
            </a:r>
            <a:r>
              <a:rPr lang="pt-BR" sz="2600" spc="-25" dirty="0">
                <a:solidFill>
                  <a:srgbClr val="FFF9FB"/>
                </a:solidFill>
                <a:latin typeface="Futura Lt BT Light"/>
                <a:cs typeface="Futura PT Book"/>
              </a:rPr>
              <a:t>especializada.</a:t>
            </a:r>
            <a:r>
              <a:rPr lang="pt-BR" sz="2600" spc="60" dirty="0">
                <a:solidFill>
                  <a:srgbClr val="FFF9FB"/>
                </a:solidFill>
                <a:latin typeface="Futura Lt BT Light"/>
                <a:cs typeface="Futura PT Book"/>
              </a:rPr>
              <a:t> </a:t>
            </a:r>
            <a:r>
              <a:rPr lang="pt-BR" sz="2600" dirty="0">
                <a:solidFill>
                  <a:srgbClr val="FFF9FB"/>
                </a:solidFill>
                <a:latin typeface="Futura Lt BT Light"/>
                <a:cs typeface="Futura PT Book"/>
              </a:rPr>
              <a:t>Neste período, também</a:t>
            </a:r>
            <a:r>
              <a:rPr lang="pt-BR" sz="2600" spc="60" dirty="0">
                <a:solidFill>
                  <a:srgbClr val="FFF9FB"/>
                </a:solidFill>
                <a:latin typeface="Futura Lt BT Light"/>
                <a:cs typeface="Futura PT Book"/>
              </a:rPr>
              <a:t> </a:t>
            </a:r>
            <a:r>
              <a:rPr lang="pt-BR" sz="2600" dirty="0">
                <a:solidFill>
                  <a:srgbClr val="FFF9FB"/>
                </a:solidFill>
                <a:latin typeface="Futura Lt BT Light"/>
                <a:cs typeface="Futura PT Book"/>
              </a:rPr>
              <a:t>atuou</a:t>
            </a:r>
            <a:r>
              <a:rPr lang="pt-BR" sz="2600" spc="60" dirty="0">
                <a:solidFill>
                  <a:srgbClr val="FFF9FB"/>
                </a:solidFill>
                <a:latin typeface="Futura Lt BT Light"/>
                <a:cs typeface="Futura PT Book"/>
              </a:rPr>
              <a:t> </a:t>
            </a:r>
            <a:r>
              <a:rPr lang="pt-BR" sz="2600" dirty="0">
                <a:solidFill>
                  <a:srgbClr val="FFF9FB"/>
                </a:solidFill>
                <a:latin typeface="Futura Lt BT Light"/>
                <a:cs typeface="Futura PT Book"/>
              </a:rPr>
              <a:t>em</a:t>
            </a:r>
            <a:r>
              <a:rPr lang="pt-BR" sz="2600" spc="60" dirty="0">
                <a:solidFill>
                  <a:srgbClr val="FFF9FB"/>
                </a:solidFill>
                <a:latin typeface="Futura Lt BT Light"/>
                <a:cs typeface="Futura PT Book"/>
              </a:rPr>
              <a:t> </a:t>
            </a:r>
            <a:r>
              <a:rPr lang="pt-BR" sz="2600" dirty="0">
                <a:solidFill>
                  <a:srgbClr val="FFF9FB"/>
                </a:solidFill>
                <a:latin typeface="Futura Lt BT Light"/>
                <a:cs typeface="Futura PT Book"/>
              </a:rPr>
              <a:t>diversos</a:t>
            </a:r>
            <a:r>
              <a:rPr lang="pt-BR" sz="2600" spc="55" dirty="0">
                <a:solidFill>
                  <a:srgbClr val="FFF9FB"/>
                </a:solidFill>
                <a:latin typeface="Futura Lt BT Light"/>
                <a:cs typeface="Futura PT Book"/>
              </a:rPr>
              <a:t> </a:t>
            </a:r>
            <a:r>
              <a:rPr lang="pt-BR" sz="2600" spc="-10" dirty="0">
                <a:solidFill>
                  <a:srgbClr val="FFF9FB"/>
                </a:solidFill>
                <a:latin typeface="Futura Lt BT Light"/>
                <a:cs typeface="Futura PT Book"/>
              </a:rPr>
              <a:t>projetos </a:t>
            </a:r>
            <a:r>
              <a:rPr lang="pt-BR" sz="2600" dirty="0">
                <a:solidFill>
                  <a:srgbClr val="FFF9FB"/>
                </a:solidFill>
                <a:latin typeface="Futura Lt BT Light"/>
                <a:cs typeface="Futura PT Book"/>
              </a:rPr>
              <a:t>como</a:t>
            </a:r>
            <a:r>
              <a:rPr lang="pt-BR" sz="2600" spc="565" dirty="0">
                <a:solidFill>
                  <a:srgbClr val="FFF9FB"/>
                </a:solidFill>
                <a:latin typeface="Futura Lt BT Light"/>
                <a:cs typeface="Futura PT Book"/>
              </a:rPr>
              <a:t> </a:t>
            </a:r>
            <a:r>
              <a:rPr lang="pt-BR" sz="2600" dirty="0">
                <a:solidFill>
                  <a:srgbClr val="FFF9FB"/>
                </a:solidFill>
                <a:latin typeface="Futura Lt BT Light"/>
                <a:cs typeface="Futura PT Book"/>
              </a:rPr>
              <a:t>perito judicial</a:t>
            </a:r>
            <a:r>
              <a:rPr lang="pt-BR" sz="2600" spc="570" dirty="0">
                <a:solidFill>
                  <a:srgbClr val="FFF9FB"/>
                </a:solidFill>
                <a:latin typeface="Futura Lt BT Light"/>
                <a:cs typeface="Futura PT Book"/>
              </a:rPr>
              <a:t> </a:t>
            </a:r>
            <a:r>
              <a:rPr lang="pt-BR" sz="2600" dirty="0">
                <a:solidFill>
                  <a:srgbClr val="FFF9FB"/>
                </a:solidFill>
                <a:latin typeface="Futura Lt BT Light"/>
                <a:cs typeface="Futura PT Book"/>
              </a:rPr>
              <a:t>e assistente</a:t>
            </a:r>
            <a:r>
              <a:rPr lang="pt-BR" sz="2600" spc="570" dirty="0">
                <a:solidFill>
                  <a:srgbClr val="FFF9FB"/>
                </a:solidFill>
                <a:latin typeface="Futura Lt BT Light"/>
                <a:cs typeface="Futura PT Book"/>
              </a:rPr>
              <a:t> </a:t>
            </a:r>
            <a:r>
              <a:rPr lang="pt-BR" sz="2600" dirty="0">
                <a:solidFill>
                  <a:srgbClr val="FFF9FB"/>
                </a:solidFill>
                <a:latin typeface="Futura Lt BT Light"/>
                <a:cs typeface="Futura PT Book"/>
              </a:rPr>
              <a:t>de </a:t>
            </a:r>
            <a:r>
              <a:rPr lang="pt-BR" sz="2600" spc="-10" dirty="0">
                <a:solidFill>
                  <a:srgbClr val="FFF9FB"/>
                </a:solidFill>
                <a:latin typeface="Futura Lt BT Light"/>
                <a:cs typeface="Futura PT Book"/>
              </a:rPr>
              <a:t>perito.</a:t>
            </a:r>
            <a:endParaRPr lang="pt-BR" sz="2600" dirty="0">
              <a:latin typeface="Futura Lt BT Light"/>
              <a:cs typeface="Futura PT Book"/>
            </a:endParaRPr>
          </a:p>
        </p:txBody>
      </p:sp>
      <p:grpSp>
        <p:nvGrpSpPr>
          <p:cNvPr id="5" name="object 5"/>
          <p:cNvGrpSpPr/>
          <p:nvPr/>
        </p:nvGrpSpPr>
        <p:grpSpPr>
          <a:xfrm>
            <a:off x="523" y="672473"/>
            <a:ext cx="20104100" cy="10636250"/>
            <a:chOff x="523" y="672473"/>
            <a:chExt cx="20104100" cy="10636250"/>
          </a:xfrm>
        </p:grpSpPr>
        <p:pic>
          <p:nvPicPr>
            <p:cNvPr id="6" name="object 6"/>
            <p:cNvPicPr/>
            <p:nvPr/>
          </p:nvPicPr>
          <p:blipFill>
            <a:blip r:embed="rId2" cstate="print"/>
            <a:stretch>
              <a:fillRect/>
            </a:stretch>
          </p:blipFill>
          <p:spPr>
            <a:xfrm>
              <a:off x="597364" y="672473"/>
              <a:ext cx="3962120" cy="3949700"/>
            </a:xfrm>
            <a:prstGeom prst="rect">
              <a:avLst/>
            </a:prstGeom>
          </p:spPr>
        </p:pic>
        <p:sp>
          <p:nvSpPr>
            <p:cNvPr id="7" name="object 7"/>
            <p:cNvSpPr/>
            <p:nvPr/>
          </p:nvSpPr>
          <p:spPr>
            <a:xfrm>
              <a:off x="523" y="5656718"/>
              <a:ext cx="20104100" cy="5652135"/>
            </a:xfrm>
            <a:custGeom>
              <a:avLst/>
              <a:gdLst/>
              <a:ahLst/>
              <a:cxnLst/>
              <a:rect l="l" t="t" r="r" b="b"/>
              <a:pathLst>
                <a:path w="20104100" h="5652134">
                  <a:moveTo>
                    <a:pt x="20103565" y="0"/>
                  </a:moveTo>
                  <a:lnTo>
                    <a:pt x="0" y="0"/>
                  </a:lnTo>
                  <a:lnTo>
                    <a:pt x="0" y="5651838"/>
                  </a:lnTo>
                  <a:lnTo>
                    <a:pt x="20103565" y="5651838"/>
                  </a:lnTo>
                  <a:lnTo>
                    <a:pt x="20103565" y="0"/>
                  </a:lnTo>
                  <a:close/>
                </a:path>
              </a:pathLst>
            </a:custGeom>
            <a:solidFill>
              <a:srgbClr val="1E1E1E"/>
            </a:solidFill>
          </p:spPr>
          <p:txBody>
            <a:bodyPr wrap="square" lIns="0" tIns="0" rIns="0" bIns="0" rtlCol="0"/>
            <a:lstStyle/>
            <a:p>
              <a:endParaRPr/>
            </a:p>
          </p:txBody>
        </p:sp>
      </p:grpSp>
      <p:sp>
        <p:nvSpPr>
          <p:cNvPr id="8" name="object 8"/>
          <p:cNvSpPr txBox="1"/>
          <p:nvPr/>
        </p:nvSpPr>
        <p:spPr>
          <a:xfrm>
            <a:off x="556971" y="6373540"/>
            <a:ext cx="4077636" cy="661078"/>
          </a:xfrm>
          <a:prstGeom prst="rect">
            <a:avLst/>
          </a:prstGeom>
        </p:spPr>
        <p:txBody>
          <a:bodyPr vert="horz" wrap="square" lIns="0" tIns="174625" rIns="0" bIns="0" rtlCol="0">
            <a:spAutoFit/>
          </a:bodyPr>
          <a:lstStyle/>
          <a:p>
            <a:pPr marL="45720">
              <a:lnSpc>
                <a:spcPct val="100000"/>
              </a:lnSpc>
              <a:spcBef>
                <a:spcPts val="1375"/>
              </a:spcBef>
            </a:pPr>
            <a:r>
              <a:rPr sz="3150" dirty="0">
                <a:solidFill>
                  <a:srgbClr val="FFFFFF"/>
                </a:solidFill>
                <a:latin typeface="Futura PT Book"/>
                <a:cs typeface="Futura PT Book"/>
              </a:rPr>
              <a:t>FELLIPE </a:t>
            </a:r>
            <a:r>
              <a:rPr sz="3150" spc="-10" dirty="0">
                <a:solidFill>
                  <a:srgbClr val="FFFFFF"/>
                </a:solidFill>
                <a:latin typeface="Futura PT Book"/>
                <a:cs typeface="Futura PT Book"/>
              </a:rPr>
              <a:t>FRANCO</a:t>
            </a:r>
            <a:endParaRPr sz="3150" dirty="0">
              <a:latin typeface="Futura PT Book"/>
              <a:cs typeface="Futura PT Book"/>
            </a:endParaRPr>
          </a:p>
        </p:txBody>
      </p:sp>
      <p:sp>
        <p:nvSpPr>
          <p:cNvPr id="9" name="object 9"/>
          <p:cNvSpPr txBox="1"/>
          <p:nvPr/>
        </p:nvSpPr>
        <p:spPr>
          <a:xfrm>
            <a:off x="556970" y="7114617"/>
            <a:ext cx="3689033" cy="3063659"/>
          </a:xfrm>
          <a:prstGeom prst="rect">
            <a:avLst/>
          </a:prstGeom>
        </p:spPr>
        <p:txBody>
          <a:bodyPr vert="horz" wrap="square" lIns="0" tIns="16510" rIns="0" bIns="0" rtlCol="0">
            <a:spAutoFit/>
          </a:bodyPr>
          <a:lstStyle/>
          <a:p>
            <a:pPr marL="12700" algn="just">
              <a:spcAft>
                <a:spcPts val="600"/>
              </a:spcAft>
              <a:tabLst>
                <a:tab pos="1595755" algn="l"/>
                <a:tab pos="2030730" algn="l"/>
              </a:tabLst>
            </a:pPr>
            <a:r>
              <a:rPr lang="pt-BR" dirty="0">
                <a:solidFill>
                  <a:srgbClr val="FFFFFF"/>
                </a:solidFill>
                <a:latin typeface="Futura Lt BT Light"/>
                <a:cs typeface="Futura PT Book"/>
              </a:rPr>
              <a:t>Economista</a:t>
            </a:r>
            <a:r>
              <a:rPr lang="pt-BR" spc="5" dirty="0">
                <a:solidFill>
                  <a:srgbClr val="FFFFFF"/>
                </a:solidFill>
                <a:latin typeface="Futura Lt BT Light"/>
                <a:cs typeface="Futura PT Book"/>
              </a:rPr>
              <a:t> </a:t>
            </a:r>
            <a:r>
              <a:rPr lang="pt-BR" dirty="0">
                <a:solidFill>
                  <a:srgbClr val="FFFFFF"/>
                </a:solidFill>
                <a:latin typeface="Futura Lt BT Light"/>
                <a:cs typeface="Futura PT Book"/>
              </a:rPr>
              <a:t>(PUC-RJ)</a:t>
            </a:r>
            <a:r>
              <a:rPr lang="pt-BR" spc="10" dirty="0">
                <a:solidFill>
                  <a:srgbClr val="FFFFFF"/>
                </a:solidFill>
                <a:latin typeface="Futura Lt BT Light"/>
                <a:cs typeface="Futura PT Book"/>
              </a:rPr>
              <a:t> e </a:t>
            </a:r>
            <a:r>
              <a:rPr lang="pt-BR" spc="-10" dirty="0">
                <a:solidFill>
                  <a:srgbClr val="FFFFFF"/>
                </a:solidFill>
                <a:latin typeface="Futura Lt BT Light"/>
                <a:cs typeface="Futura PT Book"/>
              </a:rPr>
              <a:t>Contador (</a:t>
            </a:r>
            <a:r>
              <a:rPr lang="pt-BR" spc="-10" dirty="0" err="1">
                <a:solidFill>
                  <a:srgbClr val="FFFFFF"/>
                </a:solidFill>
                <a:latin typeface="Futura Lt BT Light"/>
                <a:cs typeface="Futura PT Book"/>
              </a:rPr>
              <a:t>Unesa</a:t>
            </a:r>
            <a:r>
              <a:rPr lang="pt-BR" spc="-10" dirty="0">
                <a:solidFill>
                  <a:srgbClr val="FFFFFF"/>
                </a:solidFill>
                <a:latin typeface="Futura Lt BT Light"/>
                <a:cs typeface="Futura PT Book"/>
              </a:rPr>
              <a:t>), </a:t>
            </a:r>
            <a:r>
              <a:rPr lang="pt-BR" spc="-25" dirty="0">
                <a:solidFill>
                  <a:srgbClr val="FFFFFF"/>
                </a:solidFill>
                <a:latin typeface="Futura Lt BT Light"/>
                <a:cs typeface="Futura PT Book"/>
              </a:rPr>
              <a:t>com </a:t>
            </a:r>
            <a:r>
              <a:rPr lang="pt-BR" spc="-10" dirty="0">
                <a:solidFill>
                  <a:srgbClr val="FFFFFF"/>
                </a:solidFill>
                <a:latin typeface="Futura Lt BT Light"/>
                <a:cs typeface="Futura PT Book"/>
              </a:rPr>
              <a:t>cursos </a:t>
            </a:r>
            <a:r>
              <a:rPr lang="pt-BR" spc="-25" dirty="0">
                <a:solidFill>
                  <a:srgbClr val="FFFFFF"/>
                </a:solidFill>
                <a:latin typeface="Futura Lt BT Light"/>
                <a:cs typeface="Futura PT Book"/>
              </a:rPr>
              <a:t>de </a:t>
            </a:r>
            <a:r>
              <a:rPr spc="-10" dirty="0" err="1">
                <a:solidFill>
                  <a:srgbClr val="FFFFFF"/>
                </a:solidFill>
                <a:latin typeface="Futura Lt BT Light"/>
                <a:cs typeface="Futura PT Book"/>
              </a:rPr>
              <a:t>especialização</a:t>
            </a:r>
            <a:r>
              <a:rPr lang="pt-BR" spc="-10" dirty="0">
                <a:solidFill>
                  <a:srgbClr val="FFFFFF"/>
                </a:solidFill>
                <a:latin typeface="Futura Lt BT Light"/>
                <a:cs typeface="Futura PT Book"/>
              </a:rPr>
              <a:t> </a:t>
            </a:r>
            <a:r>
              <a:rPr spc="-25" dirty="0" err="1">
                <a:solidFill>
                  <a:srgbClr val="FFFFFF"/>
                </a:solidFill>
                <a:latin typeface="Futura Lt BT Light"/>
                <a:cs typeface="Futura PT Book"/>
              </a:rPr>
              <a:t>em</a:t>
            </a:r>
            <a:r>
              <a:rPr lang="pt-BR" spc="-25" dirty="0">
                <a:solidFill>
                  <a:srgbClr val="FFFFFF"/>
                </a:solidFill>
                <a:latin typeface="Futura Lt BT Light"/>
                <a:cs typeface="Futura PT Book"/>
              </a:rPr>
              <a:t> </a:t>
            </a:r>
            <a:r>
              <a:rPr spc="-10" dirty="0" err="1">
                <a:solidFill>
                  <a:srgbClr val="FFFFFF"/>
                </a:solidFill>
                <a:latin typeface="Futura Lt BT Light"/>
                <a:cs typeface="Futura PT Book"/>
              </a:rPr>
              <a:t>matemática</a:t>
            </a:r>
            <a:r>
              <a:rPr lang="pt-BR" spc="-10" dirty="0">
                <a:solidFill>
                  <a:srgbClr val="FFFFFF"/>
                </a:solidFill>
                <a:latin typeface="Futura Lt BT Light"/>
                <a:cs typeface="Futura PT Book"/>
              </a:rPr>
              <a:t> (</a:t>
            </a:r>
            <a:r>
              <a:rPr lang="pt-BR" dirty="0">
                <a:solidFill>
                  <a:srgbClr val="FFFFFF"/>
                </a:solidFill>
                <a:latin typeface="Futura Lt BT Light"/>
                <a:cs typeface="Futura PT Book"/>
              </a:rPr>
              <a:t>UFF) e psicologia</a:t>
            </a:r>
            <a:r>
              <a:rPr lang="pt-BR" spc="390" dirty="0">
                <a:solidFill>
                  <a:srgbClr val="FFFFFF"/>
                </a:solidFill>
                <a:latin typeface="Futura Lt BT Light"/>
                <a:cs typeface="Futura PT Book"/>
              </a:rPr>
              <a:t> </a:t>
            </a:r>
            <a:r>
              <a:rPr lang="pt-BR" dirty="0">
                <a:solidFill>
                  <a:srgbClr val="FFFFFF"/>
                </a:solidFill>
                <a:latin typeface="Futura Lt BT Light"/>
                <a:cs typeface="Futura PT Book"/>
              </a:rPr>
              <a:t>(UFRJ),</a:t>
            </a:r>
            <a:r>
              <a:rPr lang="pt-BR" spc="390" dirty="0">
                <a:solidFill>
                  <a:srgbClr val="FFFFFF"/>
                </a:solidFill>
                <a:latin typeface="Futura Lt BT Light"/>
                <a:cs typeface="Futura PT Book"/>
              </a:rPr>
              <a:t> </a:t>
            </a:r>
            <a:r>
              <a:rPr lang="pt-BR" spc="-20" dirty="0">
                <a:solidFill>
                  <a:srgbClr val="FFFFFF"/>
                </a:solidFill>
                <a:latin typeface="Futura Lt BT Light"/>
                <a:cs typeface="Futura PT Book"/>
              </a:rPr>
              <a:t>atua </a:t>
            </a:r>
            <a:r>
              <a:rPr lang="pt-BR" spc="-25" dirty="0">
                <a:solidFill>
                  <a:srgbClr val="FFFFFF"/>
                </a:solidFill>
                <a:latin typeface="Futura Lt BT Light"/>
                <a:cs typeface="Futura PT Book"/>
              </a:rPr>
              <a:t>há 15 </a:t>
            </a:r>
            <a:r>
              <a:rPr lang="pt-BR" spc="-20" dirty="0">
                <a:solidFill>
                  <a:srgbClr val="FFFFFF"/>
                </a:solidFill>
                <a:latin typeface="Futura Lt BT Light"/>
                <a:cs typeface="Futura PT Book"/>
              </a:rPr>
              <a:t>anos </a:t>
            </a:r>
            <a:r>
              <a:rPr lang="pt-BR" spc="-25" dirty="0">
                <a:solidFill>
                  <a:srgbClr val="FFFFFF"/>
                </a:solidFill>
                <a:latin typeface="Futura Lt BT Light"/>
                <a:cs typeface="Futura PT Book"/>
              </a:rPr>
              <a:t>no </a:t>
            </a:r>
            <a:r>
              <a:rPr lang="pt-BR" spc="-10" dirty="0">
                <a:solidFill>
                  <a:srgbClr val="FFFFFF"/>
                </a:solidFill>
                <a:latin typeface="Futura Lt BT Light"/>
                <a:cs typeface="Futura PT Book"/>
              </a:rPr>
              <a:t>mercado </a:t>
            </a:r>
            <a:r>
              <a:rPr lang="pt-BR" spc="-25" dirty="0">
                <a:solidFill>
                  <a:srgbClr val="FFFFFF"/>
                </a:solidFill>
                <a:latin typeface="Futura Lt BT Light"/>
                <a:cs typeface="Futura PT Book"/>
              </a:rPr>
              <a:t>de avaliação de negócios em empresa especializada, tendo vasta experiência em treinamentos técnicos nas áreas de finanças e avaliação de ativos</a:t>
            </a:r>
            <a:endParaRPr dirty="0">
              <a:latin typeface="Futura Lt BT Light"/>
              <a:cs typeface="Futura PT Book"/>
            </a:endParaRPr>
          </a:p>
        </p:txBody>
      </p:sp>
      <p:sp>
        <p:nvSpPr>
          <p:cNvPr id="17" name="object 17"/>
          <p:cNvSpPr txBox="1"/>
          <p:nvPr/>
        </p:nvSpPr>
        <p:spPr>
          <a:xfrm>
            <a:off x="4634607" y="6512732"/>
            <a:ext cx="4503043" cy="3903633"/>
          </a:xfrm>
          <a:prstGeom prst="rect">
            <a:avLst/>
          </a:prstGeom>
        </p:spPr>
        <p:txBody>
          <a:bodyPr vert="horz" wrap="square" lIns="0" tIns="17780" rIns="0" bIns="0" rtlCol="0">
            <a:spAutoFit/>
          </a:bodyPr>
          <a:lstStyle/>
          <a:p>
            <a:pPr marL="26670" algn="just">
              <a:lnSpc>
                <a:spcPct val="100000"/>
              </a:lnSpc>
              <a:spcBef>
                <a:spcPts val="140"/>
              </a:spcBef>
              <a:spcAft>
                <a:spcPts val="600"/>
              </a:spcAft>
            </a:pPr>
            <a:r>
              <a:rPr sz="3150" dirty="0">
                <a:solidFill>
                  <a:srgbClr val="FFFFFF"/>
                </a:solidFill>
                <a:latin typeface="Futura PT Book"/>
                <a:cs typeface="Futura PT Book"/>
              </a:rPr>
              <a:t>GABRIEL </a:t>
            </a:r>
            <a:r>
              <a:rPr sz="3150" spc="-10" dirty="0">
                <a:solidFill>
                  <a:srgbClr val="FFFFFF"/>
                </a:solidFill>
                <a:latin typeface="Futura PT Book"/>
                <a:cs typeface="Futura PT Book"/>
              </a:rPr>
              <a:t>VENTURIM</a:t>
            </a:r>
            <a:endParaRPr sz="3150" dirty="0">
              <a:latin typeface="Futura PT Book"/>
              <a:cs typeface="Futura PT Book"/>
            </a:endParaRPr>
          </a:p>
          <a:p>
            <a:pPr algn="just">
              <a:spcAft>
                <a:spcPts val="600"/>
              </a:spcAft>
            </a:pPr>
            <a:r>
              <a:rPr lang="pt-BR" dirty="0">
                <a:solidFill>
                  <a:srgbClr val="FFFFFF"/>
                </a:solidFill>
                <a:latin typeface="Futura Lt BT Light"/>
                <a:cs typeface="Futura PT Book"/>
              </a:rPr>
              <a:t>Doutorando e Mestre</a:t>
            </a:r>
            <a:r>
              <a:rPr lang="pt-BR" spc="70" dirty="0">
                <a:solidFill>
                  <a:srgbClr val="FFFFFF"/>
                </a:solidFill>
                <a:latin typeface="Futura Lt BT Light"/>
                <a:cs typeface="Futura PT Book"/>
              </a:rPr>
              <a:t> </a:t>
            </a:r>
            <a:r>
              <a:rPr lang="pt-BR" dirty="0">
                <a:solidFill>
                  <a:srgbClr val="FFFFFF"/>
                </a:solidFill>
                <a:latin typeface="Futura Lt BT Light"/>
                <a:cs typeface="Futura PT Book"/>
              </a:rPr>
              <a:t>em</a:t>
            </a:r>
            <a:r>
              <a:rPr lang="pt-BR" spc="70" dirty="0">
                <a:solidFill>
                  <a:srgbClr val="FFFFFF"/>
                </a:solidFill>
                <a:latin typeface="Futura Lt BT Light"/>
                <a:cs typeface="Futura PT Book"/>
              </a:rPr>
              <a:t> </a:t>
            </a:r>
            <a:r>
              <a:rPr lang="pt-BR" dirty="0">
                <a:solidFill>
                  <a:srgbClr val="FFFFFF"/>
                </a:solidFill>
                <a:latin typeface="Futura Lt BT Light"/>
                <a:cs typeface="Futura PT Book"/>
              </a:rPr>
              <a:t>Administração</a:t>
            </a:r>
            <a:r>
              <a:rPr lang="pt-BR" spc="70" dirty="0">
                <a:solidFill>
                  <a:srgbClr val="FFFFFF"/>
                </a:solidFill>
                <a:latin typeface="Futura Lt BT Light"/>
                <a:cs typeface="Futura PT Book"/>
              </a:rPr>
              <a:t> </a:t>
            </a:r>
            <a:r>
              <a:rPr lang="pt-BR" spc="-20" dirty="0">
                <a:solidFill>
                  <a:srgbClr val="FFFFFF"/>
                </a:solidFill>
                <a:latin typeface="Futura Lt BT Light"/>
                <a:cs typeface="Futura PT Book"/>
              </a:rPr>
              <a:t>(FEA </a:t>
            </a:r>
            <a:r>
              <a:rPr lang="pt-BR" dirty="0">
                <a:solidFill>
                  <a:srgbClr val="FFFFFF"/>
                </a:solidFill>
                <a:latin typeface="Futura Lt BT Light"/>
                <a:cs typeface="Futura PT Book"/>
              </a:rPr>
              <a:t>USP),</a:t>
            </a:r>
            <a:r>
              <a:rPr lang="pt-BR" spc="385" dirty="0">
                <a:solidFill>
                  <a:srgbClr val="FFFFFF"/>
                </a:solidFill>
                <a:latin typeface="Futura Lt BT Light"/>
                <a:cs typeface="Futura PT Book"/>
              </a:rPr>
              <a:t> </a:t>
            </a:r>
            <a:r>
              <a:rPr lang="pt-BR" dirty="0">
                <a:solidFill>
                  <a:srgbClr val="FFFFFF"/>
                </a:solidFill>
                <a:latin typeface="Futura Lt BT Light"/>
                <a:cs typeface="Futura PT Book"/>
              </a:rPr>
              <a:t>Economista</a:t>
            </a:r>
            <a:r>
              <a:rPr lang="pt-BR" spc="390" dirty="0">
                <a:solidFill>
                  <a:srgbClr val="FFFFFF"/>
                </a:solidFill>
                <a:latin typeface="Futura Lt BT Light"/>
                <a:cs typeface="Futura PT Book"/>
              </a:rPr>
              <a:t> </a:t>
            </a:r>
            <a:r>
              <a:rPr lang="pt-BR" dirty="0">
                <a:solidFill>
                  <a:srgbClr val="FFFFFF"/>
                </a:solidFill>
                <a:latin typeface="Futura Lt BT Light"/>
                <a:cs typeface="Futura PT Book"/>
              </a:rPr>
              <a:t>(PUC-RJ)</a:t>
            </a:r>
            <a:r>
              <a:rPr lang="pt-BR" spc="390" dirty="0">
                <a:solidFill>
                  <a:srgbClr val="FFFFFF"/>
                </a:solidFill>
                <a:latin typeface="Futura Lt BT Light"/>
                <a:cs typeface="Futura PT Book"/>
              </a:rPr>
              <a:t> </a:t>
            </a:r>
            <a:r>
              <a:rPr lang="pt-BR" dirty="0">
                <a:solidFill>
                  <a:srgbClr val="FFFFFF"/>
                </a:solidFill>
                <a:latin typeface="Futura Lt BT Light"/>
                <a:cs typeface="Futura PT Book"/>
              </a:rPr>
              <a:t>e</a:t>
            </a:r>
            <a:r>
              <a:rPr lang="pt-BR" spc="390" dirty="0">
                <a:solidFill>
                  <a:srgbClr val="FFFFFF"/>
                </a:solidFill>
                <a:latin typeface="Futura Lt BT Light"/>
                <a:cs typeface="Futura PT Book"/>
              </a:rPr>
              <a:t> </a:t>
            </a:r>
            <a:r>
              <a:rPr lang="pt-BR" dirty="0">
                <a:solidFill>
                  <a:srgbClr val="FFFFFF"/>
                </a:solidFill>
                <a:latin typeface="Futura Lt BT Light"/>
                <a:cs typeface="Futura PT Book"/>
              </a:rPr>
              <a:t>MBA</a:t>
            </a:r>
            <a:r>
              <a:rPr lang="pt-BR" spc="390" dirty="0">
                <a:solidFill>
                  <a:srgbClr val="FFFFFF"/>
                </a:solidFill>
                <a:latin typeface="Futura Lt BT Light"/>
                <a:cs typeface="Futura PT Book"/>
              </a:rPr>
              <a:t> </a:t>
            </a:r>
            <a:r>
              <a:rPr lang="pt-BR" dirty="0">
                <a:solidFill>
                  <a:srgbClr val="FFFFFF"/>
                </a:solidFill>
                <a:latin typeface="Futura Lt BT Light"/>
                <a:cs typeface="Futura PT Book"/>
              </a:rPr>
              <a:t>em</a:t>
            </a:r>
            <a:r>
              <a:rPr lang="pt-BR" spc="390" dirty="0">
                <a:solidFill>
                  <a:srgbClr val="FFFFFF"/>
                </a:solidFill>
                <a:latin typeface="Futura Lt BT Light"/>
                <a:cs typeface="Futura PT Book"/>
              </a:rPr>
              <a:t> </a:t>
            </a:r>
            <a:r>
              <a:rPr lang="pt-BR" spc="-10" dirty="0">
                <a:solidFill>
                  <a:srgbClr val="FFFFFF"/>
                </a:solidFill>
                <a:latin typeface="Futura Lt BT Light"/>
                <a:cs typeface="Futura PT Book"/>
              </a:rPr>
              <a:t>Gestão </a:t>
            </a:r>
            <a:r>
              <a:rPr lang="pt-BR" dirty="0">
                <a:solidFill>
                  <a:srgbClr val="FFFFFF"/>
                </a:solidFill>
                <a:latin typeface="Futura Lt BT Light"/>
                <a:cs typeface="Futura PT Book"/>
              </a:rPr>
              <a:t>Empresarial</a:t>
            </a:r>
            <a:r>
              <a:rPr lang="pt-BR" spc="225" dirty="0">
                <a:solidFill>
                  <a:srgbClr val="FFFFFF"/>
                </a:solidFill>
                <a:latin typeface="Futura Lt BT Light"/>
                <a:cs typeface="Futura PT Book"/>
              </a:rPr>
              <a:t> </a:t>
            </a:r>
            <a:r>
              <a:rPr lang="pt-BR" dirty="0">
                <a:solidFill>
                  <a:srgbClr val="FFFFFF"/>
                </a:solidFill>
                <a:latin typeface="Futura Lt BT Light"/>
                <a:cs typeface="Futura PT Book"/>
              </a:rPr>
              <a:t>(FIA),</a:t>
            </a:r>
            <a:r>
              <a:rPr lang="pt-BR" spc="225" dirty="0">
                <a:solidFill>
                  <a:srgbClr val="FFFFFF"/>
                </a:solidFill>
                <a:latin typeface="Futura Lt BT Light"/>
                <a:cs typeface="Futura PT Book"/>
              </a:rPr>
              <a:t> </a:t>
            </a:r>
            <a:r>
              <a:rPr lang="pt-BR" dirty="0">
                <a:solidFill>
                  <a:srgbClr val="FFFFFF"/>
                </a:solidFill>
                <a:latin typeface="Futura Lt BT Light"/>
                <a:cs typeface="Futura PT Book"/>
              </a:rPr>
              <a:t>atua</a:t>
            </a:r>
            <a:r>
              <a:rPr lang="pt-BR" spc="225" dirty="0">
                <a:solidFill>
                  <a:srgbClr val="FFFFFF"/>
                </a:solidFill>
                <a:latin typeface="Futura Lt BT Light"/>
                <a:cs typeface="Futura PT Book"/>
              </a:rPr>
              <a:t> </a:t>
            </a:r>
            <a:r>
              <a:rPr lang="pt-BR" dirty="0">
                <a:solidFill>
                  <a:srgbClr val="FFFFFF"/>
                </a:solidFill>
                <a:latin typeface="Futura Lt BT Light"/>
                <a:cs typeface="Futura PT Book"/>
              </a:rPr>
              <a:t>no</a:t>
            </a:r>
            <a:r>
              <a:rPr lang="pt-BR" spc="229" dirty="0">
                <a:solidFill>
                  <a:srgbClr val="FFFFFF"/>
                </a:solidFill>
                <a:latin typeface="Futura Lt BT Light"/>
                <a:cs typeface="Futura PT Book"/>
              </a:rPr>
              <a:t>   </a:t>
            </a:r>
            <a:r>
              <a:rPr lang="pt-BR" dirty="0">
                <a:solidFill>
                  <a:srgbClr val="FFFFFF"/>
                </a:solidFill>
                <a:latin typeface="Futura Lt BT Light"/>
                <a:cs typeface="Futura PT Book"/>
              </a:rPr>
              <a:t>mercado</a:t>
            </a:r>
            <a:r>
              <a:rPr lang="pt-BR" spc="225" dirty="0">
                <a:solidFill>
                  <a:srgbClr val="FFFFFF"/>
                </a:solidFill>
                <a:latin typeface="Futura Lt BT Light"/>
                <a:cs typeface="Futura PT Book"/>
              </a:rPr>
              <a:t> </a:t>
            </a:r>
            <a:r>
              <a:rPr lang="pt-BR" spc="-25" dirty="0">
                <a:solidFill>
                  <a:srgbClr val="FFFFFF"/>
                </a:solidFill>
                <a:latin typeface="Futura Lt BT Light"/>
                <a:cs typeface="Futura PT Book"/>
              </a:rPr>
              <a:t>de </a:t>
            </a:r>
            <a:r>
              <a:rPr lang="pt-BR" dirty="0">
                <a:solidFill>
                  <a:srgbClr val="FFFFFF"/>
                </a:solidFill>
                <a:latin typeface="Futura Lt BT Light"/>
                <a:cs typeface="Futura PT Book"/>
              </a:rPr>
              <a:t>consultoria</a:t>
            </a:r>
            <a:r>
              <a:rPr lang="pt-BR" spc="105" dirty="0">
                <a:solidFill>
                  <a:srgbClr val="FFFFFF"/>
                </a:solidFill>
                <a:latin typeface="Futura Lt BT Light"/>
                <a:cs typeface="Futura PT Book"/>
              </a:rPr>
              <a:t> </a:t>
            </a:r>
            <a:r>
              <a:rPr lang="pt-BR" dirty="0">
                <a:solidFill>
                  <a:srgbClr val="FFFFFF"/>
                </a:solidFill>
                <a:latin typeface="Futura Lt BT Light"/>
                <a:cs typeface="Futura PT Book"/>
              </a:rPr>
              <a:t>há</a:t>
            </a:r>
            <a:r>
              <a:rPr lang="pt-BR" spc="110" dirty="0">
                <a:solidFill>
                  <a:srgbClr val="FFFFFF"/>
                </a:solidFill>
                <a:latin typeface="Futura Lt BT Light"/>
                <a:cs typeface="Futura PT Book"/>
              </a:rPr>
              <a:t> </a:t>
            </a:r>
            <a:r>
              <a:rPr lang="pt-BR" dirty="0">
                <a:solidFill>
                  <a:srgbClr val="FFFFFF"/>
                </a:solidFill>
                <a:latin typeface="Futura Lt BT Light"/>
                <a:cs typeface="Futura PT Book"/>
              </a:rPr>
              <a:t>mais</a:t>
            </a:r>
            <a:r>
              <a:rPr lang="pt-BR" spc="105" dirty="0">
                <a:solidFill>
                  <a:srgbClr val="FFFFFF"/>
                </a:solidFill>
                <a:latin typeface="Futura Lt BT Light"/>
                <a:cs typeface="Futura PT Book"/>
              </a:rPr>
              <a:t> </a:t>
            </a:r>
            <a:r>
              <a:rPr lang="pt-BR" dirty="0">
                <a:solidFill>
                  <a:srgbClr val="FFFFFF"/>
                </a:solidFill>
                <a:latin typeface="Futura Lt BT Light"/>
                <a:cs typeface="Futura PT Book"/>
              </a:rPr>
              <a:t>de</a:t>
            </a:r>
            <a:r>
              <a:rPr lang="pt-BR" spc="110" dirty="0">
                <a:solidFill>
                  <a:srgbClr val="FFFFFF"/>
                </a:solidFill>
                <a:latin typeface="Futura Lt BT Light"/>
                <a:cs typeface="Futura PT Book"/>
              </a:rPr>
              <a:t> </a:t>
            </a:r>
            <a:r>
              <a:rPr lang="pt-BR" spc="-25" dirty="0">
                <a:solidFill>
                  <a:srgbClr val="FFFFFF"/>
                </a:solidFill>
                <a:latin typeface="Futura Lt BT Light"/>
                <a:cs typeface="Futura PT Book"/>
              </a:rPr>
              <a:t>15</a:t>
            </a:r>
            <a:r>
              <a:rPr lang="pt-BR" spc="105" dirty="0">
                <a:solidFill>
                  <a:srgbClr val="FFFFFF"/>
                </a:solidFill>
                <a:latin typeface="Futura Lt BT Light"/>
                <a:cs typeface="Futura PT Book"/>
              </a:rPr>
              <a:t> </a:t>
            </a:r>
            <a:r>
              <a:rPr lang="pt-BR" dirty="0">
                <a:solidFill>
                  <a:srgbClr val="FFFFFF"/>
                </a:solidFill>
                <a:latin typeface="Futura Lt BT Light"/>
                <a:cs typeface="Futura PT Book"/>
              </a:rPr>
              <a:t>anos,</a:t>
            </a:r>
            <a:r>
              <a:rPr lang="pt-BR" spc="110" dirty="0">
                <a:solidFill>
                  <a:srgbClr val="FFFFFF"/>
                </a:solidFill>
                <a:latin typeface="Futura Lt BT Light"/>
                <a:cs typeface="Futura PT Book"/>
              </a:rPr>
              <a:t> </a:t>
            </a:r>
            <a:r>
              <a:rPr lang="pt-BR" dirty="0">
                <a:solidFill>
                  <a:srgbClr val="FFFFFF"/>
                </a:solidFill>
                <a:latin typeface="Futura Lt BT Light"/>
                <a:cs typeface="Futura PT Book"/>
              </a:rPr>
              <a:t>tendo</a:t>
            </a:r>
            <a:r>
              <a:rPr lang="pt-BR" spc="110" dirty="0">
                <a:solidFill>
                  <a:srgbClr val="FFFFFF"/>
                </a:solidFill>
                <a:latin typeface="Futura Lt BT Light"/>
                <a:cs typeface="Futura PT Book"/>
              </a:rPr>
              <a:t> </a:t>
            </a:r>
            <a:r>
              <a:rPr lang="pt-BR" spc="-10" dirty="0">
                <a:solidFill>
                  <a:srgbClr val="FFFFFF"/>
                </a:solidFill>
                <a:latin typeface="Futura Lt BT Light"/>
                <a:cs typeface="Futura PT Book"/>
              </a:rPr>
              <a:t>realizado projetos </a:t>
            </a:r>
            <a:r>
              <a:rPr lang="pt-BR" spc="-25" dirty="0">
                <a:solidFill>
                  <a:srgbClr val="FFFFFF"/>
                </a:solidFill>
                <a:latin typeface="Futura Lt BT Light"/>
                <a:cs typeface="Futura PT Book"/>
              </a:rPr>
              <a:t>de </a:t>
            </a:r>
            <a:r>
              <a:rPr lang="pt-BR" spc="-10" dirty="0">
                <a:solidFill>
                  <a:srgbClr val="FFFFFF"/>
                </a:solidFill>
                <a:latin typeface="Futura Lt BT Light"/>
                <a:cs typeface="Futura PT Book"/>
              </a:rPr>
              <a:t>Fusões </a:t>
            </a:r>
            <a:r>
              <a:rPr lang="pt-BR" spc="-50" dirty="0">
                <a:solidFill>
                  <a:srgbClr val="FFFFFF"/>
                </a:solidFill>
                <a:latin typeface="Futura Lt BT Light"/>
                <a:cs typeface="Futura PT Book"/>
              </a:rPr>
              <a:t>e </a:t>
            </a:r>
            <a:r>
              <a:rPr lang="pt-BR" spc="-10" dirty="0">
                <a:solidFill>
                  <a:srgbClr val="FFFFFF"/>
                </a:solidFill>
                <a:latin typeface="Futura Lt BT Light"/>
                <a:cs typeface="Futura PT Book"/>
              </a:rPr>
              <a:t>Aquisições, Estratégia, </a:t>
            </a:r>
            <a:r>
              <a:rPr lang="pt-BR" dirty="0">
                <a:solidFill>
                  <a:srgbClr val="FFFFFF"/>
                </a:solidFill>
                <a:latin typeface="Futura Lt BT Light"/>
                <a:cs typeface="Futura PT Book"/>
              </a:rPr>
              <a:t>Governança</a:t>
            </a:r>
            <a:r>
              <a:rPr lang="pt-BR" spc="440" dirty="0">
                <a:solidFill>
                  <a:srgbClr val="FFFFFF"/>
                </a:solidFill>
                <a:latin typeface="Futura Lt BT Light"/>
                <a:cs typeface="Futura PT Book"/>
              </a:rPr>
              <a:t> </a:t>
            </a:r>
            <a:r>
              <a:rPr lang="pt-BR" dirty="0">
                <a:solidFill>
                  <a:srgbClr val="FFFFFF"/>
                </a:solidFill>
                <a:latin typeface="Futura Lt BT Light"/>
                <a:cs typeface="Futura PT Book"/>
              </a:rPr>
              <a:t>Corporativa</a:t>
            </a:r>
            <a:r>
              <a:rPr lang="pt-BR" spc="455" dirty="0">
                <a:solidFill>
                  <a:srgbClr val="FFFFFF"/>
                </a:solidFill>
                <a:latin typeface="Futura Lt BT Light"/>
                <a:cs typeface="Futura PT Book"/>
              </a:rPr>
              <a:t> </a:t>
            </a:r>
            <a:r>
              <a:rPr lang="pt-BR" dirty="0">
                <a:solidFill>
                  <a:srgbClr val="FFFFFF"/>
                </a:solidFill>
                <a:latin typeface="Futura Lt BT Light"/>
                <a:cs typeface="Futura PT Book"/>
              </a:rPr>
              <a:t>e</a:t>
            </a:r>
            <a:r>
              <a:rPr lang="pt-BR" spc="455" dirty="0">
                <a:solidFill>
                  <a:srgbClr val="FFFFFF"/>
                </a:solidFill>
                <a:latin typeface="Futura Lt BT Light"/>
                <a:cs typeface="Futura PT Book"/>
              </a:rPr>
              <a:t> </a:t>
            </a:r>
            <a:r>
              <a:rPr lang="pt-BR" dirty="0">
                <a:solidFill>
                  <a:srgbClr val="FFFFFF"/>
                </a:solidFill>
                <a:latin typeface="Futura Lt BT Light"/>
                <a:cs typeface="Futura PT Book"/>
              </a:rPr>
              <a:t>Valuation.</a:t>
            </a:r>
            <a:r>
              <a:rPr lang="pt-BR" spc="455" dirty="0">
                <a:solidFill>
                  <a:srgbClr val="FFFFFF"/>
                </a:solidFill>
                <a:latin typeface="Futura Lt BT Light"/>
                <a:cs typeface="Futura PT Book"/>
              </a:rPr>
              <a:t> </a:t>
            </a:r>
            <a:r>
              <a:rPr lang="pt-BR" spc="-10" dirty="0">
                <a:solidFill>
                  <a:srgbClr val="FFFFFF"/>
                </a:solidFill>
                <a:latin typeface="Futura Lt BT Light"/>
                <a:cs typeface="Futura PT Book"/>
              </a:rPr>
              <a:t>Também </a:t>
            </a:r>
            <a:r>
              <a:rPr lang="pt-BR" dirty="0">
                <a:solidFill>
                  <a:srgbClr val="FFFFFF"/>
                </a:solidFill>
                <a:latin typeface="Futura Lt BT Light"/>
                <a:cs typeface="Futura PT Book"/>
              </a:rPr>
              <a:t>atua</a:t>
            </a:r>
            <a:r>
              <a:rPr lang="pt-BR" spc="-45" dirty="0">
                <a:solidFill>
                  <a:srgbClr val="FFFFFF"/>
                </a:solidFill>
                <a:latin typeface="Futura Lt BT Light"/>
                <a:cs typeface="Futura PT Book"/>
              </a:rPr>
              <a:t> </a:t>
            </a:r>
            <a:r>
              <a:rPr lang="pt-BR" dirty="0">
                <a:solidFill>
                  <a:srgbClr val="FFFFFF"/>
                </a:solidFill>
                <a:latin typeface="Futura Lt BT Light"/>
                <a:cs typeface="Futura PT Book"/>
              </a:rPr>
              <a:t>como</a:t>
            </a:r>
            <a:r>
              <a:rPr lang="pt-BR" spc="-45" dirty="0">
                <a:solidFill>
                  <a:srgbClr val="FFFFFF"/>
                </a:solidFill>
                <a:latin typeface="Futura Lt BT Light"/>
                <a:cs typeface="Futura PT Book"/>
              </a:rPr>
              <a:t> </a:t>
            </a:r>
            <a:r>
              <a:rPr lang="pt-BR" spc="-10" dirty="0">
                <a:solidFill>
                  <a:srgbClr val="FFFFFF"/>
                </a:solidFill>
                <a:latin typeface="Futura Lt BT Light"/>
                <a:cs typeface="Futura PT Book"/>
              </a:rPr>
              <a:t>Conselheiro</a:t>
            </a:r>
            <a:r>
              <a:rPr lang="pt-BR" spc="-40" dirty="0">
                <a:solidFill>
                  <a:srgbClr val="FFFFFF"/>
                </a:solidFill>
                <a:latin typeface="Futura Lt BT Light"/>
                <a:cs typeface="Futura PT Book"/>
              </a:rPr>
              <a:t> </a:t>
            </a:r>
            <a:r>
              <a:rPr lang="pt-BR" dirty="0">
                <a:solidFill>
                  <a:srgbClr val="FFFFFF"/>
                </a:solidFill>
                <a:latin typeface="Futura Lt BT Light"/>
                <a:cs typeface="Futura PT Book"/>
              </a:rPr>
              <a:t>de</a:t>
            </a:r>
            <a:r>
              <a:rPr lang="pt-BR" spc="-45" dirty="0">
                <a:solidFill>
                  <a:srgbClr val="FFFFFF"/>
                </a:solidFill>
                <a:latin typeface="Futura Lt BT Light"/>
                <a:cs typeface="Futura PT Book"/>
              </a:rPr>
              <a:t> </a:t>
            </a:r>
            <a:r>
              <a:rPr lang="pt-BR" spc="-10" dirty="0">
                <a:solidFill>
                  <a:srgbClr val="FFFFFF"/>
                </a:solidFill>
                <a:latin typeface="Futura Lt BT Light"/>
                <a:cs typeface="Futura PT Book"/>
              </a:rPr>
              <a:t>Administração,</a:t>
            </a:r>
            <a:r>
              <a:rPr lang="pt-BR" spc="-40" dirty="0">
                <a:solidFill>
                  <a:srgbClr val="FFFFFF"/>
                </a:solidFill>
                <a:latin typeface="Futura Lt BT Light"/>
                <a:cs typeface="Futura PT Book"/>
              </a:rPr>
              <a:t> </a:t>
            </a:r>
            <a:r>
              <a:rPr lang="pt-BR" spc="-10" dirty="0">
                <a:solidFill>
                  <a:srgbClr val="FFFFFF"/>
                </a:solidFill>
                <a:latin typeface="Futura Lt BT Light"/>
                <a:cs typeface="Futura PT Book"/>
              </a:rPr>
              <a:t>Mentor </a:t>
            </a:r>
            <a:r>
              <a:rPr lang="pt-BR" dirty="0">
                <a:solidFill>
                  <a:srgbClr val="FFFFFF"/>
                </a:solidFill>
                <a:latin typeface="Futura Lt BT Light"/>
                <a:cs typeface="Futura PT Book"/>
              </a:rPr>
              <a:t>de </a:t>
            </a:r>
            <a:r>
              <a:rPr lang="pt-BR" spc="-10" dirty="0">
                <a:solidFill>
                  <a:srgbClr val="FFFFFF"/>
                </a:solidFill>
                <a:latin typeface="Futura Lt BT Light"/>
              </a:rPr>
              <a:t>startups e é professor de empreendedorismo e</a:t>
            </a:r>
            <a:r>
              <a:rPr lang="es-419" spc="-10" dirty="0">
                <a:solidFill>
                  <a:srgbClr val="FFFFFF"/>
                </a:solidFill>
                <a:latin typeface="Futura Lt BT Light"/>
              </a:rPr>
              <a:t> </a:t>
            </a:r>
            <a:r>
              <a:rPr lang="es-419" spc="-10" dirty="0" err="1">
                <a:solidFill>
                  <a:srgbClr val="FFFFFF"/>
                </a:solidFill>
                <a:latin typeface="Futura Lt BT Light"/>
              </a:rPr>
              <a:t>finanças</a:t>
            </a:r>
            <a:r>
              <a:rPr lang="es-419" spc="-10" dirty="0">
                <a:solidFill>
                  <a:srgbClr val="FFFFFF"/>
                </a:solidFill>
                <a:latin typeface="Futura Lt BT Light"/>
              </a:rPr>
              <a:t> em </a:t>
            </a:r>
            <a:r>
              <a:rPr lang="es-419" spc="-10" dirty="0" err="1">
                <a:solidFill>
                  <a:srgbClr val="FFFFFF"/>
                </a:solidFill>
                <a:latin typeface="Futura Lt BT Light"/>
              </a:rPr>
              <a:t>renomadas</a:t>
            </a:r>
            <a:r>
              <a:rPr lang="es-419" spc="-10" dirty="0">
                <a:solidFill>
                  <a:srgbClr val="FFFFFF"/>
                </a:solidFill>
                <a:latin typeface="Futura Lt BT Light"/>
              </a:rPr>
              <a:t> </a:t>
            </a:r>
            <a:r>
              <a:rPr lang="pt-BR" spc="-10" dirty="0">
                <a:solidFill>
                  <a:srgbClr val="FFFFFF"/>
                </a:solidFill>
                <a:latin typeface="Futura Lt BT Light"/>
              </a:rPr>
              <a:t>instituições de ensino no Brasil.</a:t>
            </a:r>
          </a:p>
        </p:txBody>
      </p:sp>
      <p:sp>
        <p:nvSpPr>
          <p:cNvPr id="20" name="object 20"/>
          <p:cNvSpPr txBox="1"/>
          <p:nvPr/>
        </p:nvSpPr>
        <p:spPr>
          <a:xfrm>
            <a:off x="4246004" y="9020564"/>
            <a:ext cx="4683760" cy="303673"/>
          </a:xfrm>
          <a:prstGeom prst="rect">
            <a:avLst/>
          </a:prstGeom>
        </p:spPr>
        <p:txBody>
          <a:bodyPr vert="horz" wrap="square" lIns="0" tIns="11430" rIns="0" bIns="0" rtlCol="0">
            <a:spAutoFit/>
          </a:bodyPr>
          <a:lstStyle/>
          <a:p>
            <a:pPr marL="12700" marR="5080">
              <a:lnSpc>
                <a:spcPct val="101600"/>
              </a:lnSpc>
              <a:spcBef>
                <a:spcPts val="90"/>
              </a:spcBef>
            </a:pPr>
            <a:endParaRPr lang="es-419" sz="1900" dirty="0">
              <a:latin typeface="Futura PT Book"/>
              <a:cs typeface="Futura PT Book"/>
            </a:endParaRPr>
          </a:p>
        </p:txBody>
      </p:sp>
      <p:sp>
        <p:nvSpPr>
          <p:cNvPr id="24" name="object 24"/>
          <p:cNvSpPr txBox="1"/>
          <p:nvPr/>
        </p:nvSpPr>
        <p:spPr>
          <a:xfrm>
            <a:off x="14861080" y="6459543"/>
            <a:ext cx="4775200" cy="628377"/>
          </a:xfrm>
          <a:prstGeom prst="rect">
            <a:avLst/>
          </a:prstGeom>
        </p:spPr>
        <p:txBody>
          <a:bodyPr vert="horz" wrap="square" lIns="0" tIns="88900" rIns="0" bIns="0" rtlCol="0">
            <a:spAutoFit/>
          </a:bodyPr>
          <a:lstStyle/>
          <a:p>
            <a:pPr marL="23495">
              <a:lnSpc>
                <a:spcPct val="100000"/>
              </a:lnSpc>
              <a:spcBef>
                <a:spcPts val="700"/>
              </a:spcBef>
            </a:pPr>
            <a:r>
              <a:rPr sz="3500" dirty="0">
                <a:solidFill>
                  <a:srgbClr val="FFFFFF"/>
                </a:solidFill>
                <a:latin typeface="Futura PT Book"/>
                <a:cs typeface="Futura PT Book"/>
              </a:rPr>
              <a:t>LUCAS</a:t>
            </a:r>
            <a:r>
              <a:rPr sz="3500" spc="-145" dirty="0">
                <a:solidFill>
                  <a:srgbClr val="FFFFFF"/>
                </a:solidFill>
                <a:latin typeface="Futura PT Book"/>
                <a:cs typeface="Futura PT Book"/>
              </a:rPr>
              <a:t> </a:t>
            </a:r>
            <a:r>
              <a:rPr sz="3500" spc="-10" dirty="0">
                <a:solidFill>
                  <a:srgbClr val="FFFFFF"/>
                </a:solidFill>
                <a:latin typeface="Futura PT Book"/>
                <a:cs typeface="Futura PT Book"/>
              </a:rPr>
              <a:t>PASQUALINI</a:t>
            </a:r>
            <a:endParaRPr sz="3500" dirty="0">
              <a:latin typeface="Futura PT Book"/>
              <a:cs typeface="Futura PT Book"/>
            </a:endParaRPr>
          </a:p>
        </p:txBody>
      </p:sp>
      <p:sp>
        <p:nvSpPr>
          <p:cNvPr id="25" name="object 25"/>
          <p:cNvSpPr txBox="1"/>
          <p:nvPr/>
        </p:nvSpPr>
        <p:spPr>
          <a:xfrm>
            <a:off x="14785148" y="7123661"/>
            <a:ext cx="4775835" cy="3135474"/>
          </a:xfrm>
          <a:prstGeom prst="rect">
            <a:avLst/>
          </a:prstGeom>
        </p:spPr>
        <p:txBody>
          <a:bodyPr vert="horz" wrap="square" lIns="0" tIns="11430" rIns="0" bIns="0" rtlCol="0">
            <a:spAutoFit/>
          </a:bodyPr>
          <a:lstStyle/>
          <a:p>
            <a:pPr marL="12700" marR="5080" algn="just">
              <a:spcAft>
                <a:spcPts val="600"/>
              </a:spcAft>
            </a:pPr>
            <a:r>
              <a:rPr lang="pt-BR" spc="-10" dirty="0">
                <a:solidFill>
                  <a:srgbClr val="FFFFFF"/>
                </a:solidFill>
                <a:latin typeface="Futura Lt BT Light"/>
                <a:cs typeface="Futura PT Book"/>
              </a:rPr>
              <a:t>Engenheiro (UFF    e UPC - Barcelona) e Bacharel em Contabilidade (UNESA), com Pós-Graduação em Direito Societário e Mercados de Capitais (FGV-RJ) e Extensão em Finanças e Contabilidade pela </a:t>
            </a:r>
            <a:r>
              <a:rPr lang="pt-BR" spc="-10" dirty="0" err="1">
                <a:solidFill>
                  <a:srgbClr val="FFFFFF"/>
                </a:solidFill>
                <a:latin typeface="Futura Lt BT Light"/>
                <a:cs typeface="Futura PT Book"/>
              </a:rPr>
              <a:t>University</a:t>
            </a:r>
            <a:r>
              <a:rPr lang="pt-BR" spc="-10" dirty="0">
                <a:solidFill>
                  <a:srgbClr val="FFFFFF"/>
                </a:solidFill>
                <a:latin typeface="Futura Lt BT Light"/>
                <a:cs typeface="Futura PT Book"/>
              </a:rPr>
              <a:t> of La Verne,  EUA,  atua há mais de 10 anos no mercado de avaliação, em reestruturações societárias, operações de M&amp;A e avaliação de empresas e ativos.</a:t>
            </a:r>
          </a:p>
          <a:p>
            <a:pPr marL="12700" marR="5080" algn="just">
              <a:spcAft>
                <a:spcPts val="600"/>
              </a:spcAft>
            </a:pPr>
            <a:r>
              <a:rPr lang="pt-BR" spc="-10" dirty="0">
                <a:solidFill>
                  <a:srgbClr val="FFFFFF"/>
                </a:solidFill>
                <a:latin typeface="Futura Lt BT Light"/>
                <a:cs typeface="Futura PT Book"/>
              </a:rPr>
              <a:t>Desde 2023 é </a:t>
            </a:r>
            <a:r>
              <a:rPr lang="pt-BR" spc="-10" dirty="0" err="1">
                <a:solidFill>
                  <a:srgbClr val="FFFFFF"/>
                </a:solidFill>
                <a:latin typeface="Futura Lt BT Light"/>
                <a:cs typeface="Futura PT Book"/>
              </a:rPr>
              <a:t>Accredited</a:t>
            </a:r>
            <a:r>
              <a:rPr lang="pt-BR" spc="-10" dirty="0">
                <a:solidFill>
                  <a:srgbClr val="FFFFFF"/>
                </a:solidFill>
                <a:latin typeface="Futura Lt BT Light"/>
                <a:cs typeface="Futura PT Book"/>
              </a:rPr>
              <a:t> </a:t>
            </a:r>
            <a:r>
              <a:rPr lang="pt-BR" spc="-10" dirty="0" err="1">
                <a:solidFill>
                  <a:srgbClr val="FFFFFF"/>
                </a:solidFill>
                <a:latin typeface="Futura Lt BT Light"/>
                <a:cs typeface="Futura PT Book"/>
              </a:rPr>
              <a:t>Senior</a:t>
            </a:r>
            <a:r>
              <a:rPr lang="pt-BR" spc="-10" dirty="0">
                <a:solidFill>
                  <a:srgbClr val="FFFFFF"/>
                </a:solidFill>
                <a:latin typeface="Futura Lt BT Light"/>
                <a:cs typeface="Futura PT Book"/>
              </a:rPr>
              <a:t> </a:t>
            </a:r>
            <a:r>
              <a:rPr lang="pt-BR" spc="-10" dirty="0" err="1">
                <a:solidFill>
                  <a:srgbClr val="FFFFFF"/>
                </a:solidFill>
                <a:latin typeface="Futura Lt BT Light"/>
                <a:cs typeface="Futura PT Book"/>
              </a:rPr>
              <a:t>Appraiser</a:t>
            </a:r>
            <a:r>
              <a:rPr lang="pt-BR" spc="-10" dirty="0">
                <a:solidFill>
                  <a:srgbClr val="FFFFFF"/>
                </a:solidFill>
                <a:latin typeface="Futura Lt BT Light"/>
                <a:cs typeface="Futura PT Book"/>
              </a:rPr>
              <a:t> da American Society of </a:t>
            </a:r>
            <a:r>
              <a:rPr lang="pt-BR" spc="-10" dirty="0" err="1">
                <a:solidFill>
                  <a:srgbClr val="FFFFFF"/>
                </a:solidFill>
                <a:latin typeface="Futura Lt BT Light"/>
                <a:cs typeface="Futura PT Book"/>
              </a:rPr>
              <a:t>Appraisers</a:t>
            </a:r>
            <a:r>
              <a:rPr lang="pt-BR" spc="-10" dirty="0">
                <a:solidFill>
                  <a:srgbClr val="FFFFFF"/>
                </a:solidFill>
                <a:latin typeface="Futura Lt BT Light"/>
                <a:cs typeface="Futura PT Book"/>
              </a:rPr>
              <a:t> (ASA).</a:t>
            </a:r>
            <a:endParaRPr lang="pt-BR" dirty="0">
              <a:latin typeface="Futura Lt BT Light"/>
              <a:cs typeface="Futura PT Book"/>
            </a:endParaRPr>
          </a:p>
        </p:txBody>
      </p:sp>
      <p:grpSp>
        <p:nvGrpSpPr>
          <p:cNvPr id="27" name="object 27"/>
          <p:cNvGrpSpPr/>
          <p:nvPr/>
        </p:nvGrpSpPr>
        <p:grpSpPr>
          <a:xfrm>
            <a:off x="325120" y="1339767"/>
            <a:ext cx="19580860" cy="8756650"/>
            <a:chOff x="325120" y="1339767"/>
            <a:chExt cx="19580860" cy="8756650"/>
          </a:xfrm>
        </p:grpSpPr>
        <p:sp>
          <p:nvSpPr>
            <p:cNvPr id="28" name="object 28"/>
            <p:cNvSpPr/>
            <p:nvPr/>
          </p:nvSpPr>
          <p:spPr>
            <a:xfrm>
              <a:off x="325120" y="6536277"/>
              <a:ext cx="19580860" cy="3560445"/>
            </a:xfrm>
            <a:custGeom>
              <a:avLst/>
              <a:gdLst/>
              <a:ahLst/>
              <a:cxnLst/>
              <a:rect l="l" t="t" r="r" b="b"/>
              <a:pathLst>
                <a:path w="19580860" h="3560445">
                  <a:moveTo>
                    <a:pt x="20942" y="0"/>
                  </a:moveTo>
                  <a:lnTo>
                    <a:pt x="0" y="0"/>
                  </a:lnTo>
                  <a:lnTo>
                    <a:pt x="0" y="3560102"/>
                  </a:lnTo>
                  <a:lnTo>
                    <a:pt x="20942" y="3560102"/>
                  </a:lnTo>
                  <a:lnTo>
                    <a:pt x="20942" y="0"/>
                  </a:lnTo>
                  <a:close/>
                </a:path>
                <a:path w="19580860" h="3560445">
                  <a:moveTo>
                    <a:pt x="19580556" y="0"/>
                  </a:moveTo>
                  <a:lnTo>
                    <a:pt x="19559613" y="0"/>
                  </a:lnTo>
                  <a:lnTo>
                    <a:pt x="19559613" y="3560102"/>
                  </a:lnTo>
                  <a:lnTo>
                    <a:pt x="19580556" y="3560102"/>
                  </a:lnTo>
                  <a:lnTo>
                    <a:pt x="19580556" y="0"/>
                  </a:lnTo>
                  <a:close/>
                </a:path>
              </a:pathLst>
            </a:custGeom>
            <a:solidFill>
              <a:srgbClr val="C99C7B"/>
            </a:solidFill>
          </p:spPr>
          <p:txBody>
            <a:bodyPr wrap="square" lIns="0" tIns="0" rIns="0" bIns="0" rtlCol="0"/>
            <a:lstStyle/>
            <a:p>
              <a:endParaRPr/>
            </a:p>
          </p:txBody>
        </p:sp>
        <p:sp>
          <p:nvSpPr>
            <p:cNvPr id="29" name="object 29"/>
            <p:cNvSpPr/>
            <p:nvPr/>
          </p:nvSpPr>
          <p:spPr>
            <a:xfrm>
              <a:off x="17264964" y="1339779"/>
              <a:ext cx="2133600" cy="2976880"/>
            </a:xfrm>
            <a:custGeom>
              <a:avLst/>
              <a:gdLst/>
              <a:ahLst/>
              <a:cxnLst/>
              <a:rect l="l" t="t" r="r" b="b"/>
              <a:pathLst>
                <a:path w="2133600" h="2976879">
                  <a:moveTo>
                    <a:pt x="2133447" y="2463342"/>
                  </a:moveTo>
                  <a:lnTo>
                    <a:pt x="2120074" y="2446413"/>
                  </a:lnTo>
                  <a:lnTo>
                    <a:pt x="2107031" y="2429218"/>
                  </a:lnTo>
                  <a:lnTo>
                    <a:pt x="2083168" y="2405583"/>
                  </a:lnTo>
                  <a:lnTo>
                    <a:pt x="2037854" y="2348065"/>
                  </a:lnTo>
                  <a:lnTo>
                    <a:pt x="2016518" y="2314448"/>
                  </a:lnTo>
                  <a:lnTo>
                    <a:pt x="1996122" y="2277783"/>
                  </a:lnTo>
                  <a:lnTo>
                    <a:pt x="1976729" y="2238184"/>
                  </a:lnTo>
                  <a:lnTo>
                    <a:pt x="1958390" y="2195804"/>
                  </a:lnTo>
                  <a:lnTo>
                    <a:pt x="1941169" y="2150757"/>
                  </a:lnTo>
                  <a:lnTo>
                    <a:pt x="1925129" y="2103208"/>
                  </a:lnTo>
                  <a:lnTo>
                    <a:pt x="1910295" y="2053259"/>
                  </a:lnTo>
                  <a:lnTo>
                    <a:pt x="1896757" y="2001050"/>
                  </a:lnTo>
                  <a:lnTo>
                    <a:pt x="1884553" y="1946732"/>
                  </a:lnTo>
                  <a:lnTo>
                    <a:pt x="1873732" y="1890433"/>
                  </a:lnTo>
                  <a:lnTo>
                    <a:pt x="1864360" y="1832279"/>
                  </a:lnTo>
                  <a:lnTo>
                    <a:pt x="1856486" y="1772399"/>
                  </a:lnTo>
                  <a:lnTo>
                    <a:pt x="1850174" y="1710956"/>
                  </a:lnTo>
                  <a:lnTo>
                    <a:pt x="1845475" y="1648040"/>
                  </a:lnTo>
                  <a:lnTo>
                    <a:pt x="1842452" y="1583829"/>
                  </a:lnTo>
                  <a:lnTo>
                    <a:pt x="282968" y="1583829"/>
                  </a:lnTo>
                  <a:lnTo>
                    <a:pt x="279996" y="1647024"/>
                  </a:lnTo>
                  <a:lnTo>
                    <a:pt x="275399" y="1708950"/>
                  </a:lnTo>
                  <a:lnTo>
                    <a:pt x="269252" y="1769465"/>
                  </a:lnTo>
                  <a:lnTo>
                    <a:pt x="261594" y="1828457"/>
                  </a:lnTo>
                  <a:lnTo>
                    <a:pt x="252476" y="1885797"/>
                  </a:lnTo>
                  <a:lnTo>
                    <a:pt x="241960" y="1941347"/>
                  </a:lnTo>
                  <a:lnTo>
                    <a:pt x="230085" y="1995004"/>
                  </a:lnTo>
                  <a:lnTo>
                    <a:pt x="216916" y="2046605"/>
                  </a:lnTo>
                  <a:lnTo>
                    <a:pt x="202501" y="2096058"/>
                  </a:lnTo>
                  <a:lnTo>
                    <a:pt x="186905" y="2143214"/>
                  </a:lnTo>
                  <a:lnTo>
                    <a:pt x="170154" y="2187943"/>
                  </a:lnTo>
                  <a:lnTo>
                    <a:pt x="152323" y="2230132"/>
                  </a:lnTo>
                  <a:lnTo>
                    <a:pt x="133451" y="2269655"/>
                  </a:lnTo>
                  <a:lnTo>
                    <a:pt x="113601" y="2306370"/>
                  </a:lnTo>
                  <a:lnTo>
                    <a:pt x="92811" y="2340152"/>
                  </a:lnTo>
                  <a:lnTo>
                    <a:pt x="48666" y="2398433"/>
                  </a:lnTo>
                  <a:lnTo>
                    <a:pt x="36893" y="2414955"/>
                  </a:lnTo>
                  <a:lnTo>
                    <a:pt x="24879" y="2431313"/>
                  </a:lnTo>
                  <a:lnTo>
                    <a:pt x="12585" y="2447455"/>
                  </a:lnTo>
                  <a:lnTo>
                    <a:pt x="0" y="2463342"/>
                  </a:lnTo>
                  <a:lnTo>
                    <a:pt x="0" y="2976270"/>
                  </a:lnTo>
                  <a:lnTo>
                    <a:pt x="38836" y="2946908"/>
                  </a:lnTo>
                  <a:lnTo>
                    <a:pt x="76708" y="2916364"/>
                  </a:lnTo>
                  <a:lnTo>
                    <a:pt x="113588" y="2884678"/>
                  </a:lnTo>
                  <a:lnTo>
                    <a:pt x="149453" y="2851874"/>
                  </a:lnTo>
                  <a:lnTo>
                    <a:pt x="184264" y="2817965"/>
                  </a:lnTo>
                  <a:lnTo>
                    <a:pt x="217995" y="2782989"/>
                  </a:lnTo>
                  <a:lnTo>
                    <a:pt x="250634" y="2746972"/>
                  </a:lnTo>
                  <a:lnTo>
                    <a:pt x="282155" y="2709938"/>
                  </a:lnTo>
                  <a:lnTo>
                    <a:pt x="312508" y="2671927"/>
                  </a:lnTo>
                  <a:lnTo>
                    <a:pt x="341680" y="2632951"/>
                  </a:lnTo>
                  <a:lnTo>
                    <a:pt x="369646" y="2593048"/>
                  </a:lnTo>
                  <a:lnTo>
                    <a:pt x="396379" y="2552230"/>
                  </a:lnTo>
                  <a:lnTo>
                    <a:pt x="421843" y="2510536"/>
                  </a:lnTo>
                  <a:lnTo>
                    <a:pt x="446024" y="2467991"/>
                  </a:lnTo>
                  <a:lnTo>
                    <a:pt x="468884" y="2424633"/>
                  </a:lnTo>
                  <a:lnTo>
                    <a:pt x="490410" y="2380462"/>
                  </a:lnTo>
                  <a:lnTo>
                    <a:pt x="510552" y="2335530"/>
                  </a:lnTo>
                  <a:lnTo>
                    <a:pt x="529297" y="2289860"/>
                  </a:lnTo>
                  <a:lnTo>
                    <a:pt x="546620" y="2243467"/>
                  </a:lnTo>
                  <a:lnTo>
                    <a:pt x="562495" y="2196388"/>
                  </a:lnTo>
                  <a:lnTo>
                    <a:pt x="576884" y="2148649"/>
                  </a:lnTo>
                  <a:lnTo>
                    <a:pt x="589762" y="2100275"/>
                  </a:lnTo>
                  <a:lnTo>
                    <a:pt x="601116" y="2051291"/>
                  </a:lnTo>
                  <a:lnTo>
                    <a:pt x="610908" y="2001735"/>
                  </a:lnTo>
                  <a:lnTo>
                    <a:pt x="619112" y="1951621"/>
                  </a:lnTo>
                  <a:lnTo>
                    <a:pt x="625690" y="1900974"/>
                  </a:lnTo>
                  <a:lnTo>
                    <a:pt x="630643" y="1849843"/>
                  </a:lnTo>
                  <a:lnTo>
                    <a:pt x="915530" y="1849843"/>
                  </a:lnTo>
                  <a:lnTo>
                    <a:pt x="915530" y="2568054"/>
                  </a:lnTo>
                  <a:lnTo>
                    <a:pt x="1219123" y="2568054"/>
                  </a:lnTo>
                  <a:lnTo>
                    <a:pt x="1219123" y="1849843"/>
                  </a:lnTo>
                  <a:lnTo>
                    <a:pt x="1502778" y="1849843"/>
                  </a:lnTo>
                  <a:lnTo>
                    <a:pt x="1507731" y="1900974"/>
                  </a:lnTo>
                  <a:lnTo>
                    <a:pt x="1514322" y="1951621"/>
                  </a:lnTo>
                  <a:lnTo>
                    <a:pt x="1522514" y="2001735"/>
                  </a:lnTo>
                  <a:lnTo>
                    <a:pt x="1532305" y="2051291"/>
                  </a:lnTo>
                  <a:lnTo>
                    <a:pt x="1543659" y="2100275"/>
                  </a:lnTo>
                  <a:lnTo>
                    <a:pt x="1556550" y="2148649"/>
                  </a:lnTo>
                  <a:lnTo>
                    <a:pt x="1570939" y="2196388"/>
                  </a:lnTo>
                  <a:lnTo>
                    <a:pt x="1586814" y="2243467"/>
                  </a:lnTo>
                  <a:lnTo>
                    <a:pt x="1604137" y="2289860"/>
                  </a:lnTo>
                  <a:lnTo>
                    <a:pt x="1622882" y="2335530"/>
                  </a:lnTo>
                  <a:lnTo>
                    <a:pt x="1643037" y="2380462"/>
                  </a:lnTo>
                  <a:lnTo>
                    <a:pt x="1664550" y="2424633"/>
                  </a:lnTo>
                  <a:lnTo>
                    <a:pt x="1687410" y="2467991"/>
                  </a:lnTo>
                  <a:lnTo>
                    <a:pt x="1711591" y="2510536"/>
                  </a:lnTo>
                  <a:lnTo>
                    <a:pt x="1737055" y="2552230"/>
                  </a:lnTo>
                  <a:lnTo>
                    <a:pt x="1763788" y="2593048"/>
                  </a:lnTo>
                  <a:lnTo>
                    <a:pt x="1791754" y="2632951"/>
                  </a:lnTo>
                  <a:lnTo>
                    <a:pt x="1820938" y="2671927"/>
                  </a:lnTo>
                  <a:lnTo>
                    <a:pt x="1851291" y="2709938"/>
                  </a:lnTo>
                  <a:lnTo>
                    <a:pt x="1882800" y="2746972"/>
                  </a:lnTo>
                  <a:lnTo>
                    <a:pt x="1915452" y="2782989"/>
                  </a:lnTo>
                  <a:lnTo>
                    <a:pt x="1949183" y="2817965"/>
                  </a:lnTo>
                  <a:lnTo>
                    <a:pt x="1983994" y="2851874"/>
                  </a:lnTo>
                  <a:lnTo>
                    <a:pt x="2019858" y="2884678"/>
                  </a:lnTo>
                  <a:lnTo>
                    <a:pt x="2056739" y="2916364"/>
                  </a:lnTo>
                  <a:lnTo>
                    <a:pt x="2094611" y="2946908"/>
                  </a:lnTo>
                  <a:lnTo>
                    <a:pt x="2133447" y="2976270"/>
                  </a:lnTo>
                  <a:lnTo>
                    <a:pt x="2133447" y="2463342"/>
                  </a:lnTo>
                  <a:close/>
                </a:path>
                <a:path w="2133600" h="2976879">
                  <a:moveTo>
                    <a:pt x="2133447" y="0"/>
                  </a:moveTo>
                  <a:lnTo>
                    <a:pt x="2094611" y="29349"/>
                  </a:lnTo>
                  <a:lnTo>
                    <a:pt x="2056739" y="59880"/>
                  </a:lnTo>
                  <a:lnTo>
                    <a:pt x="2019858" y="91567"/>
                  </a:lnTo>
                  <a:lnTo>
                    <a:pt x="1983994" y="124371"/>
                  </a:lnTo>
                  <a:lnTo>
                    <a:pt x="1949183" y="158267"/>
                  </a:lnTo>
                  <a:lnTo>
                    <a:pt x="1915439" y="193243"/>
                  </a:lnTo>
                  <a:lnTo>
                    <a:pt x="1882800" y="229247"/>
                  </a:lnTo>
                  <a:lnTo>
                    <a:pt x="1851291" y="266268"/>
                  </a:lnTo>
                  <a:lnTo>
                    <a:pt x="1820938" y="304279"/>
                  </a:lnTo>
                  <a:lnTo>
                    <a:pt x="1791754" y="343255"/>
                  </a:lnTo>
                  <a:lnTo>
                    <a:pt x="1763788" y="383159"/>
                  </a:lnTo>
                  <a:lnTo>
                    <a:pt x="1737067" y="423976"/>
                  </a:lnTo>
                  <a:lnTo>
                    <a:pt x="1711591" y="465658"/>
                  </a:lnTo>
                  <a:lnTo>
                    <a:pt x="1687410" y="508203"/>
                  </a:lnTo>
                  <a:lnTo>
                    <a:pt x="1664550" y="551561"/>
                  </a:lnTo>
                  <a:lnTo>
                    <a:pt x="1643037" y="595731"/>
                  </a:lnTo>
                  <a:lnTo>
                    <a:pt x="1622894" y="640651"/>
                  </a:lnTo>
                  <a:lnTo>
                    <a:pt x="1604149" y="686333"/>
                  </a:lnTo>
                  <a:lnTo>
                    <a:pt x="1586826" y="732726"/>
                  </a:lnTo>
                  <a:lnTo>
                    <a:pt x="1570951" y="779805"/>
                  </a:lnTo>
                  <a:lnTo>
                    <a:pt x="1556562" y="827544"/>
                  </a:lnTo>
                  <a:lnTo>
                    <a:pt x="1543685" y="875919"/>
                  </a:lnTo>
                  <a:lnTo>
                    <a:pt x="1532331" y="924890"/>
                  </a:lnTo>
                  <a:lnTo>
                    <a:pt x="1522552" y="974458"/>
                  </a:lnTo>
                  <a:lnTo>
                    <a:pt x="1514348" y="1024572"/>
                  </a:lnTo>
                  <a:lnTo>
                    <a:pt x="1507769" y="1075207"/>
                  </a:lnTo>
                  <a:lnTo>
                    <a:pt x="1502816" y="1126350"/>
                  </a:lnTo>
                  <a:lnTo>
                    <a:pt x="1217917" y="1126350"/>
                  </a:lnTo>
                  <a:lnTo>
                    <a:pt x="1217917" y="408203"/>
                  </a:lnTo>
                  <a:lnTo>
                    <a:pt x="914298" y="408203"/>
                  </a:lnTo>
                  <a:lnTo>
                    <a:pt x="914298" y="1126350"/>
                  </a:lnTo>
                  <a:lnTo>
                    <a:pt x="630643" y="1126350"/>
                  </a:lnTo>
                  <a:lnTo>
                    <a:pt x="625690" y="1075207"/>
                  </a:lnTo>
                  <a:lnTo>
                    <a:pt x="619099" y="1024572"/>
                  </a:lnTo>
                  <a:lnTo>
                    <a:pt x="610908" y="974458"/>
                  </a:lnTo>
                  <a:lnTo>
                    <a:pt x="601116" y="924890"/>
                  </a:lnTo>
                  <a:lnTo>
                    <a:pt x="589762" y="875919"/>
                  </a:lnTo>
                  <a:lnTo>
                    <a:pt x="576872" y="827544"/>
                  </a:lnTo>
                  <a:lnTo>
                    <a:pt x="562483" y="779805"/>
                  </a:lnTo>
                  <a:lnTo>
                    <a:pt x="546620" y="732726"/>
                  </a:lnTo>
                  <a:lnTo>
                    <a:pt x="529297" y="686333"/>
                  </a:lnTo>
                  <a:lnTo>
                    <a:pt x="510552" y="640651"/>
                  </a:lnTo>
                  <a:lnTo>
                    <a:pt x="490397" y="595731"/>
                  </a:lnTo>
                  <a:lnTo>
                    <a:pt x="468884" y="551561"/>
                  </a:lnTo>
                  <a:lnTo>
                    <a:pt x="446024" y="508203"/>
                  </a:lnTo>
                  <a:lnTo>
                    <a:pt x="421843" y="465658"/>
                  </a:lnTo>
                  <a:lnTo>
                    <a:pt x="396379" y="423976"/>
                  </a:lnTo>
                  <a:lnTo>
                    <a:pt x="369646" y="383159"/>
                  </a:lnTo>
                  <a:lnTo>
                    <a:pt x="341680" y="343255"/>
                  </a:lnTo>
                  <a:lnTo>
                    <a:pt x="312508" y="304279"/>
                  </a:lnTo>
                  <a:lnTo>
                    <a:pt x="282143" y="266268"/>
                  </a:lnTo>
                  <a:lnTo>
                    <a:pt x="250634" y="229247"/>
                  </a:lnTo>
                  <a:lnTo>
                    <a:pt x="217995" y="193243"/>
                  </a:lnTo>
                  <a:lnTo>
                    <a:pt x="184264" y="158267"/>
                  </a:lnTo>
                  <a:lnTo>
                    <a:pt x="149440" y="124371"/>
                  </a:lnTo>
                  <a:lnTo>
                    <a:pt x="113588" y="91567"/>
                  </a:lnTo>
                  <a:lnTo>
                    <a:pt x="76708" y="59880"/>
                  </a:lnTo>
                  <a:lnTo>
                    <a:pt x="38836" y="29349"/>
                  </a:lnTo>
                  <a:lnTo>
                    <a:pt x="0" y="0"/>
                  </a:lnTo>
                  <a:lnTo>
                    <a:pt x="0" y="512889"/>
                  </a:lnTo>
                  <a:lnTo>
                    <a:pt x="19926" y="538403"/>
                  </a:lnTo>
                  <a:lnTo>
                    <a:pt x="26403" y="546976"/>
                  </a:lnTo>
                  <a:lnTo>
                    <a:pt x="73355" y="597725"/>
                  </a:lnTo>
                  <a:lnTo>
                    <a:pt x="116941" y="661784"/>
                  </a:lnTo>
                  <a:lnTo>
                    <a:pt x="137337" y="698461"/>
                  </a:lnTo>
                  <a:lnTo>
                    <a:pt x="156730" y="738060"/>
                  </a:lnTo>
                  <a:lnTo>
                    <a:pt x="175069" y="780453"/>
                  </a:lnTo>
                  <a:lnTo>
                    <a:pt x="192278" y="825500"/>
                  </a:lnTo>
                  <a:lnTo>
                    <a:pt x="208330" y="873061"/>
                  </a:lnTo>
                  <a:lnTo>
                    <a:pt x="223151" y="923010"/>
                  </a:lnTo>
                  <a:lnTo>
                    <a:pt x="236702" y="975207"/>
                  </a:lnTo>
                  <a:lnTo>
                    <a:pt x="248907" y="1029512"/>
                  </a:lnTo>
                  <a:lnTo>
                    <a:pt x="259727" y="1085811"/>
                  </a:lnTo>
                  <a:lnTo>
                    <a:pt x="269100" y="1143965"/>
                  </a:lnTo>
                  <a:lnTo>
                    <a:pt x="276974" y="1203833"/>
                  </a:lnTo>
                  <a:lnTo>
                    <a:pt x="283286" y="1265275"/>
                  </a:lnTo>
                  <a:lnTo>
                    <a:pt x="287985" y="1328166"/>
                  </a:lnTo>
                  <a:lnTo>
                    <a:pt x="291033" y="1392364"/>
                  </a:lnTo>
                  <a:lnTo>
                    <a:pt x="1850504" y="1392364"/>
                  </a:lnTo>
                  <a:lnTo>
                    <a:pt x="1853476" y="1329182"/>
                  </a:lnTo>
                  <a:lnTo>
                    <a:pt x="1858060" y="1267269"/>
                  </a:lnTo>
                  <a:lnTo>
                    <a:pt x="1864207" y="1206754"/>
                  </a:lnTo>
                  <a:lnTo>
                    <a:pt x="1871865" y="1147775"/>
                  </a:lnTo>
                  <a:lnTo>
                    <a:pt x="1880984" y="1090434"/>
                  </a:lnTo>
                  <a:lnTo>
                    <a:pt x="1891499" y="1034884"/>
                  </a:lnTo>
                  <a:lnTo>
                    <a:pt x="1903361" y="981240"/>
                  </a:lnTo>
                  <a:lnTo>
                    <a:pt x="1916531" y="929627"/>
                  </a:lnTo>
                  <a:lnTo>
                    <a:pt x="1930946" y="880173"/>
                  </a:lnTo>
                  <a:lnTo>
                    <a:pt x="1946554" y="833018"/>
                  </a:lnTo>
                  <a:lnTo>
                    <a:pt x="1963305" y="788289"/>
                  </a:lnTo>
                  <a:lnTo>
                    <a:pt x="1981136" y="746099"/>
                  </a:lnTo>
                  <a:lnTo>
                    <a:pt x="2000008" y="706577"/>
                  </a:lnTo>
                  <a:lnTo>
                    <a:pt x="2019858" y="669861"/>
                  </a:lnTo>
                  <a:lnTo>
                    <a:pt x="2040648" y="636066"/>
                  </a:lnTo>
                  <a:lnTo>
                    <a:pt x="2084793" y="577786"/>
                  </a:lnTo>
                  <a:lnTo>
                    <a:pt x="2096554" y="561276"/>
                  </a:lnTo>
                  <a:lnTo>
                    <a:pt x="2108568" y="544931"/>
                  </a:lnTo>
                  <a:lnTo>
                    <a:pt x="2120849" y="528789"/>
                  </a:lnTo>
                  <a:lnTo>
                    <a:pt x="2133447" y="512889"/>
                  </a:lnTo>
                  <a:lnTo>
                    <a:pt x="2133447" y="0"/>
                  </a:lnTo>
                  <a:close/>
                </a:path>
              </a:pathLst>
            </a:custGeom>
            <a:solidFill>
              <a:srgbClr val="C99C7B">
                <a:alpha val="19999"/>
              </a:srgbClr>
            </a:solidFill>
          </p:spPr>
          <p:txBody>
            <a:bodyPr wrap="square" lIns="0" tIns="0" rIns="0" bIns="0" rtlCol="0"/>
            <a:lstStyle/>
            <a:p>
              <a:endParaRPr/>
            </a:p>
          </p:txBody>
        </p:sp>
      </p:grpSp>
      <p:sp>
        <p:nvSpPr>
          <p:cNvPr id="30" name="object 9">
            <a:extLst>
              <a:ext uri="{FF2B5EF4-FFF2-40B4-BE49-F238E27FC236}">
                <a16:creationId xmlns:a16="http://schemas.microsoft.com/office/drawing/2014/main" id="{A603C30B-EA22-0F88-C66F-61FD23A65BB2}"/>
              </a:ext>
            </a:extLst>
          </p:cNvPr>
          <p:cNvSpPr txBox="1"/>
          <p:nvPr/>
        </p:nvSpPr>
        <p:spPr>
          <a:xfrm>
            <a:off x="9635490" y="7114617"/>
            <a:ext cx="4683760" cy="3430426"/>
          </a:xfrm>
          <a:prstGeom prst="rect">
            <a:avLst/>
          </a:prstGeom>
        </p:spPr>
        <p:txBody>
          <a:bodyPr vert="horz" wrap="square" lIns="0" tIns="16510" rIns="0" bIns="0" rtlCol="0">
            <a:spAutoFit/>
          </a:bodyPr>
          <a:lstStyle/>
          <a:p>
            <a:pPr marL="12700" algn="just">
              <a:spcAft>
                <a:spcPts val="600"/>
              </a:spcAft>
              <a:tabLst>
                <a:tab pos="1595755" algn="l"/>
                <a:tab pos="2030730" algn="l"/>
              </a:tabLst>
            </a:pPr>
            <a:r>
              <a:rPr lang="pt-BR" dirty="0">
                <a:solidFill>
                  <a:srgbClr val="FFFFFF"/>
                </a:solidFill>
                <a:latin typeface="Futura Lt BT Light"/>
                <a:cs typeface="Futura PT Book"/>
              </a:rPr>
              <a:t>Mestre  em  Administração  (FGV-RJ),  Economista (UFRJ) e Contador (UNESA), com cursos de ESADE Business  </a:t>
            </a:r>
            <a:r>
              <a:rPr lang="pt-BR" dirty="0" err="1">
                <a:solidFill>
                  <a:srgbClr val="FFFFFF"/>
                </a:solidFill>
                <a:latin typeface="Futura Lt BT Light"/>
                <a:cs typeface="Futura PT Book"/>
              </a:rPr>
              <a:t>School</a:t>
            </a:r>
            <a:r>
              <a:rPr lang="pt-BR" dirty="0">
                <a:solidFill>
                  <a:srgbClr val="FFFFFF"/>
                </a:solidFill>
                <a:latin typeface="Futura Lt BT Light"/>
                <a:cs typeface="Futura PT Book"/>
              </a:rPr>
              <a:t>  (Barcelona)  e  INDEG-ISCTE Lisboa), atua no mercado de avaliação há 10 anos liderando equipes nas áreas de Business Valuation, Gestão Imobiliária e Gestão de Ativo Fixo. Cursou o BV  301  -  Avaliação  de  Ativos  Intangíveis  pelo </a:t>
            </a:r>
            <a:r>
              <a:rPr lang="pt-BR" dirty="0" err="1">
                <a:solidFill>
                  <a:srgbClr val="FFFFFF"/>
                </a:solidFill>
                <a:latin typeface="Futura Lt BT Light"/>
                <a:cs typeface="Futura PT Book"/>
              </a:rPr>
              <a:t>Institute</a:t>
            </a:r>
            <a:r>
              <a:rPr lang="pt-BR" dirty="0">
                <a:solidFill>
                  <a:srgbClr val="FFFFFF"/>
                </a:solidFill>
                <a:latin typeface="Futura Lt BT Light"/>
                <a:cs typeface="Futura PT Book"/>
              </a:rPr>
              <a:t> of International Business Valuation (IIVB).</a:t>
            </a:r>
          </a:p>
          <a:p>
            <a:pPr marL="12700" algn="just">
              <a:spcBef>
                <a:spcPts val="130"/>
              </a:spcBef>
              <a:tabLst>
                <a:tab pos="1595755" algn="l"/>
                <a:tab pos="2030730" algn="l"/>
              </a:tabLst>
            </a:pPr>
            <a:endParaRPr lang="pt-BR" dirty="0">
              <a:solidFill>
                <a:srgbClr val="FFFFFF"/>
              </a:solidFill>
              <a:latin typeface="Futura Lt BT Light"/>
              <a:cs typeface="Futura PT Book"/>
            </a:endParaRPr>
          </a:p>
        </p:txBody>
      </p:sp>
      <p:sp>
        <p:nvSpPr>
          <p:cNvPr id="31" name="object 8">
            <a:extLst>
              <a:ext uri="{FF2B5EF4-FFF2-40B4-BE49-F238E27FC236}">
                <a16:creationId xmlns:a16="http://schemas.microsoft.com/office/drawing/2014/main" id="{92B36616-4B96-2D49-80CB-5C4E3DB76919}"/>
              </a:ext>
            </a:extLst>
          </p:cNvPr>
          <p:cNvSpPr txBox="1"/>
          <p:nvPr/>
        </p:nvSpPr>
        <p:spPr>
          <a:xfrm>
            <a:off x="9609087" y="6373540"/>
            <a:ext cx="4503043" cy="661078"/>
          </a:xfrm>
          <a:prstGeom prst="rect">
            <a:avLst/>
          </a:prstGeom>
        </p:spPr>
        <p:txBody>
          <a:bodyPr vert="horz" wrap="square" lIns="0" tIns="174625" rIns="0" bIns="0" rtlCol="0">
            <a:spAutoFit/>
          </a:bodyPr>
          <a:lstStyle/>
          <a:p>
            <a:pPr marL="45720">
              <a:lnSpc>
                <a:spcPct val="100000"/>
              </a:lnSpc>
              <a:spcBef>
                <a:spcPts val="1375"/>
              </a:spcBef>
            </a:pPr>
            <a:r>
              <a:rPr lang="pt-BR" sz="3150" dirty="0">
                <a:solidFill>
                  <a:srgbClr val="FFFFFF"/>
                </a:solidFill>
                <a:latin typeface="Futura PT Book"/>
                <a:cs typeface="Futura PT Book"/>
              </a:rPr>
              <a:t>MAURICIO EMERICK</a:t>
            </a:r>
            <a:endParaRPr sz="3150" dirty="0">
              <a:latin typeface="Futura PT Book"/>
              <a:cs typeface="Futura PT Book"/>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2" name="object 2"/>
          <p:cNvGrpSpPr/>
          <p:nvPr/>
        </p:nvGrpSpPr>
        <p:grpSpPr>
          <a:xfrm>
            <a:off x="0" y="5507675"/>
            <a:ext cx="20104100" cy="5786120"/>
            <a:chOff x="0" y="5507675"/>
            <a:chExt cx="20104100" cy="5786120"/>
          </a:xfrm>
        </p:grpSpPr>
        <p:sp>
          <p:nvSpPr>
            <p:cNvPr id="3" name="object 3"/>
            <p:cNvSpPr/>
            <p:nvPr/>
          </p:nvSpPr>
          <p:spPr>
            <a:xfrm>
              <a:off x="0" y="5507675"/>
              <a:ext cx="20104100" cy="5786120"/>
            </a:xfrm>
            <a:custGeom>
              <a:avLst/>
              <a:gdLst/>
              <a:ahLst/>
              <a:cxnLst/>
              <a:rect l="l" t="t" r="r" b="b"/>
              <a:pathLst>
                <a:path w="20104100" h="5786120">
                  <a:moveTo>
                    <a:pt x="20104099" y="0"/>
                  </a:moveTo>
                  <a:lnTo>
                    <a:pt x="0" y="0"/>
                  </a:lnTo>
                  <a:lnTo>
                    <a:pt x="0" y="5785750"/>
                  </a:lnTo>
                  <a:lnTo>
                    <a:pt x="20104099" y="5785750"/>
                  </a:lnTo>
                  <a:lnTo>
                    <a:pt x="20104099" y="0"/>
                  </a:lnTo>
                  <a:close/>
                </a:path>
              </a:pathLst>
            </a:custGeom>
            <a:solidFill>
              <a:srgbClr val="000000"/>
            </a:solidFill>
          </p:spPr>
          <p:txBody>
            <a:bodyPr wrap="square" lIns="0" tIns="0" rIns="0" bIns="0" rtlCol="0"/>
            <a:lstStyle/>
            <a:p>
              <a:endParaRPr/>
            </a:p>
          </p:txBody>
        </p:sp>
        <p:sp>
          <p:nvSpPr>
            <p:cNvPr id="4" name="object 4"/>
            <p:cNvSpPr/>
            <p:nvPr/>
          </p:nvSpPr>
          <p:spPr>
            <a:xfrm>
              <a:off x="17851984" y="7601807"/>
              <a:ext cx="1456690" cy="2032000"/>
            </a:xfrm>
            <a:custGeom>
              <a:avLst/>
              <a:gdLst/>
              <a:ahLst/>
              <a:cxnLst/>
              <a:rect l="l" t="t" r="r" b="b"/>
              <a:pathLst>
                <a:path w="1456690" h="2032000">
                  <a:moveTo>
                    <a:pt x="1456321" y="1681518"/>
                  </a:moveTo>
                  <a:lnTo>
                    <a:pt x="1438287" y="1658213"/>
                  </a:lnTo>
                  <a:lnTo>
                    <a:pt x="1414056" y="1633118"/>
                  </a:lnTo>
                  <a:lnTo>
                    <a:pt x="1391069" y="1602816"/>
                  </a:lnTo>
                  <a:lnTo>
                    <a:pt x="1369453" y="1567611"/>
                  </a:lnTo>
                  <a:lnTo>
                    <a:pt x="1349336" y="1527810"/>
                  </a:lnTo>
                  <a:lnTo>
                    <a:pt x="1330858" y="1483728"/>
                  </a:lnTo>
                  <a:lnTo>
                    <a:pt x="1314119" y="1435671"/>
                  </a:lnTo>
                  <a:lnTo>
                    <a:pt x="1299260" y="1383944"/>
                  </a:lnTo>
                  <a:lnTo>
                    <a:pt x="1286421" y="1328864"/>
                  </a:lnTo>
                  <a:lnTo>
                    <a:pt x="1275715" y="1270736"/>
                  </a:lnTo>
                  <a:lnTo>
                    <a:pt x="1267269" y="1209865"/>
                  </a:lnTo>
                  <a:lnTo>
                    <a:pt x="1261211" y="1146568"/>
                  </a:lnTo>
                  <a:lnTo>
                    <a:pt x="1257681" y="1081138"/>
                  </a:lnTo>
                  <a:lnTo>
                    <a:pt x="193167" y="1081138"/>
                  </a:lnTo>
                  <a:lnTo>
                    <a:pt x="189966" y="1141996"/>
                  </a:lnTo>
                  <a:lnTo>
                    <a:pt x="184581" y="1201039"/>
                  </a:lnTo>
                  <a:lnTo>
                    <a:pt x="177114" y="1258023"/>
                  </a:lnTo>
                  <a:lnTo>
                    <a:pt x="167665" y="1312684"/>
                  </a:lnTo>
                  <a:lnTo>
                    <a:pt x="156349" y="1364805"/>
                  </a:lnTo>
                  <a:lnTo>
                    <a:pt x="143268" y="1414106"/>
                  </a:lnTo>
                  <a:lnTo>
                    <a:pt x="128498" y="1460360"/>
                  </a:lnTo>
                  <a:lnTo>
                    <a:pt x="112179" y="1503311"/>
                  </a:lnTo>
                  <a:lnTo>
                    <a:pt x="94386" y="1542719"/>
                  </a:lnTo>
                  <a:lnTo>
                    <a:pt x="75222" y="1578343"/>
                  </a:lnTo>
                  <a:lnTo>
                    <a:pt x="33235" y="1637195"/>
                  </a:lnTo>
                  <a:lnTo>
                    <a:pt x="16992" y="1659648"/>
                  </a:lnTo>
                  <a:lnTo>
                    <a:pt x="8597" y="1670659"/>
                  </a:lnTo>
                  <a:lnTo>
                    <a:pt x="0" y="1681518"/>
                  </a:lnTo>
                  <a:lnTo>
                    <a:pt x="0" y="2031644"/>
                  </a:lnTo>
                  <a:lnTo>
                    <a:pt x="39522" y="2001266"/>
                  </a:lnTo>
                  <a:lnTo>
                    <a:pt x="77546" y="1969122"/>
                  </a:lnTo>
                  <a:lnTo>
                    <a:pt x="113995" y="1935238"/>
                  </a:lnTo>
                  <a:lnTo>
                    <a:pt x="148818" y="1899704"/>
                  </a:lnTo>
                  <a:lnTo>
                    <a:pt x="181952" y="1862569"/>
                  </a:lnTo>
                  <a:lnTo>
                    <a:pt x="213334" y="1823897"/>
                  </a:lnTo>
                  <a:lnTo>
                    <a:pt x="242900" y="1783740"/>
                  </a:lnTo>
                  <a:lnTo>
                    <a:pt x="270586" y="1742186"/>
                  </a:lnTo>
                  <a:lnTo>
                    <a:pt x="296329" y="1699272"/>
                  </a:lnTo>
                  <a:lnTo>
                    <a:pt x="320078" y="1655089"/>
                  </a:lnTo>
                  <a:lnTo>
                    <a:pt x="341757" y="1609661"/>
                  </a:lnTo>
                  <a:lnTo>
                    <a:pt x="361315" y="1563090"/>
                  </a:lnTo>
                  <a:lnTo>
                    <a:pt x="378675" y="1515414"/>
                  </a:lnTo>
                  <a:lnTo>
                    <a:pt x="393788" y="1466697"/>
                  </a:lnTo>
                  <a:lnTo>
                    <a:pt x="406590" y="1417015"/>
                  </a:lnTo>
                  <a:lnTo>
                    <a:pt x="417017" y="1366405"/>
                  </a:lnTo>
                  <a:lnTo>
                    <a:pt x="425005" y="1314958"/>
                  </a:lnTo>
                  <a:lnTo>
                    <a:pt x="430479" y="1262735"/>
                  </a:lnTo>
                  <a:lnTo>
                    <a:pt x="624954" y="1262735"/>
                  </a:lnTo>
                  <a:lnTo>
                    <a:pt x="624954" y="1752993"/>
                  </a:lnTo>
                  <a:lnTo>
                    <a:pt x="832205" y="1752993"/>
                  </a:lnTo>
                  <a:lnTo>
                    <a:pt x="832205" y="1262735"/>
                  </a:lnTo>
                  <a:lnTo>
                    <a:pt x="1025829" y="1262735"/>
                  </a:lnTo>
                  <a:lnTo>
                    <a:pt x="1031316" y="1314958"/>
                  </a:lnTo>
                  <a:lnTo>
                    <a:pt x="1039304" y="1366405"/>
                  </a:lnTo>
                  <a:lnTo>
                    <a:pt x="1049731" y="1417015"/>
                  </a:lnTo>
                  <a:lnTo>
                    <a:pt x="1062532" y="1466697"/>
                  </a:lnTo>
                  <a:lnTo>
                    <a:pt x="1077645" y="1515414"/>
                  </a:lnTo>
                  <a:lnTo>
                    <a:pt x="1095006" y="1563090"/>
                  </a:lnTo>
                  <a:lnTo>
                    <a:pt x="1114564" y="1609661"/>
                  </a:lnTo>
                  <a:lnTo>
                    <a:pt x="1136243" y="1655089"/>
                  </a:lnTo>
                  <a:lnTo>
                    <a:pt x="1159992" y="1699272"/>
                  </a:lnTo>
                  <a:lnTo>
                    <a:pt x="1185748" y="1742186"/>
                  </a:lnTo>
                  <a:lnTo>
                    <a:pt x="1213434" y="1783740"/>
                  </a:lnTo>
                  <a:lnTo>
                    <a:pt x="1242999" y="1823897"/>
                  </a:lnTo>
                  <a:lnTo>
                    <a:pt x="1274381" y="1862569"/>
                  </a:lnTo>
                  <a:lnTo>
                    <a:pt x="1307515" y="1899704"/>
                  </a:lnTo>
                  <a:lnTo>
                    <a:pt x="1342339" y="1935238"/>
                  </a:lnTo>
                  <a:lnTo>
                    <a:pt x="1378788" y="1969122"/>
                  </a:lnTo>
                  <a:lnTo>
                    <a:pt x="1416799" y="2001266"/>
                  </a:lnTo>
                  <a:lnTo>
                    <a:pt x="1456321" y="2031644"/>
                  </a:lnTo>
                  <a:lnTo>
                    <a:pt x="1456321" y="1681518"/>
                  </a:lnTo>
                  <a:close/>
                </a:path>
                <a:path w="1456690" h="2032000">
                  <a:moveTo>
                    <a:pt x="1456321" y="0"/>
                  </a:moveTo>
                  <a:lnTo>
                    <a:pt x="1416812" y="30353"/>
                  </a:lnTo>
                  <a:lnTo>
                    <a:pt x="1378788" y="62509"/>
                  </a:lnTo>
                  <a:lnTo>
                    <a:pt x="1342339" y="96380"/>
                  </a:lnTo>
                  <a:lnTo>
                    <a:pt x="1307515" y="131914"/>
                  </a:lnTo>
                  <a:lnTo>
                    <a:pt x="1274381" y="169049"/>
                  </a:lnTo>
                  <a:lnTo>
                    <a:pt x="1242999" y="207708"/>
                  </a:lnTo>
                  <a:lnTo>
                    <a:pt x="1213434" y="247853"/>
                  </a:lnTo>
                  <a:lnTo>
                    <a:pt x="1185748" y="289407"/>
                  </a:lnTo>
                  <a:lnTo>
                    <a:pt x="1160005" y="332320"/>
                  </a:lnTo>
                  <a:lnTo>
                    <a:pt x="1136256" y="376516"/>
                  </a:lnTo>
                  <a:lnTo>
                    <a:pt x="1114577" y="421932"/>
                  </a:lnTo>
                  <a:lnTo>
                    <a:pt x="1095019" y="468503"/>
                  </a:lnTo>
                  <a:lnTo>
                    <a:pt x="1077658" y="516178"/>
                  </a:lnTo>
                  <a:lnTo>
                    <a:pt x="1062545" y="564896"/>
                  </a:lnTo>
                  <a:lnTo>
                    <a:pt x="1049743" y="614578"/>
                  </a:lnTo>
                  <a:lnTo>
                    <a:pt x="1039317" y="665187"/>
                  </a:lnTo>
                  <a:lnTo>
                    <a:pt x="1031341" y="716635"/>
                  </a:lnTo>
                  <a:lnTo>
                    <a:pt x="1025855" y="768870"/>
                  </a:lnTo>
                  <a:lnTo>
                    <a:pt x="831367" y="768870"/>
                  </a:lnTo>
                  <a:lnTo>
                    <a:pt x="831367" y="278650"/>
                  </a:lnTo>
                  <a:lnTo>
                    <a:pt x="624116" y="278650"/>
                  </a:lnTo>
                  <a:lnTo>
                    <a:pt x="624116" y="768870"/>
                  </a:lnTo>
                  <a:lnTo>
                    <a:pt x="430491" y="768870"/>
                  </a:lnTo>
                  <a:lnTo>
                    <a:pt x="425005" y="716635"/>
                  </a:lnTo>
                  <a:lnTo>
                    <a:pt x="417017" y="665187"/>
                  </a:lnTo>
                  <a:lnTo>
                    <a:pt x="406590" y="614578"/>
                  </a:lnTo>
                  <a:lnTo>
                    <a:pt x="393801" y="564896"/>
                  </a:lnTo>
                  <a:lnTo>
                    <a:pt x="378675" y="516178"/>
                  </a:lnTo>
                  <a:lnTo>
                    <a:pt x="361315" y="468503"/>
                  </a:lnTo>
                  <a:lnTo>
                    <a:pt x="341757" y="421932"/>
                  </a:lnTo>
                  <a:lnTo>
                    <a:pt x="320078" y="376516"/>
                  </a:lnTo>
                  <a:lnTo>
                    <a:pt x="296329" y="332320"/>
                  </a:lnTo>
                  <a:lnTo>
                    <a:pt x="270586" y="289407"/>
                  </a:lnTo>
                  <a:lnTo>
                    <a:pt x="242900" y="247853"/>
                  </a:lnTo>
                  <a:lnTo>
                    <a:pt x="213334" y="207708"/>
                  </a:lnTo>
                  <a:lnTo>
                    <a:pt x="181952" y="169049"/>
                  </a:lnTo>
                  <a:lnTo>
                    <a:pt x="148818" y="131914"/>
                  </a:lnTo>
                  <a:lnTo>
                    <a:pt x="113995" y="96380"/>
                  </a:lnTo>
                  <a:lnTo>
                    <a:pt x="77546" y="62509"/>
                  </a:lnTo>
                  <a:lnTo>
                    <a:pt x="39535" y="30353"/>
                  </a:lnTo>
                  <a:lnTo>
                    <a:pt x="12" y="0"/>
                  </a:lnTo>
                  <a:lnTo>
                    <a:pt x="12" y="350100"/>
                  </a:lnTo>
                  <a:lnTo>
                    <a:pt x="18034" y="373367"/>
                  </a:lnTo>
                  <a:lnTo>
                    <a:pt x="42278" y="398475"/>
                  </a:lnTo>
                  <a:lnTo>
                    <a:pt x="65265" y="428790"/>
                  </a:lnTo>
                  <a:lnTo>
                    <a:pt x="86880" y="464007"/>
                  </a:lnTo>
                  <a:lnTo>
                    <a:pt x="106997" y="503821"/>
                  </a:lnTo>
                  <a:lnTo>
                    <a:pt x="125488" y="547903"/>
                  </a:lnTo>
                  <a:lnTo>
                    <a:pt x="142227" y="595960"/>
                  </a:lnTo>
                  <a:lnTo>
                    <a:pt x="157073" y="647687"/>
                  </a:lnTo>
                  <a:lnTo>
                    <a:pt x="169913" y="702767"/>
                  </a:lnTo>
                  <a:lnTo>
                    <a:pt x="180632" y="760895"/>
                  </a:lnTo>
                  <a:lnTo>
                    <a:pt x="189077" y="821753"/>
                  </a:lnTo>
                  <a:lnTo>
                    <a:pt x="195122" y="885037"/>
                  </a:lnTo>
                  <a:lnTo>
                    <a:pt x="198666" y="950455"/>
                  </a:lnTo>
                  <a:lnTo>
                    <a:pt x="1263192" y="950455"/>
                  </a:lnTo>
                  <a:lnTo>
                    <a:pt x="1266393" y="889596"/>
                  </a:lnTo>
                  <a:lnTo>
                    <a:pt x="1271778" y="830567"/>
                  </a:lnTo>
                  <a:lnTo>
                    <a:pt x="1279232" y="773595"/>
                  </a:lnTo>
                  <a:lnTo>
                    <a:pt x="1288669" y="718921"/>
                  </a:lnTo>
                  <a:lnTo>
                    <a:pt x="1299984" y="666813"/>
                  </a:lnTo>
                  <a:lnTo>
                    <a:pt x="1313078" y="617512"/>
                  </a:lnTo>
                  <a:lnTo>
                    <a:pt x="1327835" y="571258"/>
                  </a:lnTo>
                  <a:lnTo>
                    <a:pt x="1344155" y="528294"/>
                  </a:lnTo>
                  <a:lnTo>
                    <a:pt x="1361948" y="488886"/>
                  </a:lnTo>
                  <a:lnTo>
                    <a:pt x="1381112" y="453275"/>
                  </a:lnTo>
                  <a:lnTo>
                    <a:pt x="1423111" y="394411"/>
                  </a:lnTo>
                  <a:lnTo>
                    <a:pt x="1439341" y="371970"/>
                  </a:lnTo>
                  <a:lnTo>
                    <a:pt x="1447736" y="360959"/>
                  </a:lnTo>
                  <a:lnTo>
                    <a:pt x="1456321" y="350100"/>
                  </a:lnTo>
                  <a:lnTo>
                    <a:pt x="1456321" y="0"/>
                  </a:lnTo>
                  <a:close/>
                </a:path>
              </a:pathLst>
            </a:custGeom>
            <a:solidFill>
              <a:srgbClr val="C99C7B">
                <a:alpha val="19999"/>
              </a:srgbClr>
            </a:solidFill>
          </p:spPr>
          <p:txBody>
            <a:bodyPr wrap="square" lIns="0" tIns="0" rIns="0" bIns="0" rtlCol="0"/>
            <a:lstStyle/>
            <a:p>
              <a:endParaRPr/>
            </a:p>
          </p:txBody>
        </p:sp>
      </p:grpSp>
      <p:sp>
        <p:nvSpPr>
          <p:cNvPr id="5" name="object 5"/>
          <p:cNvSpPr txBox="1"/>
          <p:nvPr/>
        </p:nvSpPr>
        <p:spPr>
          <a:xfrm>
            <a:off x="1033896" y="6714058"/>
            <a:ext cx="15418954" cy="3546292"/>
          </a:xfrm>
          <a:prstGeom prst="rect">
            <a:avLst/>
          </a:prstGeom>
        </p:spPr>
        <p:txBody>
          <a:bodyPr vert="horz" wrap="square" lIns="0" tIns="15240" rIns="0" bIns="0" rtlCol="0">
            <a:spAutoFit/>
          </a:bodyPr>
          <a:lstStyle/>
          <a:p>
            <a:pPr marL="12700" algn="just">
              <a:lnSpc>
                <a:spcPct val="100000"/>
              </a:lnSpc>
              <a:spcBef>
                <a:spcPts val="120"/>
              </a:spcBef>
            </a:pPr>
            <a:r>
              <a:rPr sz="2450" dirty="0">
                <a:solidFill>
                  <a:srgbClr val="FBFBFB"/>
                </a:solidFill>
                <a:latin typeface="Futura Lt BT Light"/>
                <a:cs typeface="Futura PT Book"/>
              </a:rPr>
              <a:t>A</a:t>
            </a:r>
            <a:r>
              <a:rPr sz="2450" spc="295" dirty="0">
                <a:solidFill>
                  <a:srgbClr val="FBFBFB"/>
                </a:solidFill>
                <a:latin typeface="Futura Lt BT Light"/>
                <a:cs typeface="Futura PT Book"/>
              </a:rPr>
              <a:t> </a:t>
            </a:r>
            <a:r>
              <a:rPr sz="2450" dirty="0">
                <a:solidFill>
                  <a:srgbClr val="FBFBFB"/>
                </a:solidFill>
                <a:latin typeface="Futura Lt BT Light"/>
                <a:cs typeface="Futura PT Book"/>
              </a:rPr>
              <a:t>Meden</a:t>
            </a:r>
            <a:r>
              <a:rPr sz="2450" spc="300" dirty="0">
                <a:solidFill>
                  <a:srgbClr val="FBFBFB"/>
                </a:solidFill>
                <a:latin typeface="Futura Lt BT Light"/>
                <a:cs typeface="Futura PT Book"/>
              </a:rPr>
              <a:t> </a:t>
            </a:r>
            <a:r>
              <a:rPr sz="2450" dirty="0">
                <a:solidFill>
                  <a:srgbClr val="FBFBFB"/>
                </a:solidFill>
                <a:latin typeface="Futura Lt BT Light"/>
                <a:cs typeface="Futura PT Book"/>
              </a:rPr>
              <a:t>Consultoria</a:t>
            </a:r>
            <a:r>
              <a:rPr sz="2450" spc="295" dirty="0">
                <a:solidFill>
                  <a:srgbClr val="FBFBFB"/>
                </a:solidFill>
                <a:latin typeface="Futura Lt BT Light"/>
                <a:cs typeface="Futura PT Book"/>
              </a:rPr>
              <a:t> </a:t>
            </a:r>
            <a:r>
              <a:rPr sz="2450" spc="-10" dirty="0">
                <a:solidFill>
                  <a:srgbClr val="FBFBFB"/>
                </a:solidFill>
                <a:latin typeface="Futura Lt BT Light"/>
                <a:cs typeface="Futura PT Book"/>
              </a:rPr>
              <a:t>responsabiliza-</a:t>
            </a:r>
            <a:r>
              <a:rPr sz="2450" dirty="0">
                <a:solidFill>
                  <a:srgbClr val="FBFBFB"/>
                </a:solidFill>
                <a:latin typeface="Futura Lt BT Light"/>
                <a:cs typeface="Futura PT Book"/>
              </a:rPr>
              <a:t>se</a:t>
            </a:r>
            <a:r>
              <a:rPr sz="2450" spc="300" dirty="0">
                <a:solidFill>
                  <a:srgbClr val="FBFBFB"/>
                </a:solidFill>
                <a:latin typeface="Futura Lt BT Light"/>
                <a:cs typeface="Futura PT Book"/>
              </a:rPr>
              <a:t> </a:t>
            </a:r>
            <a:r>
              <a:rPr sz="2450" dirty="0">
                <a:solidFill>
                  <a:srgbClr val="FBFBFB"/>
                </a:solidFill>
                <a:latin typeface="Futura Lt BT Light"/>
                <a:cs typeface="Futura PT Book"/>
              </a:rPr>
              <a:t>por</a:t>
            </a:r>
            <a:r>
              <a:rPr sz="2450" spc="295" dirty="0">
                <a:solidFill>
                  <a:srgbClr val="FBFBFB"/>
                </a:solidFill>
                <a:latin typeface="Futura Lt BT Light"/>
                <a:cs typeface="Futura PT Book"/>
              </a:rPr>
              <a:t> </a:t>
            </a:r>
            <a:r>
              <a:rPr sz="2450" dirty="0">
                <a:solidFill>
                  <a:srgbClr val="FBFBFB"/>
                </a:solidFill>
                <a:latin typeface="Futura Lt BT Light"/>
                <a:cs typeface="Futura PT Book"/>
              </a:rPr>
              <a:t>manter</a:t>
            </a:r>
            <a:r>
              <a:rPr sz="2450" spc="300" dirty="0">
                <a:solidFill>
                  <a:srgbClr val="FBFBFB"/>
                </a:solidFill>
                <a:latin typeface="Futura Lt BT Light"/>
                <a:cs typeface="Futura PT Book"/>
              </a:rPr>
              <a:t> </a:t>
            </a:r>
            <a:r>
              <a:rPr sz="2450" dirty="0">
                <a:solidFill>
                  <a:srgbClr val="FBFBFB"/>
                </a:solidFill>
                <a:latin typeface="Futura Lt BT Light"/>
                <a:cs typeface="Futura PT Book"/>
              </a:rPr>
              <a:t>em</a:t>
            </a:r>
            <a:r>
              <a:rPr sz="2450" spc="295" dirty="0">
                <a:solidFill>
                  <a:srgbClr val="FBFBFB"/>
                </a:solidFill>
                <a:latin typeface="Futura Lt BT Light"/>
                <a:cs typeface="Futura PT Book"/>
              </a:rPr>
              <a:t> </a:t>
            </a:r>
            <a:r>
              <a:rPr sz="2450" dirty="0">
                <a:solidFill>
                  <a:srgbClr val="FBFBFB"/>
                </a:solidFill>
                <a:latin typeface="Futura Lt BT Light"/>
                <a:cs typeface="Futura PT Book"/>
              </a:rPr>
              <a:t>caráter</a:t>
            </a:r>
            <a:r>
              <a:rPr sz="2450" spc="295" dirty="0">
                <a:solidFill>
                  <a:srgbClr val="FBFBFB"/>
                </a:solidFill>
                <a:latin typeface="Futura Lt BT Light"/>
                <a:cs typeface="Futura PT Book"/>
              </a:rPr>
              <a:t> </a:t>
            </a:r>
            <a:r>
              <a:rPr sz="2450" dirty="0">
                <a:solidFill>
                  <a:srgbClr val="FBFBFB"/>
                </a:solidFill>
                <a:latin typeface="Futura Lt BT Light"/>
                <a:cs typeface="Futura PT Book"/>
              </a:rPr>
              <a:t>confidencial</a:t>
            </a:r>
            <a:r>
              <a:rPr sz="2450" spc="300" dirty="0">
                <a:solidFill>
                  <a:srgbClr val="FBFBFB"/>
                </a:solidFill>
                <a:latin typeface="Futura Lt BT Light"/>
                <a:cs typeface="Futura PT Book"/>
              </a:rPr>
              <a:t> </a:t>
            </a:r>
            <a:r>
              <a:rPr sz="2450" dirty="0">
                <a:solidFill>
                  <a:srgbClr val="FBFBFB"/>
                </a:solidFill>
                <a:latin typeface="Futura Lt BT Light"/>
                <a:cs typeface="Futura PT Book"/>
              </a:rPr>
              <a:t>e</a:t>
            </a:r>
            <a:r>
              <a:rPr sz="2450" spc="295" dirty="0">
                <a:solidFill>
                  <a:srgbClr val="FBFBFB"/>
                </a:solidFill>
                <a:latin typeface="Futura Lt BT Light"/>
                <a:cs typeface="Futura PT Book"/>
              </a:rPr>
              <a:t> </a:t>
            </a:r>
            <a:r>
              <a:rPr sz="2450" dirty="0">
                <a:solidFill>
                  <a:srgbClr val="FBFBFB"/>
                </a:solidFill>
                <a:latin typeface="Futura Lt BT Light"/>
                <a:cs typeface="Futura PT Book"/>
              </a:rPr>
              <a:t>sigiloso,</a:t>
            </a:r>
            <a:r>
              <a:rPr sz="2450" spc="300" dirty="0">
                <a:solidFill>
                  <a:srgbClr val="FBFBFB"/>
                </a:solidFill>
                <a:latin typeface="Futura Lt BT Light"/>
                <a:cs typeface="Futura PT Book"/>
              </a:rPr>
              <a:t> </a:t>
            </a:r>
            <a:r>
              <a:rPr sz="2450" dirty="0">
                <a:solidFill>
                  <a:srgbClr val="FBFBFB"/>
                </a:solidFill>
                <a:latin typeface="Futura Lt BT Light"/>
                <a:cs typeface="Futura PT Book"/>
              </a:rPr>
              <a:t>por</a:t>
            </a:r>
            <a:r>
              <a:rPr sz="2450" spc="295" dirty="0">
                <a:solidFill>
                  <a:srgbClr val="FBFBFB"/>
                </a:solidFill>
                <a:latin typeface="Futura Lt BT Light"/>
                <a:cs typeface="Futura PT Book"/>
              </a:rPr>
              <a:t> </a:t>
            </a:r>
            <a:r>
              <a:rPr sz="2450" spc="-10" dirty="0">
                <a:solidFill>
                  <a:srgbClr val="FBFBFB"/>
                </a:solidFill>
                <a:latin typeface="Futura Lt BT Light"/>
                <a:cs typeface="Futura PT Book"/>
              </a:rPr>
              <a:t>prazo</a:t>
            </a:r>
            <a:endParaRPr sz="2450" dirty="0">
              <a:latin typeface="Futura Lt BT Light"/>
              <a:cs typeface="Futura PT Book"/>
            </a:endParaRPr>
          </a:p>
          <a:p>
            <a:pPr marL="12700" marR="5080" algn="just">
              <a:lnSpc>
                <a:spcPts val="4950"/>
              </a:lnSpc>
              <a:spcBef>
                <a:spcPts val="300"/>
              </a:spcBef>
            </a:pPr>
            <a:r>
              <a:rPr sz="2450" dirty="0">
                <a:solidFill>
                  <a:srgbClr val="FBFBFB"/>
                </a:solidFill>
                <a:latin typeface="Futura Lt BT Light"/>
                <a:cs typeface="Futura PT Book"/>
              </a:rPr>
              <a:t>indeterminado,</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todas</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e</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quaisquer</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informações</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que</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tiver</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acesso</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durante</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a</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execução</a:t>
            </a:r>
            <a:r>
              <a:rPr sz="2450" spc="245" dirty="0">
                <a:solidFill>
                  <a:srgbClr val="FBFBFB"/>
                </a:solidFill>
                <a:latin typeface="Futura Lt BT Light"/>
                <a:cs typeface="Futura PT Book"/>
              </a:rPr>
              <a:t> </a:t>
            </a:r>
            <a:r>
              <a:rPr sz="2450" dirty="0">
                <a:solidFill>
                  <a:srgbClr val="FBFBFB"/>
                </a:solidFill>
                <a:latin typeface="Futura Lt BT Light"/>
                <a:cs typeface="Futura PT Book"/>
              </a:rPr>
              <a:t>dos</a:t>
            </a:r>
            <a:r>
              <a:rPr sz="2450" spc="245" dirty="0">
                <a:solidFill>
                  <a:srgbClr val="FBFBFB"/>
                </a:solidFill>
                <a:latin typeface="Futura Lt BT Light"/>
                <a:cs typeface="Futura PT Book"/>
              </a:rPr>
              <a:t> </a:t>
            </a:r>
            <a:r>
              <a:rPr sz="2450" spc="-10" dirty="0">
                <a:solidFill>
                  <a:srgbClr val="FBFBFB"/>
                </a:solidFill>
                <a:latin typeface="Futura Lt BT Light"/>
                <a:cs typeface="Futura PT Book"/>
              </a:rPr>
              <a:t>serviços. </a:t>
            </a:r>
            <a:r>
              <a:rPr sz="2450" dirty="0">
                <a:solidFill>
                  <a:srgbClr val="FBFBFB"/>
                </a:solidFill>
                <a:latin typeface="Futura Lt BT Light"/>
                <a:cs typeface="Futura PT Book"/>
              </a:rPr>
              <a:t>Para</a:t>
            </a:r>
            <a:r>
              <a:rPr sz="2450" spc="60" dirty="0">
                <a:solidFill>
                  <a:srgbClr val="FBFBFB"/>
                </a:solidFill>
                <a:latin typeface="Futura Lt BT Light"/>
                <a:cs typeface="Futura PT Book"/>
              </a:rPr>
              <a:t>  </a:t>
            </a:r>
            <a:r>
              <a:rPr sz="2450" dirty="0">
                <a:solidFill>
                  <a:srgbClr val="FBFBFB"/>
                </a:solidFill>
                <a:latin typeface="Futura Lt BT Light"/>
                <a:cs typeface="Futura PT Book"/>
              </a:rPr>
              <a:t>esses</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efeitos</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serão</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consideradas</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confidenciais</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informações</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que</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englobam,</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mas</a:t>
            </a:r>
            <a:r>
              <a:rPr sz="2450" spc="70" dirty="0">
                <a:solidFill>
                  <a:srgbClr val="FBFBFB"/>
                </a:solidFill>
                <a:latin typeface="Futura Lt BT Light"/>
                <a:cs typeface="Futura PT Book"/>
              </a:rPr>
              <a:t>  </a:t>
            </a:r>
            <a:r>
              <a:rPr sz="2450" dirty="0">
                <a:solidFill>
                  <a:srgbClr val="FBFBFB"/>
                </a:solidFill>
                <a:latin typeface="Futura Lt BT Light"/>
                <a:cs typeface="Futura PT Book"/>
              </a:rPr>
              <a:t>não</a:t>
            </a:r>
            <a:r>
              <a:rPr sz="2450" spc="75" dirty="0">
                <a:solidFill>
                  <a:srgbClr val="FBFBFB"/>
                </a:solidFill>
                <a:latin typeface="Futura Lt BT Light"/>
                <a:cs typeface="Futura PT Book"/>
              </a:rPr>
              <a:t>  </a:t>
            </a:r>
            <a:r>
              <a:rPr sz="2450" spc="-25" dirty="0">
                <a:solidFill>
                  <a:srgbClr val="FBFBFB"/>
                </a:solidFill>
                <a:latin typeface="Futura Lt BT Light"/>
                <a:cs typeface="Futura PT Book"/>
              </a:rPr>
              <a:t>se </a:t>
            </a:r>
            <a:r>
              <a:rPr sz="2450" dirty="0">
                <a:solidFill>
                  <a:srgbClr val="FBFBFB"/>
                </a:solidFill>
                <a:latin typeface="Futura Lt BT Light"/>
                <a:cs typeface="Futura PT Book"/>
              </a:rPr>
              <a:t>limitam,</a:t>
            </a:r>
            <a:r>
              <a:rPr sz="2450" spc="175" dirty="0">
                <a:solidFill>
                  <a:srgbClr val="FBFBFB"/>
                </a:solidFill>
                <a:latin typeface="Futura Lt BT Light"/>
                <a:cs typeface="Futura PT Book"/>
              </a:rPr>
              <a:t> </a:t>
            </a:r>
            <a:r>
              <a:rPr sz="2450" dirty="0">
                <a:solidFill>
                  <a:srgbClr val="FBFBFB"/>
                </a:solidFill>
                <a:latin typeface="Futura Lt BT Light"/>
                <a:cs typeface="Futura PT Book"/>
              </a:rPr>
              <a:t>a:</a:t>
            </a:r>
            <a:r>
              <a:rPr sz="2450" spc="180" dirty="0">
                <a:solidFill>
                  <a:srgbClr val="FBFBFB"/>
                </a:solidFill>
                <a:latin typeface="Futura Lt BT Light"/>
                <a:cs typeface="Futura PT Book"/>
              </a:rPr>
              <a:t> </a:t>
            </a:r>
            <a:r>
              <a:rPr sz="2450" dirty="0">
                <a:solidFill>
                  <a:srgbClr val="FBFBFB"/>
                </a:solidFill>
                <a:latin typeface="Futura Lt BT Light"/>
                <a:cs typeface="Futura PT Book"/>
              </a:rPr>
              <a:t>bancos</a:t>
            </a:r>
            <a:r>
              <a:rPr sz="2450" spc="175" dirty="0">
                <a:solidFill>
                  <a:srgbClr val="FBFBFB"/>
                </a:solidFill>
                <a:latin typeface="Futura Lt BT Light"/>
                <a:cs typeface="Futura PT Book"/>
              </a:rPr>
              <a:t> </a:t>
            </a:r>
            <a:r>
              <a:rPr sz="2450" dirty="0">
                <a:solidFill>
                  <a:srgbClr val="FBFBFB"/>
                </a:solidFill>
                <a:latin typeface="Futura Lt BT Light"/>
                <a:cs typeface="Futura PT Book"/>
              </a:rPr>
              <a:t>de</a:t>
            </a:r>
            <a:r>
              <a:rPr sz="2450" spc="175" dirty="0">
                <a:solidFill>
                  <a:srgbClr val="FBFBFB"/>
                </a:solidFill>
                <a:latin typeface="Futura Lt BT Light"/>
                <a:cs typeface="Futura PT Book"/>
              </a:rPr>
              <a:t> </a:t>
            </a:r>
            <a:r>
              <a:rPr sz="2450" dirty="0">
                <a:solidFill>
                  <a:srgbClr val="FBFBFB"/>
                </a:solidFill>
                <a:latin typeface="Futura Lt BT Light"/>
                <a:cs typeface="Futura PT Book"/>
              </a:rPr>
              <a:t>dados,</a:t>
            </a:r>
            <a:r>
              <a:rPr sz="2450" spc="180" dirty="0">
                <a:solidFill>
                  <a:srgbClr val="FBFBFB"/>
                </a:solidFill>
                <a:latin typeface="Futura Lt BT Light"/>
                <a:cs typeface="Futura PT Book"/>
              </a:rPr>
              <a:t> </a:t>
            </a:r>
            <a:r>
              <a:rPr sz="2450" dirty="0">
                <a:solidFill>
                  <a:srgbClr val="FBFBFB"/>
                </a:solidFill>
                <a:latin typeface="Futura Lt BT Light"/>
                <a:cs typeface="Futura PT Book"/>
              </a:rPr>
              <a:t>relatórios,</a:t>
            </a:r>
            <a:r>
              <a:rPr sz="2450" spc="175" dirty="0">
                <a:solidFill>
                  <a:srgbClr val="FBFBFB"/>
                </a:solidFill>
                <a:latin typeface="Futura Lt BT Light"/>
                <a:cs typeface="Futura PT Book"/>
              </a:rPr>
              <a:t> </a:t>
            </a:r>
            <a:r>
              <a:rPr sz="2450" dirty="0">
                <a:solidFill>
                  <a:srgbClr val="FBFBFB"/>
                </a:solidFill>
                <a:latin typeface="Futura Lt BT Light"/>
                <a:cs typeface="Futura PT Book"/>
              </a:rPr>
              <a:t>dados</a:t>
            </a:r>
            <a:r>
              <a:rPr sz="2450" spc="180" dirty="0">
                <a:solidFill>
                  <a:srgbClr val="FBFBFB"/>
                </a:solidFill>
                <a:latin typeface="Futura Lt BT Light"/>
                <a:cs typeface="Futura PT Book"/>
              </a:rPr>
              <a:t> </a:t>
            </a:r>
            <a:r>
              <a:rPr sz="2450" dirty="0">
                <a:solidFill>
                  <a:srgbClr val="FBFBFB"/>
                </a:solidFill>
                <a:latin typeface="Futura Lt BT Light"/>
                <a:cs typeface="Futura PT Book"/>
              </a:rPr>
              <a:t>financeiros;</a:t>
            </a:r>
            <a:r>
              <a:rPr sz="2450" spc="175" dirty="0">
                <a:solidFill>
                  <a:srgbClr val="FBFBFB"/>
                </a:solidFill>
                <a:latin typeface="Futura Lt BT Light"/>
                <a:cs typeface="Futura PT Book"/>
              </a:rPr>
              <a:t> </a:t>
            </a:r>
            <a:r>
              <a:rPr sz="2450" dirty="0">
                <a:solidFill>
                  <a:srgbClr val="FBFBFB"/>
                </a:solidFill>
                <a:latin typeface="Futura Lt BT Light"/>
                <a:cs typeface="Futura PT Book"/>
              </a:rPr>
              <a:t>informações</a:t>
            </a:r>
            <a:r>
              <a:rPr sz="2450" spc="175" dirty="0">
                <a:solidFill>
                  <a:srgbClr val="FBFBFB"/>
                </a:solidFill>
                <a:latin typeface="Futura Lt BT Light"/>
                <a:cs typeface="Futura PT Book"/>
              </a:rPr>
              <a:t> </a:t>
            </a:r>
            <a:r>
              <a:rPr sz="2450" dirty="0">
                <a:solidFill>
                  <a:srgbClr val="FBFBFB"/>
                </a:solidFill>
                <a:latin typeface="Futura Lt BT Light"/>
                <a:cs typeface="Futura PT Book"/>
              </a:rPr>
              <a:t>relativas</a:t>
            </a:r>
            <a:r>
              <a:rPr sz="2450" spc="180" dirty="0">
                <a:solidFill>
                  <a:srgbClr val="FBFBFB"/>
                </a:solidFill>
                <a:latin typeface="Futura Lt BT Light"/>
                <a:cs typeface="Futura PT Book"/>
              </a:rPr>
              <a:t> </a:t>
            </a:r>
            <a:r>
              <a:rPr sz="2450" dirty="0">
                <a:solidFill>
                  <a:srgbClr val="FBFBFB"/>
                </a:solidFill>
                <a:latin typeface="Futura Lt BT Light"/>
                <a:cs typeface="Futura PT Book"/>
              </a:rPr>
              <a:t>a</a:t>
            </a:r>
            <a:r>
              <a:rPr sz="2450" spc="175" dirty="0">
                <a:solidFill>
                  <a:srgbClr val="FBFBFB"/>
                </a:solidFill>
                <a:latin typeface="Futura Lt BT Light"/>
                <a:cs typeface="Futura PT Book"/>
              </a:rPr>
              <a:t> </a:t>
            </a:r>
            <a:r>
              <a:rPr sz="2450" dirty="0">
                <a:solidFill>
                  <a:srgbClr val="FBFBFB"/>
                </a:solidFill>
                <a:latin typeface="Futura Lt BT Light"/>
                <a:cs typeface="Futura PT Book"/>
              </a:rPr>
              <a:t>contratos,</a:t>
            </a:r>
            <a:r>
              <a:rPr sz="2450" spc="175" dirty="0">
                <a:solidFill>
                  <a:srgbClr val="FBFBFB"/>
                </a:solidFill>
                <a:latin typeface="Futura Lt BT Light"/>
                <a:cs typeface="Futura PT Book"/>
              </a:rPr>
              <a:t> </a:t>
            </a:r>
            <a:r>
              <a:rPr sz="2450" spc="-20" dirty="0">
                <a:solidFill>
                  <a:srgbClr val="FBFBFB"/>
                </a:solidFill>
                <a:latin typeface="Futura Lt BT Light"/>
                <a:cs typeface="Futura PT Book"/>
              </a:rPr>
              <a:t>além </a:t>
            </a:r>
            <a:r>
              <a:rPr sz="2450" dirty="0">
                <a:solidFill>
                  <a:srgbClr val="FBFBFB"/>
                </a:solidFill>
                <a:latin typeface="Futura Lt BT Light"/>
                <a:cs typeface="Futura PT Book"/>
              </a:rPr>
              <a:t>de</a:t>
            </a:r>
            <a:r>
              <a:rPr sz="2450" spc="470" dirty="0">
                <a:solidFill>
                  <a:srgbClr val="FBFBFB"/>
                </a:solidFill>
                <a:latin typeface="Futura Lt BT Light"/>
                <a:cs typeface="Futura PT Book"/>
              </a:rPr>
              <a:t> </a:t>
            </a:r>
            <a:r>
              <a:rPr sz="2450" dirty="0">
                <a:solidFill>
                  <a:srgbClr val="FBFBFB"/>
                </a:solidFill>
                <a:latin typeface="Futura Lt BT Light"/>
                <a:cs typeface="Futura PT Book"/>
              </a:rPr>
              <a:t>outras</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obtidas</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de</a:t>
            </a:r>
            <a:r>
              <a:rPr sz="2450" spc="484" dirty="0">
                <a:solidFill>
                  <a:srgbClr val="FBFBFB"/>
                </a:solidFill>
                <a:latin typeface="Futura Lt BT Light"/>
                <a:cs typeface="Futura PT Book"/>
              </a:rPr>
              <a:t> </a:t>
            </a:r>
            <a:r>
              <a:rPr sz="2450" dirty="0">
                <a:solidFill>
                  <a:srgbClr val="FBFBFB"/>
                </a:solidFill>
                <a:latin typeface="Futura Lt BT Light"/>
                <a:cs typeface="Futura PT Book"/>
              </a:rPr>
              <a:t>forma</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oral,</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escrita,</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gravada</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ou</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divulgada</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por</a:t>
            </a:r>
            <a:r>
              <a:rPr sz="2450" spc="484" dirty="0">
                <a:solidFill>
                  <a:srgbClr val="FBFBFB"/>
                </a:solidFill>
                <a:latin typeface="Futura Lt BT Light"/>
                <a:cs typeface="Futura PT Book"/>
              </a:rPr>
              <a:t> </a:t>
            </a:r>
            <a:r>
              <a:rPr sz="2450" dirty="0">
                <a:solidFill>
                  <a:srgbClr val="FBFBFB"/>
                </a:solidFill>
                <a:latin typeface="Futura Lt BT Light"/>
                <a:cs typeface="Futura PT Book"/>
              </a:rPr>
              <a:t>outro</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meio</a:t>
            </a:r>
            <a:r>
              <a:rPr sz="2450" spc="480" dirty="0">
                <a:solidFill>
                  <a:srgbClr val="FBFBFB"/>
                </a:solidFill>
                <a:latin typeface="Futura Lt BT Light"/>
                <a:cs typeface="Futura PT Book"/>
              </a:rPr>
              <a:t> </a:t>
            </a:r>
            <a:r>
              <a:rPr sz="2450" dirty="0">
                <a:solidFill>
                  <a:srgbClr val="FBFBFB"/>
                </a:solidFill>
                <a:latin typeface="Futura Lt BT Light"/>
                <a:cs typeface="Futura PT Book"/>
              </a:rPr>
              <a:t>qualquer</a:t>
            </a:r>
            <a:r>
              <a:rPr sz="2450" spc="480" dirty="0">
                <a:solidFill>
                  <a:srgbClr val="FBFBFB"/>
                </a:solidFill>
                <a:latin typeface="Futura Lt BT Light"/>
                <a:cs typeface="Futura PT Book"/>
              </a:rPr>
              <a:t> </a:t>
            </a:r>
            <a:r>
              <a:rPr sz="2450" spc="-20" dirty="0">
                <a:solidFill>
                  <a:srgbClr val="FBFBFB"/>
                </a:solidFill>
                <a:latin typeface="Futura Lt BT Light"/>
                <a:cs typeface="Futura PT Book"/>
              </a:rPr>
              <a:t>pelo </a:t>
            </a:r>
            <a:r>
              <a:rPr sz="2450" spc="-10" dirty="0">
                <a:solidFill>
                  <a:srgbClr val="FBFBFB"/>
                </a:solidFill>
                <a:latin typeface="Futura Lt BT Light"/>
                <a:cs typeface="Futura PT Book"/>
              </a:rPr>
              <a:t>cliente.</a:t>
            </a:r>
            <a:endParaRPr sz="2450" dirty="0">
              <a:latin typeface="Futura Lt BT Light"/>
              <a:cs typeface="Futura PT Book"/>
            </a:endParaRPr>
          </a:p>
        </p:txBody>
      </p:sp>
      <p:grpSp>
        <p:nvGrpSpPr>
          <p:cNvPr id="6" name="object 6"/>
          <p:cNvGrpSpPr/>
          <p:nvPr/>
        </p:nvGrpSpPr>
        <p:grpSpPr>
          <a:xfrm>
            <a:off x="0" y="0"/>
            <a:ext cx="20104100" cy="11308715"/>
            <a:chOff x="0" y="0"/>
            <a:chExt cx="20104100" cy="11308715"/>
          </a:xfrm>
        </p:grpSpPr>
        <p:pic>
          <p:nvPicPr>
            <p:cNvPr id="7" name="object 7"/>
            <p:cNvPicPr/>
            <p:nvPr/>
          </p:nvPicPr>
          <p:blipFill>
            <a:blip r:embed="rId2" cstate="print"/>
            <a:stretch>
              <a:fillRect/>
            </a:stretch>
          </p:blipFill>
          <p:spPr>
            <a:xfrm>
              <a:off x="0" y="0"/>
              <a:ext cx="20104099" cy="5506722"/>
            </a:xfrm>
            <a:prstGeom prst="rect">
              <a:avLst/>
            </a:prstGeom>
          </p:spPr>
        </p:pic>
        <p:sp>
          <p:nvSpPr>
            <p:cNvPr id="8" name="object 8"/>
            <p:cNvSpPr/>
            <p:nvPr/>
          </p:nvSpPr>
          <p:spPr>
            <a:xfrm>
              <a:off x="0" y="0"/>
              <a:ext cx="20104100" cy="5501005"/>
            </a:xfrm>
            <a:custGeom>
              <a:avLst/>
              <a:gdLst/>
              <a:ahLst/>
              <a:cxnLst/>
              <a:rect l="l" t="t" r="r" b="b"/>
              <a:pathLst>
                <a:path w="20104100" h="5501005">
                  <a:moveTo>
                    <a:pt x="20104099" y="0"/>
                  </a:moveTo>
                  <a:lnTo>
                    <a:pt x="0" y="0"/>
                  </a:lnTo>
                  <a:lnTo>
                    <a:pt x="0" y="5500659"/>
                  </a:lnTo>
                  <a:lnTo>
                    <a:pt x="20104099" y="5500659"/>
                  </a:lnTo>
                  <a:lnTo>
                    <a:pt x="20104099" y="0"/>
                  </a:lnTo>
                  <a:close/>
                </a:path>
              </a:pathLst>
            </a:custGeom>
            <a:solidFill>
              <a:srgbClr val="060505">
                <a:alpha val="79998"/>
              </a:srgbClr>
            </a:solidFill>
          </p:spPr>
          <p:txBody>
            <a:bodyPr wrap="square" lIns="0" tIns="0" rIns="0" bIns="0" rtlCol="0"/>
            <a:lstStyle/>
            <a:p>
              <a:endParaRPr/>
            </a:p>
          </p:txBody>
        </p:sp>
        <p:sp>
          <p:nvSpPr>
            <p:cNvPr id="9" name="object 9"/>
            <p:cNvSpPr/>
            <p:nvPr/>
          </p:nvSpPr>
          <p:spPr>
            <a:xfrm>
              <a:off x="20009862" y="6146409"/>
              <a:ext cx="94615" cy="5162550"/>
            </a:xfrm>
            <a:custGeom>
              <a:avLst/>
              <a:gdLst/>
              <a:ahLst/>
              <a:cxnLst/>
              <a:rect l="l" t="t" r="r" b="b"/>
              <a:pathLst>
                <a:path w="94615" h="5162550">
                  <a:moveTo>
                    <a:pt x="94237" y="0"/>
                  </a:moveTo>
                  <a:lnTo>
                    <a:pt x="0" y="0"/>
                  </a:lnTo>
                  <a:lnTo>
                    <a:pt x="0" y="5162146"/>
                  </a:lnTo>
                  <a:lnTo>
                    <a:pt x="94237" y="5162146"/>
                  </a:lnTo>
                  <a:lnTo>
                    <a:pt x="94237" y="0"/>
                  </a:lnTo>
                  <a:close/>
                </a:path>
              </a:pathLst>
            </a:custGeom>
            <a:solidFill>
              <a:srgbClr val="006969"/>
            </a:solidFill>
          </p:spPr>
          <p:txBody>
            <a:bodyPr wrap="square" lIns="0" tIns="0" rIns="0" bIns="0" rtlCol="0"/>
            <a:lstStyle/>
            <a:p>
              <a:endParaRPr/>
            </a:p>
          </p:txBody>
        </p:sp>
        <p:sp>
          <p:nvSpPr>
            <p:cNvPr id="10" name="object 10"/>
            <p:cNvSpPr/>
            <p:nvPr/>
          </p:nvSpPr>
          <p:spPr>
            <a:xfrm>
              <a:off x="19748089" y="7099260"/>
              <a:ext cx="94615" cy="3612515"/>
            </a:xfrm>
            <a:custGeom>
              <a:avLst/>
              <a:gdLst/>
              <a:ahLst/>
              <a:cxnLst/>
              <a:rect l="l" t="t" r="r" b="b"/>
              <a:pathLst>
                <a:path w="94615" h="3612515">
                  <a:moveTo>
                    <a:pt x="94237" y="0"/>
                  </a:moveTo>
                  <a:lnTo>
                    <a:pt x="0" y="0"/>
                  </a:lnTo>
                  <a:lnTo>
                    <a:pt x="0" y="3612455"/>
                  </a:lnTo>
                  <a:lnTo>
                    <a:pt x="94237" y="3612455"/>
                  </a:lnTo>
                  <a:lnTo>
                    <a:pt x="94237" y="0"/>
                  </a:lnTo>
                  <a:close/>
                </a:path>
              </a:pathLst>
            </a:custGeom>
            <a:solidFill>
              <a:srgbClr val="C69A78">
                <a:alpha val="89999"/>
              </a:srgbClr>
            </a:solidFill>
          </p:spPr>
          <p:txBody>
            <a:bodyPr wrap="square" lIns="0" tIns="0" rIns="0" bIns="0" rtlCol="0"/>
            <a:lstStyle/>
            <a:p>
              <a:endParaRPr/>
            </a:p>
          </p:txBody>
        </p:sp>
        <p:sp>
          <p:nvSpPr>
            <p:cNvPr id="11" name="object 11"/>
            <p:cNvSpPr/>
            <p:nvPr/>
          </p:nvSpPr>
          <p:spPr>
            <a:xfrm>
              <a:off x="11313508" y="1670682"/>
              <a:ext cx="8790940" cy="1550035"/>
            </a:xfrm>
            <a:custGeom>
              <a:avLst/>
              <a:gdLst/>
              <a:ahLst/>
              <a:cxnLst/>
              <a:rect l="l" t="t" r="r" b="b"/>
              <a:pathLst>
                <a:path w="8790940" h="1550035">
                  <a:moveTo>
                    <a:pt x="0" y="1549690"/>
                  </a:moveTo>
                  <a:lnTo>
                    <a:pt x="8790590" y="1549690"/>
                  </a:lnTo>
                  <a:lnTo>
                    <a:pt x="8790590" y="0"/>
                  </a:lnTo>
                  <a:lnTo>
                    <a:pt x="0" y="0"/>
                  </a:lnTo>
                  <a:lnTo>
                    <a:pt x="0" y="1549690"/>
                  </a:lnTo>
                  <a:close/>
                </a:path>
              </a:pathLst>
            </a:custGeom>
            <a:solidFill>
              <a:srgbClr val="090706">
                <a:alpha val="64999"/>
              </a:srgbClr>
            </a:solidFill>
          </p:spPr>
          <p:txBody>
            <a:bodyPr wrap="square" lIns="0" tIns="0" rIns="0" bIns="0" rtlCol="0"/>
            <a:lstStyle/>
            <a:p>
              <a:endParaRPr/>
            </a:p>
          </p:txBody>
        </p:sp>
      </p:grpSp>
      <p:sp>
        <p:nvSpPr>
          <p:cNvPr id="12" name="object 12"/>
          <p:cNvSpPr txBox="1">
            <a:spLocks noGrp="1"/>
          </p:cNvSpPr>
          <p:nvPr>
            <p:ph type="title"/>
          </p:nvPr>
        </p:nvSpPr>
        <p:spPr>
          <a:xfrm>
            <a:off x="12264127" y="1935508"/>
            <a:ext cx="7483962" cy="837409"/>
          </a:xfrm>
          <a:prstGeom prst="rect">
            <a:avLst/>
          </a:prstGeom>
        </p:spPr>
        <p:txBody>
          <a:bodyPr vert="horz" wrap="square" lIns="0" tIns="13970" rIns="0" bIns="0" rtlCol="0">
            <a:spAutoFit/>
          </a:bodyPr>
          <a:lstStyle/>
          <a:p>
            <a:pPr marL="12700">
              <a:lnSpc>
                <a:spcPct val="100000"/>
              </a:lnSpc>
              <a:spcBef>
                <a:spcPts val="110"/>
              </a:spcBef>
            </a:pPr>
            <a:r>
              <a:rPr sz="5350" spc="-10" dirty="0">
                <a:solidFill>
                  <a:srgbClr val="F3FFCC"/>
                </a:solidFill>
                <a:latin typeface="Futura Lt BT Light"/>
              </a:rPr>
              <a:t>CONFIDENCIALIDADE</a:t>
            </a:r>
            <a:endParaRPr sz="5350" dirty="0">
              <a:latin typeface="Futura Lt BT Light"/>
            </a:endParaRPr>
          </a:p>
        </p:txBody>
      </p:sp>
      <p:sp>
        <p:nvSpPr>
          <p:cNvPr id="13" name="object 13"/>
          <p:cNvSpPr/>
          <p:nvPr/>
        </p:nvSpPr>
        <p:spPr>
          <a:xfrm>
            <a:off x="11879774" y="2077999"/>
            <a:ext cx="41910" cy="764540"/>
          </a:xfrm>
          <a:custGeom>
            <a:avLst/>
            <a:gdLst/>
            <a:ahLst/>
            <a:cxnLst/>
            <a:rect l="l" t="t" r="r" b="b"/>
            <a:pathLst>
              <a:path w="41909" h="764539">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70003" y="635022"/>
            <a:ext cx="10242550" cy="773930"/>
          </a:xfrm>
          <a:prstGeom prst="rect">
            <a:avLst/>
          </a:prstGeom>
        </p:spPr>
        <p:txBody>
          <a:bodyPr vert="horz" wrap="square" lIns="0" tIns="12065" rIns="0" bIns="0" rtlCol="0">
            <a:spAutoFit/>
          </a:bodyPr>
          <a:lstStyle/>
          <a:p>
            <a:pPr marL="12700">
              <a:lnSpc>
                <a:spcPct val="100000"/>
              </a:lnSpc>
              <a:spcBef>
                <a:spcPts val="95"/>
              </a:spcBef>
            </a:pPr>
            <a:r>
              <a:rPr dirty="0">
                <a:latin typeface="Futura Lt BT Light"/>
              </a:rPr>
              <a:t>ACEITE</a:t>
            </a:r>
            <a:r>
              <a:rPr spc="-145" dirty="0">
                <a:latin typeface="Futura Lt BT Light"/>
              </a:rPr>
              <a:t> </a:t>
            </a:r>
            <a:r>
              <a:rPr dirty="0">
                <a:latin typeface="Futura Lt BT Light"/>
              </a:rPr>
              <a:t>E</a:t>
            </a:r>
            <a:r>
              <a:rPr spc="-140" dirty="0">
                <a:latin typeface="Futura Lt BT Light"/>
              </a:rPr>
              <a:t> </a:t>
            </a:r>
            <a:r>
              <a:rPr spc="-30" dirty="0">
                <a:latin typeface="Futura Lt BT Light"/>
              </a:rPr>
              <a:t>CONTRATO</a:t>
            </a:r>
          </a:p>
        </p:txBody>
      </p:sp>
      <p:sp>
        <p:nvSpPr>
          <p:cNvPr id="3" name="object 3"/>
          <p:cNvSpPr/>
          <p:nvPr/>
        </p:nvSpPr>
        <p:spPr>
          <a:xfrm>
            <a:off x="492131" y="743432"/>
            <a:ext cx="41910" cy="764540"/>
          </a:xfrm>
          <a:custGeom>
            <a:avLst/>
            <a:gdLst/>
            <a:ahLst/>
            <a:cxnLst/>
            <a:rect l="l" t="t" r="r" b="b"/>
            <a:pathLst>
              <a:path w="41909" h="764540">
                <a:moveTo>
                  <a:pt x="41883" y="0"/>
                </a:moveTo>
                <a:lnTo>
                  <a:pt x="0" y="0"/>
                </a:lnTo>
                <a:lnTo>
                  <a:pt x="0" y="764374"/>
                </a:lnTo>
                <a:lnTo>
                  <a:pt x="41883" y="764374"/>
                </a:lnTo>
                <a:lnTo>
                  <a:pt x="41883" y="0"/>
                </a:lnTo>
                <a:close/>
              </a:path>
            </a:pathLst>
          </a:custGeom>
          <a:solidFill>
            <a:srgbClr val="C69A78">
              <a:alpha val="89999"/>
            </a:srgbClr>
          </a:solidFill>
        </p:spPr>
        <p:txBody>
          <a:bodyPr wrap="square" lIns="0" tIns="0" rIns="0" bIns="0" rtlCol="0"/>
          <a:lstStyle/>
          <a:p>
            <a:endParaRPr/>
          </a:p>
        </p:txBody>
      </p:sp>
      <p:sp>
        <p:nvSpPr>
          <p:cNvPr id="4" name="object 4"/>
          <p:cNvSpPr txBox="1">
            <a:spLocks noGrp="1"/>
          </p:cNvSpPr>
          <p:nvPr>
            <p:ph type="body" idx="1"/>
          </p:nvPr>
        </p:nvSpPr>
        <p:spPr>
          <a:xfrm>
            <a:off x="502725" y="2125098"/>
            <a:ext cx="15055215" cy="3394647"/>
          </a:xfrm>
          <a:prstGeom prst="rect">
            <a:avLst/>
          </a:prstGeom>
        </p:spPr>
        <p:txBody>
          <a:bodyPr vert="horz" wrap="square" lIns="0" tIns="12065" rIns="0" bIns="0" rtlCol="0">
            <a:spAutoFit/>
          </a:bodyPr>
          <a:lstStyle/>
          <a:p>
            <a:pPr marL="12700" marR="5080" algn="just">
              <a:lnSpc>
                <a:spcPct val="134600"/>
              </a:lnSpc>
              <a:spcBef>
                <a:spcPts val="95"/>
              </a:spcBef>
            </a:pPr>
            <a:r>
              <a:rPr dirty="0">
                <a:latin typeface="Futura Lt BT Light"/>
              </a:rPr>
              <a:t>Esta</a:t>
            </a:r>
            <a:r>
              <a:rPr spc="-15" dirty="0">
                <a:latin typeface="Futura Lt BT Light"/>
              </a:rPr>
              <a:t> </a:t>
            </a:r>
            <a:r>
              <a:rPr dirty="0">
                <a:latin typeface="Futura Lt BT Light"/>
              </a:rPr>
              <a:t>proposta</a:t>
            </a:r>
            <a:r>
              <a:rPr spc="-10" dirty="0">
                <a:latin typeface="Futura Lt BT Light"/>
              </a:rPr>
              <a:t> </a:t>
            </a:r>
            <a:r>
              <a:rPr dirty="0">
                <a:latin typeface="Futura Lt BT Light"/>
              </a:rPr>
              <a:t>constitui-se</a:t>
            </a:r>
            <a:r>
              <a:rPr spc="-10" dirty="0">
                <a:latin typeface="Futura Lt BT Light"/>
              </a:rPr>
              <a:t> </a:t>
            </a:r>
            <a:r>
              <a:rPr dirty="0">
                <a:latin typeface="Futura Lt BT Light"/>
              </a:rPr>
              <a:t>em</a:t>
            </a:r>
            <a:r>
              <a:rPr spc="-15" dirty="0">
                <a:latin typeface="Futura Lt BT Light"/>
              </a:rPr>
              <a:t> </a:t>
            </a:r>
            <a:r>
              <a:rPr dirty="0">
                <a:latin typeface="Futura Lt BT Light"/>
              </a:rPr>
              <a:t>um</a:t>
            </a:r>
            <a:r>
              <a:rPr spc="-10" dirty="0">
                <a:latin typeface="Futura Lt BT Light"/>
              </a:rPr>
              <a:t> </a:t>
            </a:r>
            <a:r>
              <a:rPr dirty="0">
                <a:latin typeface="Futura Lt BT Light"/>
              </a:rPr>
              <a:t>acordo</a:t>
            </a:r>
            <a:r>
              <a:rPr spc="-10" dirty="0">
                <a:latin typeface="Futura Lt BT Light"/>
              </a:rPr>
              <a:t> </a:t>
            </a:r>
            <a:r>
              <a:rPr dirty="0">
                <a:latin typeface="Futura Lt BT Light"/>
              </a:rPr>
              <a:t>fidedigno</a:t>
            </a:r>
            <a:r>
              <a:rPr spc="-10" dirty="0">
                <a:latin typeface="Futura Lt BT Light"/>
              </a:rPr>
              <a:t> </a:t>
            </a:r>
            <a:r>
              <a:rPr dirty="0">
                <a:latin typeface="Futura Lt BT Light"/>
              </a:rPr>
              <a:t>entre</a:t>
            </a:r>
            <a:r>
              <a:rPr spc="-15" dirty="0">
                <a:latin typeface="Futura Lt BT Light"/>
              </a:rPr>
              <a:t> </a:t>
            </a:r>
            <a:r>
              <a:rPr dirty="0">
                <a:latin typeface="Futura Lt BT Light"/>
              </a:rPr>
              <a:t>as</a:t>
            </a:r>
            <a:r>
              <a:rPr spc="-10" dirty="0">
                <a:latin typeface="Futura Lt BT Light"/>
              </a:rPr>
              <a:t> </a:t>
            </a:r>
            <a:r>
              <a:rPr dirty="0">
                <a:latin typeface="Futura Lt BT Light"/>
              </a:rPr>
              <a:t>partes</a:t>
            </a:r>
            <a:r>
              <a:rPr spc="-10" dirty="0">
                <a:latin typeface="Futura Lt BT Light"/>
              </a:rPr>
              <a:t> </a:t>
            </a:r>
            <a:r>
              <a:rPr dirty="0">
                <a:latin typeface="Futura Lt BT Light"/>
              </a:rPr>
              <a:t>com</a:t>
            </a:r>
            <a:r>
              <a:rPr spc="-10" dirty="0">
                <a:latin typeface="Futura Lt BT Light"/>
              </a:rPr>
              <a:t> </a:t>
            </a:r>
            <a:r>
              <a:rPr dirty="0">
                <a:latin typeface="Futura Lt BT Light"/>
              </a:rPr>
              <a:t>respeito</a:t>
            </a:r>
            <a:r>
              <a:rPr spc="-15" dirty="0">
                <a:latin typeface="Futura Lt BT Light"/>
              </a:rPr>
              <a:t> </a:t>
            </a:r>
            <a:r>
              <a:rPr dirty="0">
                <a:latin typeface="Futura Lt BT Light"/>
              </a:rPr>
              <a:t>ao</a:t>
            </a:r>
            <a:r>
              <a:rPr spc="-10" dirty="0">
                <a:latin typeface="Futura Lt BT Light"/>
              </a:rPr>
              <a:t> </a:t>
            </a:r>
            <a:r>
              <a:rPr dirty="0">
                <a:latin typeface="Futura Lt BT Light"/>
              </a:rPr>
              <a:t>assunto</a:t>
            </a:r>
            <a:r>
              <a:rPr spc="-10" dirty="0">
                <a:latin typeface="Futura Lt BT Light"/>
              </a:rPr>
              <a:t> </a:t>
            </a:r>
            <a:r>
              <a:rPr dirty="0">
                <a:latin typeface="Futura Lt BT Light"/>
              </a:rPr>
              <a:t>objeto</a:t>
            </a:r>
            <a:r>
              <a:rPr spc="-10" dirty="0">
                <a:latin typeface="Futura Lt BT Light"/>
              </a:rPr>
              <a:t> </a:t>
            </a:r>
            <a:r>
              <a:rPr dirty="0">
                <a:latin typeface="Futura Lt BT Light"/>
              </a:rPr>
              <a:t>desta.</a:t>
            </a:r>
            <a:r>
              <a:rPr spc="-15" dirty="0">
                <a:latin typeface="Futura Lt BT Light"/>
              </a:rPr>
              <a:t> </a:t>
            </a:r>
            <a:r>
              <a:rPr dirty="0">
                <a:latin typeface="Futura Lt BT Light"/>
              </a:rPr>
              <a:t>Para</a:t>
            </a:r>
            <a:r>
              <a:rPr spc="-10" dirty="0">
                <a:latin typeface="Futura Lt BT Light"/>
              </a:rPr>
              <a:t> </a:t>
            </a:r>
            <a:r>
              <a:rPr spc="-25" dirty="0">
                <a:latin typeface="Futura Lt BT Light"/>
              </a:rPr>
              <a:t>ser </a:t>
            </a:r>
            <a:r>
              <a:rPr dirty="0">
                <a:latin typeface="Futura Lt BT Light"/>
              </a:rPr>
              <a:t>considerada</a:t>
            </a:r>
            <a:r>
              <a:rPr spc="-20" dirty="0">
                <a:latin typeface="Futura Lt BT Light"/>
              </a:rPr>
              <a:t> </a:t>
            </a:r>
            <a:r>
              <a:rPr dirty="0">
                <a:latin typeface="Futura Lt BT Light"/>
              </a:rPr>
              <a:t>aceita</a:t>
            </a:r>
            <a:r>
              <a:rPr spc="-20" dirty="0">
                <a:latin typeface="Futura Lt BT Light"/>
              </a:rPr>
              <a:t> </a:t>
            </a:r>
            <a:r>
              <a:rPr dirty="0">
                <a:latin typeface="Futura Lt BT Light"/>
              </a:rPr>
              <a:t>a</a:t>
            </a:r>
            <a:r>
              <a:rPr spc="-15" dirty="0">
                <a:latin typeface="Futura Lt BT Light"/>
              </a:rPr>
              <a:t> </a:t>
            </a:r>
            <a:r>
              <a:rPr dirty="0">
                <a:latin typeface="Futura Lt BT Light"/>
              </a:rPr>
              <a:t>proposta</a:t>
            </a:r>
            <a:r>
              <a:rPr spc="-20" dirty="0">
                <a:latin typeface="Futura Lt BT Light"/>
              </a:rPr>
              <a:t> </a:t>
            </a:r>
            <a:r>
              <a:rPr dirty="0">
                <a:latin typeface="Futura Lt BT Light"/>
              </a:rPr>
              <a:t>deverá</a:t>
            </a:r>
            <a:r>
              <a:rPr spc="-15" dirty="0">
                <a:latin typeface="Futura Lt BT Light"/>
              </a:rPr>
              <a:t> </a:t>
            </a:r>
            <a:r>
              <a:rPr dirty="0">
                <a:latin typeface="Futura Lt BT Light"/>
              </a:rPr>
              <a:t>ser</a:t>
            </a:r>
            <a:r>
              <a:rPr spc="-20" dirty="0">
                <a:latin typeface="Futura Lt BT Light"/>
              </a:rPr>
              <a:t> </a:t>
            </a:r>
            <a:r>
              <a:rPr dirty="0">
                <a:latin typeface="Futura Lt BT Light"/>
              </a:rPr>
              <a:t>subscrita</a:t>
            </a:r>
            <a:r>
              <a:rPr spc="-15" dirty="0">
                <a:latin typeface="Futura Lt BT Light"/>
              </a:rPr>
              <a:t> </a:t>
            </a:r>
            <a:r>
              <a:rPr dirty="0">
                <a:latin typeface="Futura Lt BT Light"/>
              </a:rPr>
              <a:t>pelo</a:t>
            </a:r>
            <a:r>
              <a:rPr spc="-20" dirty="0">
                <a:latin typeface="Futura Lt BT Light"/>
              </a:rPr>
              <a:t> </a:t>
            </a:r>
            <a:r>
              <a:rPr dirty="0">
                <a:latin typeface="Futura Lt BT Light"/>
              </a:rPr>
              <a:t>Representante</a:t>
            </a:r>
            <a:r>
              <a:rPr spc="-15" dirty="0">
                <a:latin typeface="Futura Lt BT Light"/>
              </a:rPr>
              <a:t> </a:t>
            </a:r>
            <a:r>
              <a:rPr dirty="0">
                <a:latin typeface="Futura Lt BT Light"/>
              </a:rPr>
              <a:t>legal</a:t>
            </a:r>
            <a:r>
              <a:rPr spc="-20" dirty="0">
                <a:latin typeface="Futura Lt BT Light"/>
              </a:rPr>
              <a:t> </a:t>
            </a:r>
            <a:r>
              <a:rPr dirty="0">
                <a:latin typeface="Futura Lt BT Light"/>
              </a:rPr>
              <a:t>da</a:t>
            </a:r>
            <a:r>
              <a:rPr spc="-15" dirty="0">
                <a:latin typeface="Futura Lt BT Light"/>
              </a:rPr>
              <a:t> </a:t>
            </a:r>
            <a:r>
              <a:rPr dirty="0">
                <a:latin typeface="Futura Lt BT Light"/>
              </a:rPr>
              <a:t>empresa</a:t>
            </a:r>
            <a:r>
              <a:rPr spc="-20" dirty="0">
                <a:latin typeface="Futura Lt BT Light"/>
              </a:rPr>
              <a:t> </a:t>
            </a:r>
            <a:r>
              <a:rPr dirty="0">
                <a:latin typeface="Futura Lt BT Light"/>
              </a:rPr>
              <a:t>solicitante</a:t>
            </a:r>
            <a:r>
              <a:rPr spc="-15" dirty="0">
                <a:latin typeface="Futura Lt BT Light"/>
              </a:rPr>
              <a:t> </a:t>
            </a:r>
            <a:r>
              <a:rPr dirty="0">
                <a:latin typeface="Futura Lt BT Light"/>
              </a:rPr>
              <a:t>acompanhada</a:t>
            </a:r>
            <a:r>
              <a:rPr spc="-20" dirty="0">
                <a:latin typeface="Futura Lt BT Light"/>
              </a:rPr>
              <a:t> </a:t>
            </a:r>
            <a:r>
              <a:rPr dirty="0">
                <a:latin typeface="Futura Lt BT Light"/>
              </a:rPr>
              <a:t>de</a:t>
            </a:r>
            <a:r>
              <a:rPr spc="-15" dirty="0">
                <a:latin typeface="Futura Lt BT Light"/>
              </a:rPr>
              <a:t> </a:t>
            </a:r>
            <a:r>
              <a:rPr spc="-20" dirty="0">
                <a:latin typeface="Futura Lt BT Light"/>
              </a:rPr>
              <a:t>toda </a:t>
            </a:r>
            <a:r>
              <a:rPr dirty="0">
                <a:latin typeface="Futura Lt BT Light"/>
              </a:rPr>
              <a:t>documentação</a:t>
            </a:r>
            <a:r>
              <a:rPr spc="-15" dirty="0">
                <a:latin typeface="Futura Lt BT Light"/>
              </a:rPr>
              <a:t> </a:t>
            </a:r>
            <a:r>
              <a:rPr dirty="0">
                <a:latin typeface="Futura Lt BT Light"/>
              </a:rPr>
              <a:t>necessária</a:t>
            </a:r>
            <a:r>
              <a:rPr spc="-10" dirty="0">
                <a:latin typeface="Futura Lt BT Light"/>
              </a:rPr>
              <a:t> </a:t>
            </a:r>
            <a:r>
              <a:rPr dirty="0">
                <a:latin typeface="Futura Lt BT Light"/>
              </a:rPr>
              <a:t>para</a:t>
            </a:r>
            <a:r>
              <a:rPr spc="-15" dirty="0">
                <a:latin typeface="Futura Lt BT Light"/>
              </a:rPr>
              <a:t> </a:t>
            </a:r>
            <a:r>
              <a:rPr dirty="0">
                <a:latin typeface="Futura Lt BT Light"/>
              </a:rPr>
              <a:t>o</a:t>
            </a:r>
            <a:r>
              <a:rPr spc="-10" dirty="0">
                <a:latin typeface="Futura Lt BT Light"/>
              </a:rPr>
              <a:t> </a:t>
            </a:r>
            <a:r>
              <a:rPr dirty="0">
                <a:latin typeface="Futura Lt BT Light"/>
              </a:rPr>
              <a:t>início</a:t>
            </a:r>
            <a:r>
              <a:rPr spc="-15" dirty="0">
                <a:latin typeface="Futura Lt BT Light"/>
              </a:rPr>
              <a:t> </a:t>
            </a:r>
            <a:r>
              <a:rPr dirty="0">
                <a:latin typeface="Futura Lt BT Light"/>
              </a:rPr>
              <a:t>da</a:t>
            </a:r>
            <a:r>
              <a:rPr spc="-10" dirty="0">
                <a:latin typeface="Futura Lt BT Light"/>
              </a:rPr>
              <a:t> </a:t>
            </a:r>
            <a:r>
              <a:rPr dirty="0">
                <a:latin typeface="Futura Lt BT Light"/>
              </a:rPr>
              <a:t>realização</a:t>
            </a:r>
            <a:r>
              <a:rPr spc="-15" dirty="0">
                <a:latin typeface="Futura Lt BT Light"/>
              </a:rPr>
              <a:t> </a:t>
            </a:r>
            <a:r>
              <a:rPr dirty="0">
                <a:latin typeface="Futura Lt BT Light"/>
              </a:rPr>
              <a:t>dos</a:t>
            </a:r>
            <a:r>
              <a:rPr spc="-10" dirty="0">
                <a:latin typeface="Futura Lt BT Light"/>
              </a:rPr>
              <a:t> trabalhos.</a:t>
            </a:r>
          </a:p>
          <a:p>
            <a:pPr algn="just">
              <a:lnSpc>
                <a:spcPct val="100000"/>
              </a:lnSpc>
              <a:spcBef>
                <a:spcPts val="35"/>
              </a:spcBef>
            </a:pPr>
            <a:endParaRPr sz="3850" dirty="0">
              <a:latin typeface="Futura Lt BT Light"/>
            </a:endParaRPr>
          </a:p>
          <a:p>
            <a:pPr marL="12700" algn="just">
              <a:lnSpc>
                <a:spcPct val="100000"/>
              </a:lnSpc>
              <a:spcBef>
                <a:spcPts val="5"/>
              </a:spcBef>
            </a:pPr>
            <a:r>
              <a:rPr dirty="0">
                <a:latin typeface="Futura Lt BT Light"/>
              </a:rPr>
              <a:t>Após</a:t>
            </a:r>
            <a:r>
              <a:rPr spc="-10" dirty="0">
                <a:latin typeface="Futura Lt BT Light"/>
              </a:rPr>
              <a:t> </a:t>
            </a:r>
            <a:r>
              <a:rPr dirty="0">
                <a:latin typeface="Futura Lt BT Light"/>
              </a:rPr>
              <a:t>o</a:t>
            </a:r>
            <a:r>
              <a:rPr spc="-10" dirty="0">
                <a:latin typeface="Futura Lt BT Light"/>
              </a:rPr>
              <a:t> </a:t>
            </a:r>
            <a:r>
              <a:rPr dirty="0">
                <a:latin typeface="Futura Lt BT Light"/>
              </a:rPr>
              <a:t>aceite</a:t>
            </a:r>
            <a:r>
              <a:rPr spc="-10" dirty="0">
                <a:latin typeface="Futura Lt BT Light"/>
              </a:rPr>
              <a:t> </a:t>
            </a:r>
            <a:r>
              <a:rPr dirty="0">
                <a:latin typeface="Futura Lt BT Light"/>
              </a:rPr>
              <a:t>da</a:t>
            </a:r>
            <a:r>
              <a:rPr spc="-5" dirty="0">
                <a:latin typeface="Futura Lt BT Light"/>
              </a:rPr>
              <a:t> </a:t>
            </a:r>
            <a:r>
              <a:rPr dirty="0">
                <a:latin typeface="Futura Lt BT Light"/>
              </a:rPr>
              <a:t>contratante</a:t>
            </a:r>
            <a:r>
              <a:rPr spc="-10" dirty="0">
                <a:latin typeface="Futura Lt BT Light"/>
              </a:rPr>
              <a:t> </a:t>
            </a:r>
            <a:r>
              <a:rPr dirty="0">
                <a:latin typeface="Futura Lt BT Light"/>
              </a:rPr>
              <a:t>essa</a:t>
            </a:r>
            <a:r>
              <a:rPr spc="-10" dirty="0">
                <a:latin typeface="Futura Lt BT Light"/>
              </a:rPr>
              <a:t> </a:t>
            </a:r>
            <a:r>
              <a:rPr dirty="0">
                <a:latin typeface="Futura Lt BT Light"/>
              </a:rPr>
              <a:t>proposta</a:t>
            </a:r>
            <a:r>
              <a:rPr spc="-5" dirty="0">
                <a:latin typeface="Futura Lt BT Light"/>
              </a:rPr>
              <a:t> </a:t>
            </a:r>
            <a:r>
              <a:rPr dirty="0">
                <a:latin typeface="Futura Lt BT Light"/>
              </a:rPr>
              <a:t>adquire</a:t>
            </a:r>
            <a:r>
              <a:rPr spc="-10" dirty="0">
                <a:latin typeface="Futura Lt BT Light"/>
              </a:rPr>
              <a:t> </a:t>
            </a:r>
            <a:r>
              <a:rPr dirty="0">
                <a:latin typeface="Futura Lt BT Light"/>
              </a:rPr>
              <a:t>forma</a:t>
            </a:r>
            <a:r>
              <a:rPr spc="-10" dirty="0">
                <a:latin typeface="Futura Lt BT Light"/>
              </a:rPr>
              <a:t> </a:t>
            </a:r>
            <a:r>
              <a:rPr dirty="0">
                <a:latin typeface="Futura Lt BT Light"/>
              </a:rPr>
              <a:t>de</a:t>
            </a:r>
            <a:r>
              <a:rPr spc="-10" dirty="0">
                <a:latin typeface="Futura Lt BT Light"/>
              </a:rPr>
              <a:t> </a:t>
            </a:r>
            <a:r>
              <a:rPr dirty="0">
                <a:latin typeface="Futura Lt BT Light"/>
              </a:rPr>
              <a:t>contrato,</a:t>
            </a:r>
            <a:r>
              <a:rPr spc="-5" dirty="0">
                <a:latin typeface="Futura Lt BT Light"/>
              </a:rPr>
              <a:t> </a:t>
            </a:r>
            <a:r>
              <a:rPr dirty="0">
                <a:latin typeface="Futura Lt BT Light"/>
              </a:rPr>
              <a:t>nos</a:t>
            </a:r>
            <a:r>
              <a:rPr spc="-10" dirty="0">
                <a:latin typeface="Futura Lt BT Light"/>
              </a:rPr>
              <a:t> </a:t>
            </a:r>
            <a:r>
              <a:rPr dirty="0">
                <a:latin typeface="Futura Lt BT Light"/>
              </a:rPr>
              <a:t>moldes</a:t>
            </a:r>
            <a:r>
              <a:rPr spc="-10" dirty="0">
                <a:latin typeface="Futura Lt BT Light"/>
              </a:rPr>
              <a:t> </a:t>
            </a:r>
            <a:r>
              <a:rPr dirty="0">
                <a:latin typeface="Futura Lt BT Light"/>
              </a:rPr>
              <a:t>da</a:t>
            </a:r>
            <a:r>
              <a:rPr spc="-5" dirty="0">
                <a:latin typeface="Futura Lt BT Light"/>
              </a:rPr>
              <a:t> </a:t>
            </a:r>
            <a:r>
              <a:rPr dirty="0">
                <a:latin typeface="Futura Lt BT Light"/>
              </a:rPr>
              <a:t>legislação</a:t>
            </a:r>
            <a:r>
              <a:rPr spc="-10" dirty="0">
                <a:latin typeface="Futura Lt BT Light"/>
              </a:rPr>
              <a:t> </a:t>
            </a:r>
            <a:r>
              <a:rPr dirty="0">
                <a:latin typeface="Futura Lt BT Light"/>
              </a:rPr>
              <a:t>civil</a:t>
            </a:r>
            <a:r>
              <a:rPr spc="-10" dirty="0">
                <a:latin typeface="Futura Lt BT Light"/>
              </a:rPr>
              <a:t> </a:t>
            </a:r>
            <a:r>
              <a:rPr dirty="0">
                <a:latin typeface="Futura Lt BT Light"/>
              </a:rPr>
              <a:t>em</a:t>
            </a:r>
            <a:r>
              <a:rPr spc="-5" dirty="0">
                <a:latin typeface="Futura Lt BT Light"/>
              </a:rPr>
              <a:t> </a:t>
            </a:r>
            <a:r>
              <a:rPr spc="-10" dirty="0">
                <a:latin typeface="Futura Lt BT Light"/>
              </a:rPr>
              <a:t>vigor.</a:t>
            </a:r>
          </a:p>
        </p:txBody>
      </p:sp>
      <p:grpSp>
        <p:nvGrpSpPr>
          <p:cNvPr id="5" name="object 5"/>
          <p:cNvGrpSpPr/>
          <p:nvPr/>
        </p:nvGrpSpPr>
        <p:grpSpPr>
          <a:xfrm>
            <a:off x="19528201" y="335068"/>
            <a:ext cx="94615" cy="10460990"/>
            <a:chOff x="19528201" y="335068"/>
            <a:chExt cx="94615" cy="10460990"/>
          </a:xfrm>
        </p:grpSpPr>
        <p:sp>
          <p:nvSpPr>
            <p:cNvPr id="6" name="object 6"/>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solidFill>
          </p:spPr>
          <p:txBody>
            <a:bodyPr wrap="square" lIns="0" tIns="0" rIns="0" bIns="0" rtlCol="0"/>
            <a:lstStyle/>
            <a:p>
              <a:endParaRPr/>
            </a:p>
          </p:txBody>
        </p:sp>
        <p:sp>
          <p:nvSpPr>
            <p:cNvPr id="7" name="object 7"/>
            <p:cNvSpPr/>
            <p:nvPr/>
          </p:nvSpPr>
          <p:spPr>
            <a:xfrm>
              <a:off x="19528201" y="335068"/>
              <a:ext cx="94615" cy="10460990"/>
            </a:xfrm>
            <a:custGeom>
              <a:avLst/>
              <a:gdLst/>
              <a:ahLst/>
              <a:cxnLst/>
              <a:rect l="l" t="t" r="r" b="b"/>
              <a:pathLst>
                <a:path w="94615" h="10460990">
                  <a:moveTo>
                    <a:pt x="94237" y="0"/>
                  </a:moveTo>
                  <a:lnTo>
                    <a:pt x="0" y="0"/>
                  </a:lnTo>
                  <a:lnTo>
                    <a:pt x="0" y="10460414"/>
                  </a:lnTo>
                  <a:lnTo>
                    <a:pt x="94237" y="10460414"/>
                  </a:lnTo>
                  <a:lnTo>
                    <a:pt x="94237" y="0"/>
                  </a:lnTo>
                  <a:close/>
                </a:path>
              </a:pathLst>
            </a:custGeom>
            <a:solidFill>
              <a:srgbClr val="006969">
                <a:alpha val="79998"/>
              </a:srgbClr>
            </a:solidFill>
          </p:spPr>
          <p:txBody>
            <a:bodyPr wrap="square" lIns="0" tIns="0" rIns="0" bIns="0" rtlCol="0"/>
            <a:lstStyle/>
            <a:p>
              <a:endParaRPr/>
            </a:p>
          </p:txBody>
        </p:sp>
      </p:grpSp>
      <p:sp>
        <p:nvSpPr>
          <p:cNvPr id="8" name="object 8"/>
          <p:cNvSpPr/>
          <p:nvPr/>
        </p:nvSpPr>
        <p:spPr>
          <a:xfrm>
            <a:off x="19297842" y="2638663"/>
            <a:ext cx="94615" cy="6042025"/>
          </a:xfrm>
          <a:custGeom>
            <a:avLst/>
            <a:gdLst/>
            <a:ahLst/>
            <a:cxnLst/>
            <a:rect l="l" t="t" r="r" b="b"/>
            <a:pathLst>
              <a:path w="94615" h="6042025">
                <a:moveTo>
                  <a:pt x="94237" y="0"/>
                </a:moveTo>
                <a:lnTo>
                  <a:pt x="0" y="0"/>
                </a:lnTo>
                <a:lnTo>
                  <a:pt x="0" y="6041700"/>
                </a:lnTo>
                <a:lnTo>
                  <a:pt x="94237" y="6041700"/>
                </a:lnTo>
                <a:lnTo>
                  <a:pt x="94237" y="0"/>
                </a:lnTo>
                <a:close/>
              </a:path>
            </a:pathLst>
          </a:custGeom>
          <a:solidFill>
            <a:srgbClr val="C69A78">
              <a:alpha val="89999"/>
            </a:srgbClr>
          </a:solidFill>
        </p:spPr>
        <p:txBody>
          <a:bodyPr wrap="square" lIns="0" tIns="0" rIns="0" bIns="0" rtlCol="0"/>
          <a:lstStyle/>
          <a:p>
            <a:endParaRPr/>
          </a:p>
        </p:txBody>
      </p:sp>
      <p:sp>
        <p:nvSpPr>
          <p:cNvPr id="9" name="object 9"/>
          <p:cNvSpPr/>
          <p:nvPr/>
        </p:nvSpPr>
        <p:spPr>
          <a:xfrm>
            <a:off x="17274336" y="1502984"/>
            <a:ext cx="1788795" cy="1167130"/>
          </a:xfrm>
          <a:custGeom>
            <a:avLst/>
            <a:gdLst/>
            <a:ahLst/>
            <a:cxnLst/>
            <a:rect l="l" t="t" r="r" b="b"/>
            <a:pathLst>
              <a:path w="1788794" h="1167130">
                <a:moveTo>
                  <a:pt x="1544277" y="0"/>
                </a:moveTo>
                <a:lnTo>
                  <a:pt x="237176" y="0"/>
                </a:lnTo>
                <a:lnTo>
                  <a:pt x="233969" y="64181"/>
                </a:lnTo>
                <a:lnTo>
                  <a:pt x="228782" y="126755"/>
                </a:lnTo>
                <a:lnTo>
                  <a:pt x="221694" y="187532"/>
                </a:lnTo>
                <a:lnTo>
                  <a:pt x="212782" y="246319"/>
                </a:lnTo>
                <a:lnTo>
                  <a:pt x="202127" y="302927"/>
                </a:lnTo>
                <a:lnTo>
                  <a:pt x="189808" y="357163"/>
                </a:lnTo>
                <a:lnTo>
                  <a:pt x="175903" y="408838"/>
                </a:lnTo>
                <a:lnTo>
                  <a:pt x="160490" y="457759"/>
                </a:lnTo>
                <a:lnTo>
                  <a:pt x="143650" y="503737"/>
                </a:lnTo>
                <a:lnTo>
                  <a:pt x="125461" y="546579"/>
                </a:lnTo>
                <a:lnTo>
                  <a:pt x="106002" y="586095"/>
                </a:lnTo>
                <a:lnTo>
                  <a:pt x="85352" y="622093"/>
                </a:lnTo>
                <a:lnTo>
                  <a:pt x="63590" y="654384"/>
                </a:lnTo>
                <a:lnTo>
                  <a:pt x="40794" y="682775"/>
                </a:lnTo>
                <a:lnTo>
                  <a:pt x="30924" y="696622"/>
                </a:lnTo>
                <a:lnTo>
                  <a:pt x="20852" y="710327"/>
                </a:lnTo>
                <a:lnTo>
                  <a:pt x="10553" y="723858"/>
                </a:lnTo>
                <a:lnTo>
                  <a:pt x="0" y="737181"/>
                </a:lnTo>
                <a:lnTo>
                  <a:pt x="0" y="1167095"/>
                </a:lnTo>
                <a:lnTo>
                  <a:pt x="38130" y="1138103"/>
                </a:lnTo>
                <a:lnTo>
                  <a:pt x="75140" y="1107757"/>
                </a:lnTo>
                <a:lnTo>
                  <a:pt x="110994" y="1076095"/>
                </a:lnTo>
                <a:lnTo>
                  <a:pt x="145654" y="1043152"/>
                </a:lnTo>
                <a:lnTo>
                  <a:pt x="179083" y="1008967"/>
                </a:lnTo>
                <a:lnTo>
                  <a:pt x="211245" y="973574"/>
                </a:lnTo>
                <a:lnTo>
                  <a:pt x="242103" y="937012"/>
                </a:lnTo>
                <a:lnTo>
                  <a:pt x="271621" y="899317"/>
                </a:lnTo>
                <a:lnTo>
                  <a:pt x="299762" y="860526"/>
                </a:lnTo>
                <a:lnTo>
                  <a:pt x="326489" y="820676"/>
                </a:lnTo>
                <a:lnTo>
                  <a:pt x="351766" y="779803"/>
                </a:lnTo>
                <a:lnTo>
                  <a:pt x="375555" y="737945"/>
                </a:lnTo>
                <a:lnTo>
                  <a:pt x="397820" y="695137"/>
                </a:lnTo>
                <a:lnTo>
                  <a:pt x="418524" y="651417"/>
                </a:lnTo>
                <a:lnTo>
                  <a:pt x="437632" y="606822"/>
                </a:lnTo>
                <a:lnTo>
                  <a:pt x="455105" y="561389"/>
                </a:lnTo>
                <a:lnTo>
                  <a:pt x="470907" y="515154"/>
                </a:lnTo>
                <a:lnTo>
                  <a:pt x="485002" y="468154"/>
                </a:lnTo>
                <a:lnTo>
                  <a:pt x="497353" y="420425"/>
                </a:lnTo>
                <a:lnTo>
                  <a:pt x="507923" y="372006"/>
                </a:lnTo>
                <a:lnTo>
                  <a:pt x="516675" y="322931"/>
                </a:lnTo>
                <a:lnTo>
                  <a:pt x="523573" y="273239"/>
                </a:lnTo>
                <a:lnTo>
                  <a:pt x="528580" y="222967"/>
                </a:lnTo>
                <a:lnTo>
                  <a:pt x="767369" y="222967"/>
                </a:lnTo>
                <a:lnTo>
                  <a:pt x="767369" y="824938"/>
                </a:lnTo>
                <a:lnTo>
                  <a:pt x="1021822" y="824938"/>
                </a:lnTo>
                <a:lnTo>
                  <a:pt x="1021822" y="222967"/>
                </a:lnTo>
                <a:lnTo>
                  <a:pt x="1259584" y="222967"/>
                </a:lnTo>
                <a:lnTo>
                  <a:pt x="1264591" y="273239"/>
                </a:lnTo>
                <a:lnTo>
                  <a:pt x="1271490" y="322931"/>
                </a:lnTo>
                <a:lnTo>
                  <a:pt x="1280243" y="372006"/>
                </a:lnTo>
                <a:lnTo>
                  <a:pt x="1290813" y="420425"/>
                </a:lnTo>
                <a:lnTo>
                  <a:pt x="1303165" y="468154"/>
                </a:lnTo>
                <a:lnTo>
                  <a:pt x="1317261" y="515154"/>
                </a:lnTo>
                <a:lnTo>
                  <a:pt x="1333064" y="561389"/>
                </a:lnTo>
                <a:lnTo>
                  <a:pt x="1350538" y="606822"/>
                </a:lnTo>
                <a:lnTo>
                  <a:pt x="1369647" y="651417"/>
                </a:lnTo>
                <a:lnTo>
                  <a:pt x="1390352" y="695137"/>
                </a:lnTo>
                <a:lnTo>
                  <a:pt x="1412618" y="737945"/>
                </a:lnTo>
                <a:lnTo>
                  <a:pt x="1436409" y="779803"/>
                </a:lnTo>
                <a:lnTo>
                  <a:pt x="1461686" y="820676"/>
                </a:lnTo>
                <a:lnTo>
                  <a:pt x="1488414" y="860526"/>
                </a:lnTo>
                <a:lnTo>
                  <a:pt x="1516555" y="899317"/>
                </a:lnTo>
                <a:lnTo>
                  <a:pt x="1546074" y="937012"/>
                </a:lnTo>
                <a:lnTo>
                  <a:pt x="1576933" y="973574"/>
                </a:lnTo>
                <a:lnTo>
                  <a:pt x="1609095" y="1008967"/>
                </a:lnTo>
                <a:lnTo>
                  <a:pt x="1642524" y="1043152"/>
                </a:lnTo>
                <a:lnTo>
                  <a:pt x="1677184" y="1076095"/>
                </a:lnTo>
                <a:lnTo>
                  <a:pt x="1713036" y="1107757"/>
                </a:lnTo>
                <a:lnTo>
                  <a:pt x="1750046" y="1138103"/>
                </a:lnTo>
                <a:lnTo>
                  <a:pt x="1788175" y="1167095"/>
                </a:lnTo>
                <a:lnTo>
                  <a:pt x="1788175" y="737181"/>
                </a:lnTo>
                <a:lnTo>
                  <a:pt x="1771475" y="715805"/>
                </a:lnTo>
                <a:lnTo>
                  <a:pt x="1766040" y="708575"/>
                </a:lnTo>
                <a:lnTo>
                  <a:pt x="1719158" y="656181"/>
                </a:lnTo>
                <a:lnTo>
                  <a:pt x="1697235" y="623963"/>
                </a:lnTo>
                <a:lnTo>
                  <a:pt x="1676429" y="587991"/>
                </a:lnTo>
                <a:lnTo>
                  <a:pt x="1656822" y="548457"/>
                </a:lnTo>
                <a:lnTo>
                  <a:pt x="1638493" y="505558"/>
                </a:lnTo>
                <a:lnTo>
                  <a:pt x="1621523" y="459485"/>
                </a:lnTo>
                <a:lnTo>
                  <a:pt x="1605991" y="410435"/>
                </a:lnTo>
                <a:lnTo>
                  <a:pt x="1591978" y="358600"/>
                </a:lnTo>
                <a:lnTo>
                  <a:pt x="1579564" y="304175"/>
                </a:lnTo>
                <a:lnTo>
                  <a:pt x="1568828" y="247355"/>
                </a:lnTo>
                <a:lnTo>
                  <a:pt x="1559852" y="188333"/>
                </a:lnTo>
                <a:lnTo>
                  <a:pt x="1552714" y="127304"/>
                </a:lnTo>
                <a:lnTo>
                  <a:pt x="1547496" y="64461"/>
                </a:lnTo>
                <a:lnTo>
                  <a:pt x="1544277" y="0"/>
                </a:lnTo>
                <a:close/>
              </a:path>
            </a:pathLst>
          </a:custGeom>
          <a:solidFill>
            <a:srgbClr val="C99C7B">
              <a:alpha val="19999"/>
            </a:srgbClr>
          </a:solidFill>
        </p:spPr>
        <p:txBody>
          <a:bodyPr wrap="square" lIns="0" tIns="0" rIns="0" bIns="0" rtlCol="0"/>
          <a:lstStyle/>
          <a:p>
            <a:endParaRPr/>
          </a:p>
        </p:txBody>
      </p:sp>
      <p:sp>
        <p:nvSpPr>
          <p:cNvPr id="10" name="object 10"/>
          <p:cNvSpPr/>
          <p:nvPr/>
        </p:nvSpPr>
        <p:spPr>
          <a:xfrm>
            <a:off x="17274336" y="175466"/>
            <a:ext cx="1788795" cy="1167130"/>
          </a:xfrm>
          <a:custGeom>
            <a:avLst/>
            <a:gdLst/>
            <a:ahLst/>
            <a:cxnLst/>
            <a:rect l="l" t="t" r="r" b="b"/>
            <a:pathLst>
              <a:path w="1788794" h="1167130">
                <a:moveTo>
                  <a:pt x="1788175" y="0"/>
                </a:moveTo>
                <a:lnTo>
                  <a:pt x="1750046" y="28985"/>
                </a:lnTo>
                <a:lnTo>
                  <a:pt x="1713037" y="59324"/>
                </a:lnTo>
                <a:lnTo>
                  <a:pt x="1677184" y="90981"/>
                </a:lnTo>
                <a:lnTo>
                  <a:pt x="1642524" y="123918"/>
                </a:lnTo>
                <a:lnTo>
                  <a:pt x="1609095" y="158098"/>
                </a:lnTo>
                <a:lnTo>
                  <a:pt x="1576933" y="193486"/>
                </a:lnTo>
                <a:lnTo>
                  <a:pt x="1546075" y="230043"/>
                </a:lnTo>
                <a:lnTo>
                  <a:pt x="1516556" y="267734"/>
                </a:lnTo>
                <a:lnTo>
                  <a:pt x="1488416" y="306522"/>
                </a:lnTo>
                <a:lnTo>
                  <a:pt x="1461688" y="346369"/>
                </a:lnTo>
                <a:lnTo>
                  <a:pt x="1436412" y="387239"/>
                </a:lnTo>
                <a:lnTo>
                  <a:pt x="1412623" y="429095"/>
                </a:lnTo>
                <a:lnTo>
                  <a:pt x="1390358" y="471901"/>
                </a:lnTo>
                <a:lnTo>
                  <a:pt x="1369654" y="515619"/>
                </a:lnTo>
                <a:lnTo>
                  <a:pt x="1350547" y="560212"/>
                </a:lnTo>
                <a:lnTo>
                  <a:pt x="1333075" y="605645"/>
                </a:lnTo>
                <a:lnTo>
                  <a:pt x="1317273" y="651880"/>
                </a:lnTo>
                <a:lnTo>
                  <a:pt x="1303180" y="698881"/>
                </a:lnTo>
                <a:lnTo>
                  <a:pt x="1290831" y="746609"/>
                </a:lnTo>
                <a:lnTo>
                  <a:pt x="1280264" y="795030"/>
                </a:lnTo>
                <a:lnTo>
                  <a:pt x="1271514" y="844106"/>
                </a:lnTo>
                <a:lnTo>
                  <a:pt x="1264619" y="893800"/>
                </a:lnTo>
                <a:lnTo>
                  <a:pt x="1259616" y="944075"/>
                </a:lnTo>
                <a:lnTo>
                  <a:pt x="1020817" y="944075"/>
                </a:lnTo>
                <a:lnTo>
                  <a:pt x="1020817" y="342146"/>
                </a:lnTo>
                <a:lnTo>
                  <a:pt x="766332" y="342146"/>
                </a:lnTo>
                <a:lnTo>
                  <a:pt x="766332" y="944075"/>
                </a:lnTo>
                <a:lnTo>
                  <a:pt x="528580" y="944075"/>
                </a:lnTo>
                <a:lnTo>
                  <a:pt x="523573" y="893800"/>
                </a:lnTo>
                <a:lnTo>
                  <a:pt x="516675" y="844106"/>
                </a:lnTo>
                <a:lnTo>
                  <a:pt x="507923" y="795030"/>
                </a:lnTo>
                <a:lnTo>
                  <a:pt x="497353" y="746609"/>
                </a:lnTo>
                <a:lnTo>
                  <a:pt x="485002" y="698881"/>
                </a:lnTo>
                <a:lnTo>
                  <a:pt x="470907" y="651880"/>
                </a:lnTo>
                <a:lnTo>
                  <a:pt x="455105" y="605645"/>
                </a:lnTo>
                <a:lnTo>
                  <a:pt x="437632" y="560212"/>
                </a:lnTo>
                <a:lnTo>
                  <a:pt x="418524" y="515619"/>
                </a:lnTo>
                <a:lnTo>
                  <a:pt x="397820" y="471901"/>
                </a:lnTo>
                <a:lnTo>
                  <a:pt x="375555" y="429095"/>
                </a:lnTo>
                <a:lnTo>
                  <a:pt x="351766" y="387239"/>
                </a:lnTo>
                <a:lnTo>
                  <a:pt x="326489" y="346369"/>
                </a:lnTo>
                <a:lnTo>
                  <a:pt x="299762" y="306522"/>
                </a:lnTo>
                <a:lnTo>
                  <a:pt x="271621" y="267734"/>
                </a:lnTo>
                <a:lnTo>
                  <a:pt x="242103" y="230043"/>
                </a:lnTo>
                <a:lnTo>
                  <a:pt x="211245" y="193486"/>
                </a:lnTo>
                <a:lnTo>
                  <a:pt x="179083" y="158098"/>
                </a:lnTo>
                <a:lnTo>
                  <a:pt x="145654" y="123918"/>
                </a:lnTo>
                <a:lnTo>
                  <a:pt x="110994" y="90981"/>
                </a:lnTo>
                <a:lnTo>
                  <a:pt x="75140" y="59324"/>
                </a:lnTo>
                <a:lnTo>
                  <a:pt x="38130" y="28985"/>
                </a:lnTo>
                <a:lnTo>
                  <a:pt x="0" y="0"/>
                </a:lnTo>
                <a:lnTo>
                  <a:pt x="0" y="429892"/>
                </a:lnTo>
                <a:lnTo>
                  <a:pt x="22135" y="458457"/>
                </a:lnTo>
                <a:lnTo>
                  <a:pt x="46060" y="482596"/>
                </a:lnTo>
                <a:lnTo>
                  <a:pt x="69026" y="510876"/>
                </a:lnTo>
                <a:lnTo>
                  <a:pt x="90952" y="543104"/>
                </a:lnTo>
                <a:lnTo>
                  <a:pt x="111760" y="579086"/>
                </a:lnTo>
                <a:lnTo>
                  <a:pt x="131368" y="618626"/>
                </a:lnTo>
                <a:lnTo>
                  <a:pt x="149697" y="661530"/>
                </a:lnTo>
                <a:lnTo>
                  <a:pt x="166668" y="707606"/>
                </a:lnTo>
                <a:lnTo>
                  <a:pt x="182200" y="756657"/>
                </a:lnTo>
                <a:lnTo>
                  <a:pt x="196213" y="808491"/>
                </a:lnTo>
                <a:lnTo>
                  <a:pt x="208628" y="862913"/>
                </a:lnTo>
                <a:lnTo>
                  <a:pt x="219364" y="919728"/>
                </a:lnTo>
                <a:lnTo>
                  <a:pt x="228342" y="978743"/>
                </a:lnTo>
                <a:lnTo>
                  <a:pt x="235483" y="1039763"/>
                </a:lnTo>
                <a:lnTo>
                  <a:pt x="240705" y="1102594"/>
                </a:lnTo>
                <a:lnTo>
                  <a:pt x="243929" y="1167042"/>
                </a:lnTo>
                <a:lnTo>
                  <a:pt x="1551031" y="1167042"/>
                </a:lnTo>
                <a:lnTo>
                  <a:pt x="1554233" y="1102871"/>
                </a:lnTo>
                <a:lnTo>
                  <a:pt x="1559417" y="1040304"/>
                </a:lnTo>
                <a:lnTo>
                  <a:pt x="1566502" y="979533"/>
                </a:lnTo>
                <a:lnTo>
                  <a:pt x="1575411" y="920748"/>
                </a:lnTo>
                <a:lnTo>
                  <a:pt x="1586064" y="864142"/>
                </a:lnTo>
                <a:lnTo>
                  <a:pt x="1598383" y="809906"/>
                </a:lnTo>
                <a:lnTo>
                  <a:pt x="1612288" y="758230"/>
                </a:lnTo>
                <a:lnTo>
                  <a:pt x="1627701" y="709308"/>
                </a:lnTo>
                <a:lnTo>
                  <a:pt x="1644542" y="663329"/>
                </a:lnTo>
                <a:lnTo>
                  <a:pt x="1662732" y="620485"/>
                </a:lnTo>
                <a:lnTo>
                  <a:pt x="1682194" y="580967"/>
                </a:lnTo>
                <a:lnTo>
                  <a:pt x="1702847" y="544968"/>
                </a:lnTo>
                <a:lnTo>
                  <a:pt x="1724613" y="512678"/>
                </a:lnTo>
                <a:lnTo>
                  <a:pt x="1747412" y="484288"/>
                </a:lnTo>
                <a:lnTo>
                  <a:pt x="1757270" y="470444"/>
                </a:lnTo>
                <a:lnTo>
                  <a:pt x="1767334" y="456745"/>
                </a:lnTo>
                <a:lnTo>
                  <a:pt x="1777629" y="443218"/>
                </a:lnTo>
                <a:lnTo>
                  <a:pt x="1788175" y="429892"/>
                </a:lnTo>
                <a:lnTo>
                  <a:pt x="1788175" y="0"/>
                </a:lnTo>
                <a:close/>
              </a:path>
            </a:pathLst>
          </a:custGeom>
          <a:solidFill>
            <a:srgbClr val="C99C7B">
              <a:alpha val="19999"/>
            </a:srgbClr>
          </a:solidFill>
        </p:spPr>
        <p:txBody>
          <a:bodyPr wrap="square" lIns="0" tIns="0" rIns="0" bIns="0" rtlCol="0"/>
          <a:lstStyle/>
          <a:p>
            <a:endParaRPr/>
          </a:p>
        </p:txBody>
      </p:sp>
      <p:grpSp>
        <p:nvGrpSpPr>
          <p:cNvPr id="11" name="object 11"/>
          <p:cNvGrpSpPr/>
          <p:nvPr/>
        </p:nvGrpSpPr>
        <p:grpSpPr>
          <a:xfrm>
            <a:off x="6649535" y="6316383"/>
            <a:ext cx="5481955" cy="17145"/>
            <a:chOff x="6649535" y="6316383"/>
            <a:chExt cx="5481955" cy="17145"/>
          </a:xfrm>
        </p:grpSpPr>
        <p:sp>
          <p:nvSpPr>
            <p:cNvPr id="12" name="object 12"/>
            <p:cNvSpPr/>
            <p:nvPr/>
          </p:nvSpPr>
          <p:spPr>
            <a:xfrm>
              <a:off x="6654771" y="6321619"/>
              <a:ext cx="5471160" cy="6350"/>
            </a:xfrm>
            <a:custGeom>
              <a:avLst/>
              <a:gdLst/>
              <a:ahLst/>
              <a:cxnLst/>
              <a:rect l="l" t="t" r="r" b="b"/>
              <a:pathLst>
                <a:path w="5471159" h="6350">
                  <a:moveTo>
                    <a:pt x="5471037" y="0"/>
                  </a:moveTo>
                  <a:lnTo>
                    <a:pt x="0" y="0"/>
                  </a:lnTo>
                  <a:lnTo>
                    <a:pt x="0" y="6052"/>
                  </a:lnTo>
                  <a:lnTo>
                    <a:pt x="5471037" y="6052"/>
                  </a:lnTo>
                  <a:lnTo>
                    <a:pt x="5471037" y="0"/>
                  </a:lnTo>
                  <a:close/>
                </a:path>
              </a:pathLst>
            </a:custGeom>
            <a:solidFill>
              <a:srgbClr val="000000"/>
            </a:solidFill>
          </p:spPr>
          <p:txBody>
            <a:bodyPr wrap="square" lIns="0" tIns="0" rIns="0" bIns="0" rtlCol="0"/>
            <a:lstStyle/>
            <a:p>
              <a:endParaRPr/>
            </a:p>
          </p:txBody>
        </p:sp>
        <p:sp>
          <p:nvSpPr>
            <p:cNvPr id="13" name="object 13"/>
            <p:cNvSpPr/>
            <p:nvPr/>
          </p:nvSpPr>
          <p:spPr>
            <a:xfrm>
              <a:off x="6654771" y="6321619"/>
              <a:ext cx="5471160" cy="6350"/>
            </a:xfrm>
            <a:custGeom>
              <a:avLst/>
              <a:gdLst/>
              <a:ahLst/>
              <a:cxnLst/>
              <a:rect l="l" t="t" r="r" b="b"/>
              <a:pathLst>
                <a:path w="5471159" h="6350">
                  <a:moveTo>
                    <a:pt x="5471037" y="6052"/>
                  </a:moveTo>
                  <a:lnTo>
                    <a:pt x="0" y="6052"/>
                  </a:lnTo>
                  <a:lnTo>
                    <a:pt x="0" y="0"/>
                  </a:lnTo>
                  <a:lnTo>
                    <a:pt x="5471037" y="0"/>
                  </a:lnTo>
                  <a:lnTo>
                    <a:pt x="5471037" y="6052"/>
                  </a:lnTo>
                  <a:close/>
                </a:path>
              </a:pathLst>
            </a:custGeom>
            <a:ln w="10470">
              <a:solidFill>
                <a:srgbClr val="000000"/>
              </a:solidFill>
            </a:ln>
          </p:spPr>
          <p:txBody>
            <a:bodyPr wrap="square" lIns="0" tIns="0" rIns="0" bIns="0" rtlCol="0"/>
            <a:lstStyle/>
            <a:p>
              <a:endParaRPr/>
            </a:p>
          </p:txBody>
        </p:sp>
      </p:grpSp>
      <p:sp>
        <p:nvSpPr>
          <p:cNvPr id="14" name="object 14"/>
          <p:cNvSpPr txBox="1"/>
          <p:nvPr/>
        </p:nvSpPr>
        <p:spPr>
          <a:xfrm>
            <a:off x="6854932" y="6424655"/>
            <a:ext cx="3120918" cy="378309"/>
          </a:xfrm>
          <a:prstGeom prst="rect">
            <a:avLst/>
          </a:prstGeom>
        </p:spPr>
        <p:txBody>
          <a:bodyPr vert="horz" wrap="square" lIns="0" tIns="16510" rIns="0" bIns="0" rtlCol="0">
            <a:spAutoFit/>
          </a:bodyPr>
          <a:lstStyle/>
          <a:p>
            <a:pPr marL="12700">
              <a:lnSpc>
                <a:spcPct val="100000"/>
              </a:lnSpc>
              <a:spcBef>
                <a:spcPts val="130"/>
              </a:spcBef>
              <a:tabLst>
                <a:tab pos="2166620" algn="l"/>
              </a:tabLst>
            </a:pPr>
            <a:r>
              <a:rPr sz="2350" dirty="0">
                <a:latin typeface="Futura Lt BT Light"/>
                <a:cs typeface="Futura PT Book"/>
              </a:rPr>
              <a:t>Rio</a:t>
            </a:r>
            <a:r>
              <a:rPr sz="2350" spc="20" dirty="0">
                <a:latin typeface="Futura Lt BT Light"/>
                <a:cs typeface="Futura PT Book"/>
              </a:rPr>
              <a:t> </a:t>
            </a:r>
            <a:r>
              <a:rPr sz="2350" dirty="0">
                <a:latin typeface="Futura Lt BT Light"/>
                <a:cs typeface="Futura PT Book"/>
              </a:rPr>
              <a:t>de</a:t>
            </a:r>
            <a:r>
              <a:rPr sz="2350" spc="35" dirty="0">
                <a:latin typeface="Futura Lt BT Light"/>
                <a:cs typeface="Futura PT Book"/>
              </a:rPr>
              <a:t> </a:t>
            </a:r>
            <a:r>
              <a:rPr sz="2350" spc="-10" dirty="0">
                <a:latin typeface="Futura Lt BT Light"/>
                <a:cs typeface="Futura PT Book"/>
              </a:rPr>
              <a:t>Janeiro,</a:t>
            </a:r>
            <a:r>
              <a:rPr sz="2350" dirty="0">
                <a:latin typeface="Futura Lt BT Light"/>
                <a:cs typeface="Futura PT Book"/>
              </a:rPr>
              <a:t>	</a:t>
            </a:r>
            <a:r>
              <a:rPr lang="pt-BR" sz="2350">
                <a:latin typeface="Futura Lt BT Light"/>
                <a:cs typeface="Futura PT Book"/>
              </a:rPr>
              <a:t>    </a:t>
            </a:r>
            <a:r>
              <a:rPr sz="2350" spc="-25" dirty="0">
                <a:latin typeface="Futura Lt BT Light"/>
                <a:cs typeface="Futura PT Book"/>
              </a:rPr>
              <a:t>de</a:t>
            </a:r>
            <a:endParaRPr sz="2350" dirty="0">
              <a:latin typeface="Futura Lt BT Light"/>
              <a:cs typeface="Futura PT Book"/>
            </a:endParaRPr>
          </a:p>
        </p:txBody>
      </p:sp>
      <p:sp>
        <p:nvSpPr>
          <p:cNvPr id="15" name="object 15"/>
          <p:cNvSpPr txBox="1"/>
          <p:nvPr/>
        </p:nvSpPr>
        <p:spPr>
          <a:xfrm>
            <a:off x="10794801" y="6424655"/>
            <a:ext cx="1771849" cy="378309"/>
          </a:xfrm>
          <a:prstGeom prst="rect">
            <a:avLst/>
          </a:prstGeom>
        </p:spPr>
        <p:txBody>
          <a:bodyPr vert="horz" wrap="square" lIns="0" tIns="16510" rIns="0" bIns="0" rtlCol="0">
            <a:spAutoFit/>
          </a:bodyPr>
          <a:lstStyle/>
          <a:p>
            <a:pPr marL="12700">
              <a:lnSpc>
                <a:spcPct val="100000"/>
              </a:lnSpc>
              <a:spcBef>
                <a:spcPts val="130"/>
              </a:spcBef>
            </a:pPr>
            <a:r>
              <a:rPr sz="2350" dirty="0">
                <a:latin typeface="Futura Lt BT Light"/>
                <a:cs typeface="Futura PT Book"/>
              </a:rPr>
              <a:t>de</a:t>
            </a:r>
            <a:r>
              <a:rPr sz="2350" spc="20" dirty="0">
                <a:latin typeface="Futura Lt BT Light"/>
                <a:cs typeface="Futura PT Book"/>
              </a:rPr>
              <a:t> </a:t>
            </a:r>
            <a:r>
              <a:rPr sz="2350" spc="-20" dirty="0">
                <a:latin typeface="Futura Lt BT Light"/>
                <a:cs typeface="Futura PT Book"/>
              </a:rPr>
              <a:t>202</a:t>
            </a:r>
            <a:r>
              <a:rPr lang="pt-BR" sz="2350" spc="-20" dirty="0">
                <a:latin typeface="Futura Lt BT Light"/>
                <a:cs typeface="Futura PT Book"/>
              </a:rPr>
              <a:t>6</a:t>
            </a:r>
            <a:r>
              <a:rPr sz="2350" spc="-20" dirty="0">
                <a:latin typeface="Futura Lt BT Light"/>
                <a:cs typeface="Futura PT Book"/>
              </a:rPr>
              <a:t>.</a:t>
            </a:r>
            <a:endParaRPr sz="2350" dirty="0">
              <a:latin typeface="Futura Lt BT Light"/>
              <a:cs typeface="Futura PT Book"/>
            </a:endParaRPr>
          </a:p>
        </p:txBody>
      </p:sp>
      <p:sp>
        <p:nvSpPr>
          <p:cNvPr id="16" name="object 16"/>
          <p:cNvSpPr/>
          <p:nvPr/>
        </p:nvSpPr>
        <p:spPr>
          <a:xfrm>
            <a:off x="16198457" y="10952550"/>
            <a:ext cx="3811904" cy="356235"/>
          </a:xfrm>
          <a:custGeom>
            <a:avLst/>
            <a:gdLst/>
            <a:ahLst/>
            <a:cxnLst/>
            <a:rect l="l" t="t" r="r" b="b"/>
            <a:pathLst>
              <a:path w="3811905" h="356234">
                <a:moveTo>
                  <a:pt x="3811397" y="266573"/>
                </a:moveTo>
                <a:lnTo>
                  <a:pt x="3807104" y="218668"/>
                </a:lnTo>
                <a:lnTo>
                  <a:pt x="3794722" y="173570"/>
                </a:lnTo>
                <a:lnTo>
                  <a:pt x="3774998" y="132041"/>
                </a:lnTo>
                <a:lnTo>
                  <a:pt x="3748697" y="94830"/>
                </a:lnTo>
                <a:lnTo>
                  <a:pt x="3716566" y="62699"/>
                </a:lnTo>
                <a:lnTo>
                  <a:pt x="3679367" y="36398"/>
                </a:lnTo>
                <a:lnTo>
                  <a:pt x="3637826" y="16675"/>
                </a:lnTo>
                <a:lnTo>
                  <a:pt x="3592728" y="4292"/>
                </a:lnTo>
                <a:lnTo>
                  <a:pt x="3544811" y="0"/>
                </a:lnTo>
                <a:lnTo>
                  <a:pt x="266585" y="0"/>
                </a:lnTo>
                <a:lnTo>
                  <a:pt x="218668" y="4292"/>
                </a:lnTo>
                <a:lnTo>
                  <a:pt x="173570" y="16675"/>
                </a:lnTo>
                <a:lnTo>
                  <a:pt x="132029" y="36398"/>
                </a:lnTo>
                <a:lnTo>
                  <a:pt x="94830" y="62699"/>
                </a:lnTo>
                <a:lnTo>
                  <a:pt x="62699" y="94830"/>
                </a:lnTo>
                <a:lnTo>
                  <a:pt x="36398" y="132041"/>
                </a:lnTo>
                <a:lnTo>
                  <a:pt x="16675" y="173570"/>
                </a:lnTo>
                <a:lnTo>
                  <a:pt x="4292" y="218668"/>
                </a:lnTo>
                <a:lnTo>
                  <a:pt x="0" y="266573"/>
                </a:lnTo>
                <a:lnTo>
                  <a:pt x="0" y="356006"/>
                </a:lnTo>
                <a:lnTo>
                  <a:pt x="3811397" y="356006"/>
                </a:lnTo>
                <a:lnTo>
                  <a:pt x="3811397" y="266573"/>
                </a:lnTo>
                <a:close/>
              </a:path>
            </a:pathLst>
          </a:custGeom>
          <a:solidFill>
            <a:srgbClr val="006969">
              <a:alpha val="89999"/>
            </a:srgbClr>
          </a:solidFill>
        </p:spPr>
        <p:txBody>
          <a:bodyPr wrap="square" lIns="0" tIns="0" rIns="0" bIns="0" rtlCol="0"/>
          <a:lstStyle/>
          <a:p>
            <a:endParaRPr/>
          </a:p>
        </p:txBody>
      </p:sp>
      <p:sp>
        <p:nvSpPr>
          <p:cNvPr id="19" name="object 19"/>
          <p:cNvSpPr txBox="1"/>
          <p:nvPr/>
        </p:nvSpPr>
        <p:spPr>
          <a:xfrm>
            <a:off x="6854932" y="6947639"/>
            <a:ext cx="4677070" cy="776110"/>
          </a:xfrm>
          <a:prstGeom prst="rect">
            <a:avLst/>
          </a:prstGeom>
        </p:spPr>
        <p:txBody>
          <a:bodyPr vert="horz" wrap="square" lIns="0" tIns="12065" rIns="0" bIns="0" rtlCol="0">
            <a:spAutoFit/>
          </a:bodyPr>
          <a:lstStyle/>
          <a:p>
            <a:pPr marL="12700" marR="5080">
              <a:lnSpc>
                <a:spcPct val="101099"/>
              </a:lnSpc>
              <a:spcBef>
                <a:spcPts val="95"/>
              </a:spcBef>
            </a:pPr>
            <a:r>
              <a:rPr sz="2500" dirty="0">
                <a:latin typeface="Futura Lt BT Light"/>
                <a:cs typeface="Futura PT Book"/>
              </a:rPr>
              <a:t>Represente</a:t>
            </a:r>
            <a:r>
              <a:rPr sz="2500" spc="-10" dirty="0">
                <a:latin typeface="Futura Lt BT Light"/>
                <a:cs typeface="Futura PT Book"/>
              </a:rPr>
              <a:t> Legal </a:t>
            </a:r>
            <a:endParaRPr lang="pt-BR" sz="2500" spc="-10" dirty="0">
              <a:latin typeface="Futura Lt BT Light"/>
              <a:cs typeface="Futura PT Book"/>
            </a:endParaRPr>
          </a:p>
          <a:p>
            <a:pPr marL="12700" marR="5080">
              <a:lnSpc>
                <a:spcPct val="101099"/>
              </a:lnSpc>
              <a:spcBef>
                <a:spcPts val="95"/>
              </a:spcBef>
            </a:pPr>
            <a:r>
              <a:rPr sz="2500" spc="-10" dirty="0">
                <a:latin typeface="Futura Lt BT Light"/>
                <a:cs typeface="Futura PT Book"/>
              </a:rPr>
              <a:t>Cargo:</a:t>
            </a:r>
            <a:endParaRPr sz="2500" dirty="0">
              <a:latin typeface="Futura Lt BT Light"/>
              <a:cs typeface="Futura PT Book"/>
            </a:endParaRPr>
          </a:p>
        </p:txBody>
      </p:sp>
      <p:sp>
        <p:nvSpPr>
          <p:cNvPr id="21" name="object 24">
            <a:extLst>
              <a:ext uri="{FF2B5EF4-FFF2-40B4-BE49-F238E27FC236}">
                <a16:creationId xmlns:a16="http://schemas.microsoft.com/office/drawing/2014/main" id="{56B86440-357A-8069-E118-D6B960B4EEF1}"/>
              </a:ext>
            </a:extLst>
          </p:cNvPr>
          <p:cNvSpPr txBox="1"/>
          <p:nvPr/>
        </p:nvSpPr>
        <p:spPr>
          <a:xfrm>
            <a:off x="16552240" y="11017487"/>
            <a:ext cx="2777568" cy="201978"/>
          </a:xfrm>
          <a:prstGeom prst="rect">
            <a:avLst/>
          </a:prstGeom>
        </p:spPr>
        <p:txBody>
          <a:bodyPr vert="horz" wrap="square" lIns="0" tIns="17145" rIns="0" bIns="0" rtlCol="0">
            <a:spAutoFit/>
          </a:bodyPr>
          <a:lstStyle/>
          <a:p>
            <a:pPr marL="12700">
              <a:lnSpc>
                <a:spcPct val="100000"/>
              </a:lnSpc>
              <a:spcBef>
                <a:spcPts val="135"/>
              </a:spcBef>
            </a:pPr>
            <a:r>
              <a:rPr sz="1200" dirty="0">
                <a:solidFill>
                  <a:srgbClr val="E7FFE2"/>
                </a:solidFill>
                <a:latin typeface="Futura Lt BT Light"/>
                <a:cs typeface="Futura PT Book"/>
              </a:rPr>
              <a:t>MEDEN</a:t>
            </a:r>
            <a:r>
              <a:rPr sz="1200" spc="85" dirty="0">
                <a:solidFill>
                  <a:srgbClr val="E7FFE2"/>
                </a:solidFill>
                <a:latin typeface="Futura Lt BT Light"/>
                <a:cs typeface="Futura PT Book"/>
              </a:rPr>
              <a:t> </a:t>
            </a:r>
            <a:r>
              <a:rPr sz="1200" dirty="0">
                <a:solidFill>
                  <a:srgbClr val="E7FFE2"/>
                </a:solidFill>
                <a:latin typeface="Futura Lt BT Light"/>
                <a:cs typeface="Futura PT Book"/>
              </a:rPr>
              <a:t>PROPOSTA</a:t>
            </a:r>
            <a:r>
              <a:rPr sz="1200" spc="90" dirty="0">
                <a:solidFill>
                  <a:srgbClr val="E7FFE2"/>
                </a:solidFill>
                <a:latin typeface="Futura Lt BT Light"/>
                <a:cs typeface="Futura PT Book"/>
              </a:rPr>
              <a:t> </a:t>
            </a:r>
            <a:r>
              <a:rPr sz="1200" spc="-10" dirty="0">
                <a:solidFill>
                  <a:srgbClr val="E7FFE2"/>
                </a:solidFill>
                <a:latin typeface="Futura Lt BT Light"/>
                <a:cs typeface="Futura PT Book"/>
              </a:rPr>
              <a:t>COMERCIAL</a:t>
            </a:r>
            <a:endParaRPr sz="1200" dirty="0">
              <a:latin typeface="Futura Lt BT Light"/>
              <a:cs typeface="Futura PT Book"/>
            </a:endParaRPr>
          </a:p>
        </p:txBody>
      </p:sp>
      <p:sp>
        <p:nvSpPr>
          <p:cNvPr id="20" name="Espaço Reservado para Número de Slide 19">
            <a:extLst>
              <a:ext uri="{FF2B5EF4-FFF2-40B4-BE49-F238E27FC236}">
                <a16:creationId xmlns:a16="http://schemas.microsoft.com/office/drawing/2014/main" id="{2769CC40-BBD9-0D3F-CC13-ECE8C7F41D4A}"/>
              </a:ext>
            </a:extLst>
          </p:cNvPr>
          <p:cNvSpPr>
            <a:spLocks noGrp="1"/>
          </p:cNvSpPr>
          <p:nvPr>
            <p:ph type="sldNum" sz="quarter" idx="7"/>
          </p:nvPr>
        </p:nvSpPr>
        <p:spPr>
          <a:xfrm>
            <a:off x="14998873" y="10988675"/>
            <a:ext cx="4623943" cy="565467"/>
          </a:xfrm>
        </p:spPr>
        <p:txBody>
          <a:bodyPr wrap="square" lIns="0" tIns="0" rIns="0" bIns="0">
            <a:spAutoFit/>
          </a:bodyPr>
          <a:lstStyle/>
          <a:p>
            <a:fld id="{B6F15528-21DE-4FAA-801E-634DDDAF4B2B}" type="slidenum">
              <a:rPr lang="en-US" sz="1400" smtClean="0">
                <a:solidFill>
                  <a:schemeClr val="bg1"/>
                </a:solidFill>
                <a:latin typeface="Futura Lt BT" panose="020B0402020204020303" pitchFamily="34" charset="0"/>
              </a:rPr>
              <a:pPr/>
              <a:t>21</a:t>
            </a:fld>
            <a:endParaRPr lang="en-US" sz="1400" dirty="0">
              <a:solidFill>
                <a:schemeClr val="bg1"/>
              </a:solidFill>
              <a:latin typeface="Futura Lt BT" panose="020B0402020204020303"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1" name="Imagem 10">
            <a:extLst>
              <a:ext uri="{FF2B5EF4-FFF2-40B4-BE49-F238E27FC236}">
                <a16:creationId xmlns:a16="http://schemas.microsoft.com/office/drawing/2014/main" id="{B6371F38-1FEB-52EB-620A-504F3B43A0E0}"/>
              </a:ext>
            </a:extLst>
          </p:cNvPr>
          <p:cNvPicPr>
            <a:picLocks noChangeAspect="1"/>
          </p:cNvPicPr>
          <p:nvPr/>
        </p:nvPicPr>
        <p:blipFill>
          <a:blip r:embed="rId2"/>
          <a:stretch>
            <a:fillRect/>
          </a:stretch>
        </p:blipFill>
        <p:spPr>
          <a:xfrm>
            <a:off x="0" y="8742"/>
            <a:ext cx="20119666" cy="11300608"/>
          </a:xfrm>
          <a:prstGeom prst="rect">
            <a:avLst/>
          </a:prstGeom>
        </p:spPr>
      </p:pic>
      <p:sp>
        <p:nvSpPr>
          <p:cNvPr id="12" name="object 9">
            <a:extLst>
              <a:ext uri="{FF2B5EF4-FFF2-40B4-BE49-F238E27FC236}">
                <a16:creationId xmlns:a16="http://schemas.microsoft.com/office/drawing/2014/main" id="{7135F097-0CB7-B814-A6FE-30F4F264144C}"/>
              </a:ext>
            </a:extLst>
          </p:cNvPr>
          <p:cNvSpPr txBox="1">
            <a:spLocks/>
          </p:cNvSpPr>
          <p:nvPr/>
        </p:nvSpPr>
        <p:spPr>
          <a:xfrm>
            <a:off x="-15566" y="7102475"/>
            <a:ext cx="20119666" cy="386644"/>
          </a:xfrm>
          <a:prstGeom prst="rect">
            <a:avLst/>
          </a:prstGeom>
        </p:spPr>
        <p:txBody>
          <a:bodyPr vert="horz" wrap="square" lIns="0" tIns="17145" rIns="0" bIns="0" rtlCol="0">
            <a:spAutoFit/>
          </a:bodyPr>
          <a:lstStyle>
            <a:lvl1pPr>
              <a:defRPr>
                <a:latin typeface="+mj-lt"/>
                <a:ea typeface="+mj-ea"/>
                <a:cs typeface="+mj-cs"/>
              </a:defRPr>
            </a:lvl1pPr>
          </a:lstStyle>
          <a:p>
            <a:pPr marL="12700" algn="ctr">
              <a:spcBef>
                <a:spcPts val="135"/>
              </a:spcBef>
            </a:pPr>
            <a:r>
              <a:rPr lang="es-419" sz="2400" dirty="0">
                <a:solidFill>
                  <a:srgbClr val="FFFFFF"/>
                </a:solidFill>
                <a:latin typeface="Futura Lt BT" panose="020B0402020204020303" pitchFamily="34" charset="0"/>
              </a:rPr>
              <a:t>comercial@medenconsultoria.com.br</a:t>
            </a:r>
            <a:endParaRPr lang="es-419" sz="2400" dirty="0">
              <a:latin typeface="Futura Lt BT" panose="020B0402020204020303"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1568</TotalTime>
  <Words>1675</Words>
  <Application>Microsoft Office PowerPoint</Application>
  <PresentationFormat>Personalizar</PresentationFormat>
  <Paragraphs>153</Paragraphs>
  <Slides>22</Slides>
  <Notes>0</Notes>
  <HiddenSlides>0</HiddenSlides>
  <MMClips>0</MMClips>
  <ScaleCrop>false</ScaleCrop>
  <HeadingPairs>
    <vt:vector size="6" baseType="variant">
      <vt:variant>
        <vt:lpstr>Fontes usadas</vt:lpstr>
      </vt:variant>
      <vt:variant>
        <vt:i4>5</vt:i4>
      </vt:variant>
      <vt:variant>
        <vt:lpstr>Tema</vt:lpstr>
      </vt:variant>
      <vt:variant>
        <vt:i4>1</vt:i4>
      </vt:variant>
      <vt:variant>
        <vt:lpstr>Títulos de slides</vt:lpstr>
      </vt:variant>
      <vt:variant>
        <vt:i4>22</vt:i4>
      </vt:variant>
    </vt:vector>
  </HeadingPairs>
  <TitlesOfParts>
    <vt:vector size="28" baseType="lpstr">
      <vt:lpstr>Calibri</vt:lpstr>
      <vt:lpstr>Futura Lt BT</vt:lpstr>
      <vt:lpstr>Futura Lt BT Light</vt:lpstr>
      <vt:lpstr>Futura PT Book</vt:lpstr>
      <vt:lpstr>Symbol</vt:lpstr>
      <vt:lpstr>Office Theme</vt:lpstr>
      <vt:lpstr>Proposta Comercial {{NUMERO_PROPOSTA}}</vt:lpstr>
      <vt:lpstr>Apresentação do PowerPoint</vt:lpstr>
      <vt:lpstr>ÍNDICE</vt:lpstr>
      <vt:lpstr>APRESENTAÇÃO CORPORATIVA</vt:lpstr>
      <vt:lpstr>SOBRE NÓS</vt:lpstr>
      <vt:lpstr>NOSSOS DIFERENCIAIS</vt:lpstr>
      <vt:lpstr>NOSSOS PRINCIPAIS CLIENTES</vt:lpstr>
      <vt:lpstr>ENTENDIMENTO DA SITUAÇÃO ALINHAMENTO DO CONTEXTO ORGANIZACIONAL, OBJETIVOS E DESAFIOS</vt:lpstr>
      <vt:lpstr>Apresentação do PowerPoint</vt:lpstr>
      <vt:lpstr>ESCOPO DO PROJETO</vt:lpstr>
      <vt:lpstr>ESCOPO DO PROJETO</vt:lpstr>
      <vt:lpstr>DOCUMENTAÇÃO NECESSÁRIA</vt:lpstr>
      <vt:lpstr>INVESTIMENTO</vt:lpstr>
      <vt:lpstr>INVESTIMENTO</vt:lpstr>
      <vt:lpstr>PRAZOS E  CONDIÇÕES DE EXECUÇÃO</vt:lpstr>
      <vt:lpstr>PRAZOS E CONDIÇÕES DE EXECUÇÃO</vt:lpstr>
      <vt:lpstr>PRAZOS E CONDIÇÕES DE EXECUÇÃO</vt:lpstr>
      <vt:lpstr>EQUIPE</vt:lpstr>
      <vt:lpstr>ANTÔNIO NICOLAU - CEO</vt:lpstr>
      <vt:lpstr>CONFIDENCIALIDADE</vt:lpstr>
      <vt:lpstr>ACEITE E CONTRATO</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Proposta Comercial</dc:title>
  <dc:creator>Lucas Pasqualini</dc:creator>
  <cp:lastModifiedBy>Lucas Pasqualini</cp:lastModifiedBy>
  <cp:revision>60</cp:revision>
  <dcterms:created xsi:type="dcterms:W3CDTF">2023-07-25T18:47:10Z</dcterms:created>
  <dcterms:modified xsi:type="dcterms:W3CDTF">2026-04-28T22:27:58Z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2023-05-24T00:00:00Z</vt:filetime>
  </property>
  <property fmtid="{D5CDD505-2E9C-101B-9397-08002B2CF9AE}" pid="3" name="Creator">
    <vt:lpwstr>Adobe Illustrator 27.5 (Windows)</vt:lpwstr>
  </property>
  <property fmtid="{D5CDD505-2E9C-101B-9397-08002B2CF9AE}" pid="4" name="CreatorVersion">
    <vt:lpwstr>21.0.0</vt:lpwstr>
  </property>
  <property fmtid="{D5CDD505-2E9C-101B-9397-08002B2CF9AE}" pid="5" name="LastSaved">
    <vt:filetime>2023-07-25T00:00:00Z</vt:filetime>
  </property>
  <property fmtid="{D5CDD505-2E9C-101B-9397-08002B2CF9AE}" pid="6" name="Producer">
    <vt:lpwstr>Adobe PDF library 17.00</vt:lpwstr>
  </property>
</Properties>
</file>